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75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08-31T17:34:38.013"/>
    <p1510:client id="{3033A2A1-B7DB-3A86-BD21-02AEB6D5C86D}" v="65" dt="2026-08-31T16:48:45.780"/>
    <p1510:client id="{73107761-EF7F-4861-5BF6-339C06EDE242}" v="28" dt="2026-09-01T00:06:35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lvaro Lúcio Almeida Ribeiro" userId="S::ribeiro.alvaro@inatel.br::7df6deca-1dfa-4007-b18d-c907498a89f3" providerId="AD" clId="Web-{3033A2A1-B7DB-3A86-BD21-02AEB6D5C86D}"/>
    <pc:docChg chg="addSld delSld modSld sldOrd">
      <pc:chgData name="Álvaro Lúcio Almeida Ribeiro" userId="S::ribeiro.alvaro@inatel.br::7df6deca-1dfa-4007-b18d-c907498a89f3" providerId="AD" clId="Web-{3033A2A1-B7DB-3A86-BD21-02AEB6D5C86D}" dt="2026-08-31T16:48:45.780" v="68"/>
      <pc:docMkLst>
        <pc:docMk/>
      </pc:docMkLst>
      <pc:sldChg chg="del">
        <pc:chgData name="Álvaro Lúcio Almeida Ribeiro" userId="S::ribeiro.alvaro@inatel.br::7df6deca-1dfa-4007-b18d-c907498a89f3" providerId="AD" clId="Web-{3033A2A1-B7DB-3A86-BD21-02AEB6D5C86D}" dt="2026-08-31T16:37:21.520" v="2"/>
        <pc:sldMkLst>
          <pc:docMk/>
          <pc:sldMk cId="0" sldId="256"/>
        </pc:sldMkLst>
      </pc:sldChg>
      <pc:sldChg chg="add del">
        <pc:chgData name="Álvaro Lúcio Almeida Ribeiro" userId="S::ribeiro.alvaro@inatel.br::7df6deca-1dfa-4007-b18d-c907498a89f3" providerId="AD" clId="Web-{3033A2A1-B7DB-3A86-BD21-02AEB6D5C86D}" dt="2026-08-31T16:38:00.287" v="35"/>
        <pc:sldMkLst>
          <pc:docMk/>
          <pc:sldMk cId="0" sldId="257"/>
        </pc:sldMkLst>
      </pc:sldChg>
      <pc:sldChg chg="modSp">
        <pc:chgData name="Álvaro Lúcio Almeida Ribeiro" userId="S::ribeiro.alvaro@inatel.br::7df6deca-1dfa-4007-b18d-c907498a89f3" providerId="AD" clId="Web-{3033A2A1-B7DB-3A86-BD21-02AEB6D5C86D}" dt="2026-08-31T16:39:27.228" v="62" actId="20577"/>
        <pc:sldMkLst>
          <pc:docMk/>
          <pc:sldMk cId="0" sldId="258"/>
        </pc:sldMkLst>
        <pc:spChg chg="mod">
          <ac:chgData name="Álvaro Lúcio Almeida Ribeiro" userId="S::ribeiro.alvaro@inatel.br::7df6deca-1dfa-4007-b18d-c907498a89f3" providerId="AD" clId="Web-{3033A2A1-B7DB-3A86-BD21-02AEB6D5C86D}" dt="2026-08-31T16:38:24.413" v="39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Álvaro Lúcio Almeida Ribeiro" userId="S::ribeiro.alvaro@inatel.br::7df6deca-1dfa-4007-b18d-c907498a89f3" providerId="AD" clId="Web-{3033A2A1-B7DB-3A86-BD21-02AEB6D5C86D}" dt="2026-08-31T16:38:52.086" v="48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Álvaro Lúcio Almeida Ribeiro" userId="S::ribeiro.alvaro@inatel.br::7df6deca-1dfa-4007-b18d-c907498a89f3" providerId="AD" clId="Web-{3033A2A1-B7DB-3A86-BD21-02AEB6D5C86D}" dt="2026-08-31T16:39:07.930" v="54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Álvaro Lúcio Almeida Ribeiro" userId="S::ribeiro.alvaro@inatel.br::7df6deca-1dfa-4007-b18d-c907498a89f3" providerId="AD" clId="Web-{3033A2A1-B7DB-3A86-BD21-02AEB6D5C86D}" dt="2026-08-31T16:39:27.228" v="62" actId="20577"/>
          <ac:spMkLst>
            <pc:docMk/>
            <pc:sldMk cId="0" sldId="258"/>
            <ac:spMk id="16" creationId="{00000000-0000-0000-0000-000000000000}"/>
          </ac:spMkLst>
        </pc:spChg>
      </pc:sldChg>
      <pc:sldChg chg="addSp delSp modSp">
        <pc:chgData name="Álvaro Lúcio Almeida Ribeiro" userId="S::ribeiro.alvaro@inatel.br::7df6deca-1dfa-4007-b18d-c907498a89f3" providerId="AD" clId="Web-{3033A2A1-B7DB-3A86-BD21-02AEB6D5C86D}" dt="2026-08-31T16:48:45.780" v="68"/>
        <pc:sldMkLst>
          <pc:docMk/>
          <pc:sldMk cId="0" sldId="260"/>
        </pc:sldMkLst>
        <pc:picChg chg="del mod">
          <ac:chgData name="Álvaro Lúcio Almeida Ribeiro" userId="S::ribeiro.alvaro@inatel.br::7df6deca-1dfa-4007-b18d-c907498a89f3" providerId="AD" clId="Web-{3033A2A1-B7DB-3A86-BD21-02AEB6D5C86D}" dt="2026-08-31T16:48:45.780" v="68"/>
          <ac:picMkLst>
            <pc:docMk/>
            <pc:sldMk cId="0" sldId="260"/>
            <ac:picMk id="24" creationId="{00000000-0000-0000-0000-000000000000}"/>
          </ac:picMkLst>
        </pc:picChg>
        <pc:picChg chg="add mod modCrop">
          <ac:chgData name="Álvaro Lúcio Almeida Ribeiro" userId="S::ribeiro.alvaro@inatel.br::7df6deca-1dfa-4007-b18d-c907498a89f3" providerId="AD" clId="Web-{3033A2A1-B7DB-3A86-BD21-02AEB6D5C86D}" dt="2026-08-31T16:48:44.952" v="65"/>
          <ac:picMkLst>
            <pc:docMk/>
            <pc:sldMk cId="0" sldId="260"/>
            <ac:picMk id="28" creationId="{B9077E90-F706-AC84-BAD5-7525677E81D5}"/>
          </ac:picMkLst>
        </pc:picChg>
      </pc:sldChg>
      <pc:sldChg chg="add ord">
        <pc:chgData name="Álvaro Lúcio Almeida Ribeiro" userId="S::ribeiro.alvaro@inatel.br::7df6deca-1dfa-4007-b18d-c907498a89f3" providerId="AD" clId="Web-{3033A2A1-B7DB-3A86-BD21-02AEB6D5C86D}" dt="2026-08-31T16:37:18.520" v="1"/>
        <pc:sldMkLst>
          <pc:docMk/>
          <pc:sldMk cId="288708291" sldId="274"/>
        </pc:sldMkLst>
      </pc:sldChg>
      <pc:sldChg chg="addSp delSp add ord">
        <pc:chgData name="Álvaro Lúcio Almeida Ribeiro" userId="S::ribeiro.alvaro@inatel.br::7df6deca-1dfa-4007-b18d-c907498a89f3" providerId="AD" clId="Web-{3033A2A1-B7DB-3A86-BD21-02AEB6D5C86D}" dt="2026-08-31T16:37:46.036" v="30"/>
        <pc:sldMkLst>
          <pc:docMk/>
          <pc:sldMk cId="2558564212" sldId="275"/>
        </pc:sldMkLst>
        <pc:spChg chg="del">
          <ac:chgData name="Álvaro Lúcio Almeida Ribeiro" userId="S::ribeiro.alvaro@inatel.br::7df6deca-1dfa-4007-b18d-c907498a89f3" providerId="AD" clId="Web-{3033A2A1-B7DB-3A86-BD21-02AEB6D5C86D}" dt="2026-08-31T16:37:41.317" v="6"/>
          <ac:spMkLst>
            <pc:docMk/>
            <pc:sldMk cId="2558564212" sldId="275"/>
            <ac:spMk id="3" creationId="{199136F5-7C67-B276-7D79-02F6BD106729}"/>
          </ac:spMkLst>
        </pc:spChg>
        <pc:spChg chg="del">
          <ac:chgData name="Álvaro Lúcio Almeida Ribeiro" userId="S::ribeiro.alvaro@inatel.br::7df6deca-1dfa-4007-b18d-c907498a89f3" providerId="AD" clId="Web-{3033A2A1-B7DB-3A86-BD21-02AEB6D5C86D}" dt="2026-08-31T16:37:41.317" v="5"/>
          <ac:spMkLst>
            <pc:docMk/>
            <pc:sldMk cId="2558564212" sldId="275"/>
            <ac:spMk id="4" creationId="{F44A3C4D-4D0A-6BF7-9F5B-EB5375052216}"/>
          </ac:spMkLst>
        </pc:spChg>
        <pc:spChg chg="add del">
          <ac:chgData name="Álvaro Lúcio Almeida Ribeiro" userId="S::ribeiro.alvaro@inatel.br::7df6deca-1dfa-4007-b18d-c907498a89f3" providerId="AD" clId="Web-{3033A2A1-B7DB-3A86-BD21-02AEB6D5C86D}" dt="2026-08-31T16:37:45.411" v="29"/>
          <ac:spMkLst>
            <pc:docMk/>
            <pc:sldMk cId="2558564212" sldId="275"/>
            <ac:spMk id="7" creationId="{EE698C2B-444B-E10F-AFC8-7DAC8788BE2A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552" v="9"/>
          <ac:spMkLst>
            <pc:docMk/>
            <pc:sldMk cId="2558564212" sldId="275"/>
            <ac:spMk id="9" creationId="{0E4CA51A-4DA3-BB82-163C-34D3D519918B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552" v="10"/>
          <ac:spMkLst>
            <pc:docMk/>
            <pc:sldMk cId="2558564212" sldId="275"/>
            <ac:spMk id="11" creationId="{427EDCB2-6E2F-B9EE-5172-26EE76E2F2B2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567" v="11"/>
          <ac:spMkLst>
            <pc:docMk/>
            <pc:sldMk cId="2558564212" sldId="275"/>
            <ac:spMk id="13" creationId="{01A6DAAE-3F05-6AF4-A61C-0C3ECBD7E939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567" v="12"/>
          <ac:spMkLst>
            <pc:docMk/>
            <pc:sldMk cId="2558564212" sldId="275"/>
            <ac:spMk id="15" creationId="{3A738744-58BC-F281-F256-2DD2A1E7A6E4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567" v="13"/>
          <ac:spMkLst>
            <pc:docMk/>
            <pc:sldMk cId="2558564212" sldId="275"/>
            <ac:spMk id="17" creationId="{30F97A9C-377C-BDAA-210F-1B4304FF2B60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583" v="14"/>
          <ac:spMkLst>
            <pc:docMk/>
            <pc:sldMk cId="2558564212" sldId="275"/>
            <ac:spMk id="19" creationId="{67C24571-D7F1-9D17-965D-BFF2EBA16F3B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583" v="15"/>
          <ac:spMkLst>
            <pc:docMk/>
            <pc:sldMk cId="2558564212" sldId="275"/>
            <ac:spMk id="21" creationId="{950DD096-3920-E599-BF8D-95386736B899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599" v="16"/>
          <ac:spMkLst>
            <pc:docMk/>
            <pc:sldMk cId="2558564212" sldId="275"/>
            <ac:spMk id="23" creationId="{41D2D41E-A051-F9A0-C61E-77DD44DC7465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599" v="17"/>
          <ac:spMkLst>
            <pc:docMk/>
            <pc:sldMk cId="2558564212" sldId="275"/>
            <ac:spMk id="25" creationId="{8645B5BE-BF3E-6346-B9A8-99FDBA43C791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599" v="18"/>
          <ac:spMkLst>
            <pc:docMk/>
            <pc:sldMk cId="2558564212" sldId="275"/>
            <ac:spMk id="27" creationId="{B14C7135-6647-ADF6-563D-EB2BFED065EB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614" v="19"/>
          <ac:spMkLst>
            <pc:docMk/>
            <pc:sldMk cId="2558564212" sldId="275"/>
            <ac:spMk id="29" creationId="{542E0F28-7A15-46F4-8320-5E31A02224DE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614" v="20"/>
          <ac:spMkLst>
            <pc:docMk/>
            <pc:sldMk cId="2558564212" sldId="275"/>
            <ac:spMk id="31" creationId="{79A8B04A-DA4C-2B12-7CEE-E238F7337AA4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614" v="21"/>
          <ac:spMkLst>
            <pc:docMk/>
            <pc:sldMk cId="2558564212" sldId="275"/>
            <ac:spMk id="33" creationId="{894E640A-1ACA-C89C-99D9-8169FB297A77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630" v="22"/>
          <ac:spMkLst>
            <pc:docMk/>
            <pc:sldMk cId="2558564212" sldId="275"/>
            <ac:spMk id="35" creationId="{8BA3A066-5F65-1730-523E-C01BCF8FFF57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630" v="23"/>
          <ac:spMkLst>
            <pc:docMk/>
            <pc:sldMk cId="2558564212" sldId="275"/>
            <ac:spMk id="37" creationId="{B48D325B-643C-9E7F-A23B-3EBF503BB7D7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646" v="24"/>
          <ac:spMkLst>
            <pc:docMk/>
            <pc:sldMk cId="2558564212" sldId="275"/>
            <ac:spMk id="39" creationId="{76F11928-79AF-D29C-0A8E-D8CA82A382D8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646" v="25"/>
          <ac:spMkLst>
            <pc:docMk/>
            <pc:sldMk cId="2558564212" sldId="275"/>
            <ac:spMk id="41" creationId="{FA806D16-1D05-EF93-CEA2-80125F48AD04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661" v="26"/>
          <ac:spMkLst>
            <pc:docMk/>
            <pc:sldMk cId="2558564212" sldId="275"/>
            <ac:spMk id="43" creationId="{21162930-5783-5AE7-87D7-A502EA150E57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661" v="27"/>
          <ac:spMkLst>
            <pc:docMk/>
            <pc:sldMk cId="2558564212" sldId="275"/>
            <ac:spMk id="45" creationId="{230FD0FE-F3A5-D712-5122-59ABF5A478ED}"/>
          </ac:spMkLst>
        </pc:spChg>
        <pc:spChg chg="add">
          <ac:chgData name="Álvaro Lúcio Almeida Ribeiro" userId="S::ribeiro.alvaro@inatel.br::7df6deca-1dfa-4007-b18d-c907498a89f3" providerId="AD" clId="Web-{3033A2A1-B7DB-3A86-BD21-02AEB6D5C86D}" dt="2026-08-31T16:37:42.677" v="28"/>
          <ac:spMkLst>
            <pc:docMk/>
            <pc:sldMk cId="2558564212" sldId="275"/>
            <ac:spMk id="47" creationId="{1B1AD6BB-1C36-A8D5-8111-10270D0BE7A1}"/>
          </ac:spMkLst>
        </pc:spChg>
        <pc:picChg chg="add del">
          <ac:chgData name="Álvaro Lúcio Almeida Ribeiro" userId="S::ribeiro.alvaro@inatel.br::7df6deca-1dfa-4007-b18d-c907498a89f3" providerId="AD" clId="Web-{3033A2A1-B7DB-3A86-BD21-02AEB6D5C86D}" dt="2026-08-31T16:37:46.036" v="30"/>
          <ac:picMkLst>
            <pc:docMk/>
            <pc:sldMk cId="2558564212" sldId="275"/>
            <ac:picMk id="5" creationId="{0961734D-9B0B-A789-AEF7-5C94383356EC}"/>
          </ac:picMkLst>
        </pc:picChg>
      </pc:sldChg>
      <pc:sldMasterChg chg="addSldLayout">
        <pc:chgData name="Álvaro Lúcio Almeida Ribeiro" userId="S::ribeiro.alvaro@inatel.br::7df6deca-1dfa-4007-b18d-c907498a89f3" providerId="AD" clId="Web-{3033A2A1-B7DB-3A86-BD21-02AEB6D5C86D}" dt="2026-08-31T16:37:16.801" v="0"/>
        <pc:sldMasterMkLst>
          <pc:docMk/>
          <pc:sldMasterMk cId="0" sldId="2147483648"/>
        </pc:sldMasterMkLst>
        <pc:sldLayoutChg chg="add">
          <pc:chgData name="Álvaro Lúcio Almeida Ribeiro" userId="S::ribeiro.alvaro@inatel.br::7df6deca-1dfa-4007-b18d-c907498a89f3" providerId="AD" clId="Web-{3033A2A1-B7DB-3A86-BD21-02AEB6D5C86D}" dt="2026-08-31T16:37:16.801" v="0"/>
          <pc:sldLayoutMkLst>
            <pc:docMk/>
            <pc:sldMasterMk cId="0" sldId="2147483648"/>
            <pc:sldLayoutMk cId="652782006" sldId="2147483651"/>
          </pc:sldLayoutMkLst>
        </pc:sldLayoutChg>
      </pc:sldMasterChg>
    </pc:docChg>
  </pc:docChgLst>
  <pc:docChgLst>
    <pc:chgData name="Álvaro Lúcio Almeida Ribeiro" userId="S::ribeiro.alvaro@inatel.br::7df6deca-1dfa-4007-b18d-c907498a89f3" providerId="AD" clId="Web-{73107761-EF7F-4861-5BF6-339C06EDE242}"/>
    <pc:docChg chg="addSld modSld">
      <pc:chgData name="Álvaro Lúcio Almeida Ribeiro" userId="S::ribeiro.alvaro@inatel.br::7df6deca-1dfa-4007-b18d-c907498a89f3" providerId="AD" clId="Web-{73107761-EF7F-4861-5BF6-339C06EDE242}" dt="2026-09-01T00:06:35.048" v="64" actId="1076"/>
      <pc:docMkLst>
        <pc:docMk/>
      </pc:docMkLst>
      <pc:sldChg chg="modNotes">
        <pc:chgData name="Álvaro Lúcio Almeida Ribeiro" userId="S::ribeiro.alvaro@inatel.br::7df6deca-1dfa-4007-b18d-c907498a89f3" providerId="AD" clId="Web-{73107761-EF7F-4861-5BF6-339C06EDE242}" dt="2026-08-31T22:28:55.507" v="16"/>
        <pc:sldMkLst>
          <pc:docMk/>
          <pc:sldMk cId="0" sldId="258"/>
        </pc:sldMkLst>
      </pc:sldChg>
      <pc:sldChg chg="modNotes">
        <pc:chgData name="Álvaro Lúcio Almeida Ribeiro" userId="S::ribeiro.alvaro@inatel.br::7df6deca-1dfa-4007-b18d-c907498a89f3" providerId="AD" clId="Web-{73107761-EF7F-4861-5BF6-339C06EDE242}" dt="2026-08-31T22:32:54.921" v="23"/>
        <pc:sldMkLst>
          <pc:docMk/>
          <pc:sldMk cId="0" sldId="260"/>
        </pc:sldMkLst>
      </pc:sldChg>
      <pc:sldChg chg="modNotes">
        <pc:chgData name="Álvaro Lúcio Almeida Ribeiro" userId="S::ribeiro.alvaro@inatel.br::7df6deca-1dfa-4007-b18d-c907498a89f3" providerId="AD" clId="Web-{73107761-EF7F-4861-5BF6-339C06EDE242}" dt="2026-08-31T22:30:06.134" v="19"/>
        <pc:sldMkLst>
          <pc:docMk/>
          <pc:sldMk cId="0" sldId="261"/>
        </pc:sldMkLst>
      </pc:sldChg>
      <pc:sldChg chg="modNotes">
        <pc:chgData name="Álvaro Lúcio Almeida Ribeiro" userId="S::ribeiro.alvaro@inatel.br::7df6deca-1dfa-4007-b18d-c907498a89f3" providerId="AD" clId="Web-{73107761-EF7F-4861-5BF6-339C06EDE242}" dt="2026-08-31T22:34:45.565" v="29"/>
        <pc:sldMkLst>
          <pc:docMk/>
          <pc:sldMk cId="0" sldId="262"/>
        </pc:sldMkLst>
      </pc:sldChg>
      <pc:sldChg chg="modSp">
        <pc:chgData name="Álvaro Lúcio Almeida Ribeiro" userId="S::ribeiro.alvaro@inatel.br::7df6deca-1dfa-4007-b18d-c907498a89f3" providerId="AD" clId="Web-{73107761-EF7F-4861-5BF6-339C06EDE242}" dt="2026-08-31T22:35:17.269" v="32" actId="1076"/>
        <pc:sldMkLst>
          <pc:docMk/>
          <pc:sldMk cId="0" sldId="263"/>
        </pc:sldMkLst>
        <pc:spChg chg="mod">
          <ac:chgData name="Álvaro Lúcio Almeida Ribeiro" userId="S::ribeiro.alvaro@inatel.br::7df6deca-1dfa-4007-b18d-c907498a89f3" providerId="AD" clId="Web-{73107761-EF7F-4861-5BF6-339C06EDE242}" dt="2026-08-31T22:35:17.269" v="32" actId="1076"/>
          <ac:spMkLst>
            <pc:docMk/>
            <pc:sldMk cId="0" sldId="263"/>
            <ac:spMk id="19" creationId="{00000000-0000-0000-0000-000000000000}"/>
          </ac:spMkLst>
        </pc:spChg>
      </pc:sldChg>
      <pc:sldChg chg="modNotes">
        <pc:chgData name="Álvaro Lúcio Almeida Ribeiro" userId="S::ribeiro.alvaro@inatel.br::7df6deca-1dfa-4007-b18d-c907498a89f3" providerId="AD" clId="Web-{73107761-EF7F-4861-5BF6-339C06EDE242}" dt="2026-08-31T22:37:35.664" v="39"/>
        <pc:sldMkLst>
          <pc:docMk/>
          <pc:sldMk cId="0" sldId="264"/>
        </pc:sldMkLst>
      </pc:sldChg>
      <pc:sldChg chg="modNotes">
        <pc:chgData name="Álvaro Lúcio Almeida Ribeiro" userId="S::ribeiro.alvaro@inatel.br::7df6deca-1dfa-4007-b18d-c907498a89f3" providerId="AD" clId="Web-{73107761-EF7F-4861-5BF6-339C06EDE242}" dt="2026-08-31T22:41:17.343" v="42"/>
        <pc:sldMkLst>
          <pc:docMk/>
          <pc:sldMk cId="0" sldId="268"/>
        </pc:sldMkLst>
      </pc:sldChg>
      <pc:sldChg chg="modNotes">
        <pc:chgData name="Álvaro Lúcio Almeida Ribeiro" userId="S::ribeiro.alvaro@inatel.br::7df6deca-1dfa-4007-b18d-c907498a89f3" providerId="AD" clId="Web-{73107761-EF7F-4861-5BF6-339C06EDE242}" dt="2026-08-31T22:43:12.565" v="47"/>
        <pc:sldMkLst>
          <pc:docMk/>
          <pc:sldMk cId="0" sldId="269"/>
        </pc:sldMkLst>
      </pc:sldChg>
      <pc:sldChg chg="modNotes">
        <pc:chgData name="Álvaro Lúcio Almeida Ribeiro" userId="S::ribeiro.alvaro@inatel.br::7df6deca-1dfa-4007-b18d-c907498a89f3" providerId="AD" clId="Web-{73107761-EF7F-4861-5BF6-339C06EDE242}" dt="2026-08-31T22:48:29.701" v="52"/>
        <pc:sldMkLst>
          <pc:docMk/>
          <pc:sldMk cId="0" sldId="271"/>
        </pc:sldMkLst>
      </pc:sldChg>
      <pc:sldChg chg="modSp">
        <pc:chgData name="Álvaro Lúcio Almeida Ribeiro" userId="S::ribeiro.alvaro@inatel.br::7df6deca-1dfa-4007-b18d-c907498a89f3" providerId="AD" clId="Web-{73107761-EF7F-4861-5BF6-339C06EDE242}" dt="2026-08-31T22:51:08.940" v="54" actId="20577"/>
        <pc:sldMkLst>
          <pc:docMk/>
          <pc:sldMk cId="0" sldId="272"/>
        </pc:sldMkLst>
        <pc:spChg chg="mod">
          <ac:chgData name="Álvaro Lúcio Almeida Ribeiro" userId="S::ribeiro.alvaro@inatel.br::7df6deca-1dfa-4007-b18d-c907498a89f3" providerId="AD" clId="Web-{73107761-EF7F-4861-5BF6-339C06EDE242}" dt="2026-08-31T22:51:08.940" v="54" actId="20577"/>
          <ac:spMkLst>
            <pc:docMk/>
            <pc:sldMk cId="0" sldId="272"/>
            <ac:spMk id="11" creationId="{00000000-0000-0000-0000-000000000000}"/>
          </ac:spMkLst>
        </pc:spChg>
      </pc:sldChg>
      <pc:sldChg chg="addSp modSp new">
        <pc:chgData name="Álvaro Lúcio Almeida Ribeiro" userId="S::ribeiro.alvaro@inatel.br::7df6deca-1dfa-4007-b18d-c907498a89f3" providerId="AD" clId="Web-{73107761-EF7F-4861-5BF6-339C06EDE242}" dt="2026-09-01T00:06:35.048" v="64" actId="1076"/>
        <pc:sldMkLst>
          <pc:docMk/>
          <pc:sldMk cId="3421030115" sldId="276"/>
        </pc:sldMkLst>
        <pc:spChg chg="add mod">
          <ac:chgData name="Álvaro Lúcio Almeida Ribeiro" userId="S::ribeiro.alvaro@inatel.br::7df6deca-1dfa-4007-b18d-c907498a89f3" providerId="AD" clId="Web-{73107761-EF7F-4861-5BF6-339C06EDE242}" dt="2026-08-31T22:28:27.631" v="8" actId="1076"/>
          <ac:spMkLst>
            <pc:docMk/>
            <pc:sldMk cId="3421030115" sldId="276"/>
            <ac:spMk id="2" creationId="{96D3B054-1850-AECC-CC92-5A87B591D08E}"/>
          </ac:spMkLst>
        </pc:spChg>
        <pc:spChg chg="add mod">
          <ac:chgData name="Álvaro Lúcio Almeida Ribeiro" userId="S::ribeiro.alvaro@inatel.br::7df6deca-1dfa-4007-b18d-c907498a89f3" providerId="AD" clId="Web-{73107761-EF7F-4861-5BF6-339C06EDE242}" dt="2026-09-01T00:04:46.232" v="59" actId="1076"/>
          <ac:spMkLst>
            <pc:docMk/>
            <pc:sldMk cId="3421030115" sldId="276"/>
            <ac:spMk id="4" creationId="{24B1CBC0-A816-50BB-0FA1-845725DBD858}"/>
          </ac:spMkLst>
        </pc:spChg>
        <pc:picChg chg="add mod">
          <ac:chgData name="Álvaro Lúcio Almeida Ribeiro" userId="S::ribeiro.alvaro@inatel.br::7df6deca-1dfa-4007-b18d-c907498a89f3" providerId="AD" clId="Web-{73107761-EF7F-4861-5BF6-339C06EDE242}" dt="2026-08-31T22:28:27.631" v="9" actId="1076"/>
          <ac:picMkLst>
            <pc:docMk/>
            <pc:sldMk cId="3421030115" sldId="276"/>
            <ac:picMk id="3" creationId="{1F68D9B3-83DD-54BA-0E63-BF730304BF5D}"/>
          </ac:picMkLst>
        </pc:picChg>
        <pc:picChg chg="add mod">
          <ac:chgData name="Álvaro Lúcio Almeida Ribeiro" userId="S::ribeiro.alvaro@inatel.br::7df6deca-1dfa-4007-b18d-c907498a89f3" providerId="AD" clId="Web-{73107761-EF7F-4861-5BF6-339C06EDE242}" dt="2026-09-01T00:06:35.048" v="64" actId="1076"/>
          <ac:picMkLst>
            <pc:docMk/>
            <pc:sldMk cId="3421030115" sldId="276"/>
            <ac:picMk id="5" creationId="{C4A26936-FD56-0AE6-19C6-097F3674CF33}"/>
          </ac:picMkLst>
        </pc:picChg>
      </pc:sldChg>
    </pc:docChg>
  </pc:docChgLst>
  <pc:docChgLst>
    <pc:chgData name="Álvaro Lúcio Almeida Ribeiro" userId="S::ribeiro.alvaro@inatel.br::7df6deca-1dfa-4007-b18d-c907498a89f3" providerId="AD" clId="Web-{00000000-0000-0000-0000-000000000000}"/>
    <pc:docChg chg="modSld sldOrd">
      <pc:chgData name="Álvaro Lúcio Almeida Ribeiro" userId="S::ribeiro.alvaro@inatel.br::7df6deca-1dfa-4007-b18d-c907498a89f3" providerId="AD" clId="Web-{00000000-0000-0000-0000-000000000000}" dt="2026-08-31T17:34:38.013" v="53" actId="20577"/>
      <pc:docMkLst>
        <pc:docMk/>
      </pc:docMkLst>
      <pc:sldChg chg="addSp delSp modSp">
        <pc:chgData name="Álvaro Lúcio Almeida Ribeiro" userId="S::ribeiro.alvaro@inatel.br::7df6deca-1dfa-4007-b18d-c907498a89f3" providerId="AD" clId="Web-{00000000-0000-0000-0000-000000000000}" dt="2026-08-31T16:50:24.954" v="13" actId="1076"/>
        <pc:sldMkLst>
          <pc:docMk/>
          <pc:sldMk cId="0" sldId="260"/>
        </pc:sldMkLst>
        <pc:spChg chg="del">
          <ac:chgData name="Álvaro Lúcio Almeida Ribeiro" userId="S::ribeiro.alvaro@inatel.br::7df6deca-1dfa-4007-b18d-c907498a89f3" providerId="AD" clId="Web-{00000000-0000-0000-0000-000000000000}" dt="2026-08-31T16:49:49.343" v="2"/>
          <ac:spMkLst>
            <pc:docMk/>
            <pc:sldMk cId="0" sldId="260"/>
            <ac:spMk id="23" creationId="{00000000-0000-0000-0000-000000000000}"/>
          </ac:spMkLst>
        </pc:spChg>
        <pc:spChg chg="mod">
          <ac:chgData name="Álvaro Lúcio Almeida Ribeiro" userId="S::ribeiro.alvaro@inatel.br::7df6deca-1dfa-4007-b18d-c907498a89f3" providerId="AD" clId="Web-{00000000-0000-0000-0000-000000000000}" dt="2026-08-31T16:50:19.735" v="10" actId="1076"/>
          <ac:spMkLst>
            <pc:docMk/>
            <pc:sldMk cId="0" sldId="260"/>
            <ac:spMk id="25" creationId="{00000000-0000-0000-0000-000000000000}"/>
          </ac:spMkLst>
        </pc:spChg>
        <pc:picChg chg="del mod">
          <ac:chgData name="Álvaro Lúcio Almeida Ribeiro" userId="S::ribeiro.alvaro@inatel.br::7df6deca-1dfa-4007-b18d-c907498a89f3" providerId="AD" clId="Web-{00000000-0000-0000-0000-000000000000}" dt="2026-08-31T16:49:12.513" v="1"/>
          <ac:picMkLst>
            <pc:docMk/>
            <pc:sldMk cId="0" sldId="260"/>
            <ac:picMk id="28" creationId="{B9077E90-F706-AC84-BAD5-7525677E81D5}"/>
          </ac:picMkLst>
        </pc:picChg>
        <pc:picChg chg="add del mod">
          <ac:chgData name="Álvaro Lúcio Almeida Ribeiro" userId="S::ribeiro.alvaro@inatel.br::7df6deca-1dfa-4007-b18d-c907498a89f3" providerId="AD" clId="Web-{00000000-0000-0000-0000-000000000000}" dt="2026-08-31T16:50:00.796" v="6"/>
          <ac:picMkLst>
            <pc:docMk/>
            <pc:sldMk cId="0" sldId="260"/>
            <ac:picMk id="29" creationId="{EC7B8A33-3B4A-533A-9661-CA8DE397C805}"/>
          </ac:picMkLst>
        </pc:picChg>
        <pc:picChg chg="add mod">
          <ac:chgData name="Álvaro Lúcio Almeida Ribeiro" userId="S::ribeiro.alvaro@inatel.br::7df6deca-1dfa-4007-b18d-c907498a89f3" providerId="AD" clId="Web-{00000000-0000-0000-0000-000000000000}" dt="2026-08-31T16:50:24.954" v="13" actId="1076"/>
          <ac:picMkLst>
            <pc:docMk/>
            <pc:sldMk cId="0" sldId="260"/>
            <ac:picMk id="30" creationId="{C0604A20-7B21-C616-3058-57799C15B4D8}"/>
          </ac:picMkLst>
        </pc:picChg>
      </pc:sldChg>
      <pc:sldChg chg="modSp ord">
        <pc:chgData name="Álvaro Lúcio Almeida Ribeiro" userId="S::ribeiro.alvaro@inatel.br::7df6deca-1dfa-4007-b18d-c907498a89f3" providerId="AD" clId="Web-{00000000-0000-0000-0000-000000000000}" dt="2026-08-31T17:14:54.637" v="49"/>
        <pc:sldMkLst>
          <pc:docMk/>
          <pc:sldMk cId="0" sldId="261"/>
        </pc:sldMkLst>
        <pc:spChg chg="mod">
          <ac:chgData name="Álvaro Lúcio Almeida Ribeiro" userId="S::ribeiro.alvaro@inatel.br::7df6deca-1dfa-4007-b18d-c907498a89f3" providerId="AD" clId="Web-{00000000-0000-0000-0000-000000000000}" dt="2026-08-31T16:50:41.689" v="17" actId="20577"/>
          <ac:spMkLst>
            <pc:docMk/>
            <pc:sldMk cId="0" sldId="261"/>
            <ac:spMk id="25" creationId="{00000000-0000-0000-0000-000000000000}"/>
          </ac:spMkLst>
        </pc:spChg>
        <pc:spChg chg="mod">
          <ac:chgData name="Álvaro Lúcio Almeida Ribeiro" userId="S::ribeiro.alvaro@inatel.br::7df6deca-1dfa-4007-b18d-c907498a89f3" providerId="AD" clId="Web-{00000000-0000-0000-0000-000000000000}" dt="2026-08-31T16:50:51.314" v="19" actId="1076"/>
          <ac:spMkLst>
            <pc:docMk/>
            <pc:sldMk cId="0" sldId="261"/>
            <ac:spMk id="29" creationId="{00000000-0000-0000-0000-000000000000}"/>
          </ac:spMkLst>
        </pc:spChg>
      </pc:sldChg>
      <pc:sldChg chg="addSp delSp modSp">
        <pc:chgData name="Álvaro Lúcio Almeida Ribeiro" userId="S::ribeiro.alvaro@inatel.br::7df6deca-1dfa-4007-b18d-c907498a89f3" providerId="AD" clId="Web-{00000000-0000-0000-0000-000000000000}" dt="2026-08-31T16:51:50.426" v="33"/>
        <pc:sldMkLst>
          <pc:docMk/>
          <pc:sldMk cId="0" sldId="264"/>
        </pc:sldMkLst>
        <pc:spChg chg="del mod">
          <ac:chgData name="Álvaro Lúcio Almeida Ribeiro" userId="S::ribeiro.alvaro@inatel.br::7df6deca-1dfa-4007-b18d-c907498a89f3" providerId="AD" clId="Web-{00000000-0000-0000-0000-000000000000}" dt="2026-08-31T16:51:50.426" v="33"/>
          <ac:spMkLst>
            <pc:docMk/>
            <pc:sldMk cId="0" sldId="264"/>
            <ac:spMk id="21" creationId="{00000000-0000-0000-0000-000000000000}"/>
          </ac:spMkLst>
        </pc:spChg>
        <pc:spChg chg="mod">
          <ac:chgData name="Álvaro Lúcio Almeida Ribeiro" userId="S::ribeiro.alvaro@inatel.br::7df6deca-1dfa-4007-b18d-c907498a89f3" providerId="AD" clId="Web-{00000000-0000-0000-0000-000000000000}" dt="2026-08-31T16:51:32.113" v="27" actId="1076"/>
          <ac:spMkLst>
            <pc:docMk/>
            <pc:sldMk cId="0" sldId="264"/>
            <ac:spMk id="23" creationId="{00000000-0000-0000-0000-000000000000}"/>
          </ac:spMkLst>
        </pc:spChg>
        <pc:picChg chg="del">
          <ac:chgData name="Álvaro Lúcio Almeida Ribeiro" userId="S::ribeiro.alvaro@inatel.br::7df6deca-1dfa-4007-b18d-c907498a89f3" providerId="AD" clId="Web-{00000000-0000-0000-0000-000000000000}" dt="2026-08-31T16:51:11.690" v="20"/>
          <ac:picMkLst>
            <pc:docMk/>
            <pc:sldMk cId="0" sldId="264"/>
            <ac:picMk id="22" creationId="{00000000-0000-0000-0000-000000000000}"/>
          </ac:picMkLst>
        </pc:picChg>
        <pc:picChg chg="add mod">
          <ac:chgData name="Álvaro Lúcio Almeida Ribeiro" userId="S::ribeiro.alvaro@inatel.br::7df6deca-1dfa-4007-b18d-c907498a89f3" providerId="AD" clId="Web-{00000000-0000-0000-0000-000000000000}" dt="2026-08-31T16:51:35.847" v="28" actId="1076"/>
          <ac:picMkLst>
            <pc:docMk/>
            <pc:sldMk cId="0" sldId="264"/>
            <ac:picMk id="26" creationId="{B0487BC0-47D5-11F1-72A0-65E719503A8D}"/>
          </ac:picMkLst>
        </pc:picChg>
      </pc:sldChg>
      <pc:sldChg chg="addSp delSp modSp">
        <pc:chgData name="Álvaro Lúcio Almeida Ribeiro" userId="S::ribeiro.alvaro@inatel.br::7df6deca-1dfa-4007-b18d-c907498a89f3" providerId="AD" clId="Web-{00000000-0000-0000-0000-000000000000}" dt="2026-08-31T16:52:32.131" v="40" actId="1076"/>
        <pc:sldMkLst>
          <pc:docMk/>
          <pc:sldMk cId="0" sldId="268"/>
        </pc:sldMkLst>
        <pc:spChg chg="del mod">
          <ac:chgData name="Álvaro Lúcio Almeida Ribeiro" userId="S::ribeiro.alvaro@inatel.br::7df6deca-1dfa-4007-b18d-c907498a89f3" providerId="AD" clId="Web-{00000000-0000-0000-0000-000000000000}" dt="2026-08-31T16:52:26.240" v="37"/>
          <ac:spMkLst>
            <pc:docMk/>
            <pc:sldMk cId="0" sldId="268"/>
            <ac:spMk id="18" creationId="{00000000-0000-0000-0000-000000000000}"/>
          </ac:spMkLst>
        </pc:spChg>
        <pc:spChg chg="mod">
          <ac:chgData name="Álvaro Lúcio Almeida Ribeiro" userId="S::ribeiro.alvaro@inatel.br::7df6deca-1dfa-4007-b18d-c907498a89f3" providerId="AD" clId="Web-{00000000-0000-0000-0000-000000000000}" dt="2026-08-31T16:52:04.692" v="34" actId="1076"/>
          <ac:spMkLst>
            <pc:docMk/>
            <pc:sldMk cId="0" sldId="268"/>
            <ac:spMk id="20" creationId="{00000000-0000-0000-0000-000000000000}"/>
          </ac:spMkLst>
        </pc:spChg>
        <pc:picChg chg="del">
          <ac:chgData name="Álvaro Lúcio Almeida Ribeiro" userId="S::ribeiro.alvaro@inatel.br::7df6deca-1dfa-4007-b18d-c907498a89f3" providerId="AD" clId="Web-{00000000-0000-0000-0000-000000000000}" dt="2026-08-31T16:52:24.287" v="35"/>
          <ac:picMkLst>
            <pc:docMk/>
            <pc:sldMk cId="0" sldId="268"/>
            <ac:picMk id="19" creationId="{00000000-0000-0000-0000-000000000000}"/>
          </ac:picMkLst>
        </pc:picChg>
        <pc:picChg chg="add mod">
          <ac:chgData name="Álvaro Lúcio Almeida Ribeiro" userId="S::ribeiro.alvaro@inatel.br::7df6deca-1dfa-4007-b18d-c907498a89f3" providerId="AD" clId="Web-{00000000-0000-0000-0000-000000000000}" dt="2026-08-31T16:52:32.131" v="40" actId="1076"/>
          <ac:picMkLst>
            <pc:docMk/>
            <pc:sldMk cId="0" sldId="268"/>
            <ac:picMk id="22" creationId="{0C5D8193-A8EE-63FF-7BCC-FD480D30FB03}"/>
          </ac:picMkLst>
        </pc:picChg>
      </pc:sldChg>
      <pc:sldChg chg="addSp delSp modSp">
        <pc:chgData name="Álvaro Lúcio Almeida Ribeiro" userId="S::ribeiro.alvaro@inatel.br::7df6deca-1dfa-4007-b18d-c907498a89f3" providerId="AD" clId="Web-{00000000-0000-0000-0000-000000000000}" dt="2026-08-31T16:52:58.460" v="46" actId="1076"/>
        <pc:sldMkLst>
          <pc:docMk/>
          <pc:sldMk cId="0" sldId="270"/>
        </pc:sldMkLst>
        <pc:spChg chg="del">
          <ac:chgData name="Álvaro Lúcio Almeida Ribeiro" userId="S::ribeiro.alvaro@inatel.br::7df6deca-1dfa-4007-b18d-c907498a89f3" providerId="AD" clId="Web-{00000000-0000-0000-0000-000000000000}" dt="2026-08-31T16:52:38.959" v="42"/>
          <ac:spMkLst>
            <pc:docMk/>
            <pc:sldMk cId="0" sldId="270"/>
            <ac:spMk id="20" creationId="{00000000-0000-0000-0000-000000000000}"/>
          </ac:spMkLst>
        </pc:spChg>
        <pc:spChg chg="mod">
          <ac:chgData name="Álvaro Lúcio Almeida Ribeiro" userId="S::ribeiro.alvaro@inatel.br::7df6deca-1dfa-4007-b18d-c907498a89f3" providerId="AD" clId="Web-{00000000-0000-0000-0000-000000000000}" dt="2026-08-31T16:52:58.460" v="46" actId="1076"/>
          <ac:spMkLst>
            <pc:docMk/>
            <pc:sldMk cId="0" sldId="270"/>
            <ac:spMk id="22" creationId="{00000000-0000-0000-0000-000000000000}"/>
          </ac:spMkLst>
        </pc:spChg>
        <pc:picChg chg="del">
          <ac:chgData name="Álvaro Lúcio Almeida Ribeiro" userId="S::ribeiro.alvaro@inatel.br::7df6deca-1dfa-4007-b18d-c907498a89f3" providerId="AD" clId="Web-{00000000-0000-0000-0000-000000000000}" dt="2026-08-31T16:52:38.318" v="41"/>
          <ac:picMkLst>
            <pc:docMk/>
            <pc:sldMk cId="0" sldId="270"/>
            <ac:picMk id="21" creationId="{00000000-0000-0000-0000-000000000000}"/>
          </ac:picMkLst>
        </pc:picChg>
        <pc:picChg chg="add mod">
          <ac:chgData name="Álvaro Lúcio Almeida Ribeiro" userId="S::ribeiro.alvaro@inatel.br::7df6deca-1dfa-4007-b18d-c907498a89f3" providerId="AD" clId="Web-{00000000-0000-0000-0000-000000000000}" dt="2026-08-31T16:52:55.069" v="45" actId="1076"/>
          <ac:picMkLst>
            <pc:docMk/>
            <pc:sldMk cId="0" sldId="270"/>
            <ac:picMk id="24" creationId="{84458E60-C25D-9F86-0AE3-0E58A7978815}"/>
          </ac:picMkLst>
        </pc:picChg>
      </pc:sldChg>
      <pc:sldChg chg="delSp modSp">
        <pc:chgData name="Álvaro Lúcio Almeida Ribeiro" userId="S::ribeiro.alvaro@inatel.br::7df6deca-1dfa-4007-b18d-c907498a89f3" providerId="AD" clId="Web-{00000000-0000-0000-0000-000000000000}" dt="2026-08-31T16:53:15.320" v="48"/>
        <pc:sldMkLst>
          <pc:docMk/>
          <pc:sldMk cId="0" sldId="273"/>
        </pc:sldMkLst>
        <pc:spChg chg="del mod">
          <ac:chgData name="Álvaro Lúcio Almeida Ribeiro" userId="S::ribeiro.alvaro@inatel.br::7df6deca-1dfa-4007-b18d-c907498a89f3" providerId="AD" clId="Web-{00000000-0000-0000-0000-000000000000}" dt="2026-08-31T16:53:15.320" v="48"/>
          <ac:spMkLst>
            <pc:docMk/>
            <pc:sldMk cId="0" sldId="273"/>
            <ac:spMk id="3" creationId="{00000000-0000-0000-0000-000000000000}"/>
          </ac:spMkLst>
        </pc:spChg>
      </pc:sldChg>
      <pc:sldChg chg="modSp">
        <pc:chgData name="Álvaro Lúcio Almeida Ribeiro" userId="S::ribeiro.alvaro@inatel.br::7df6deca-1dfa-4007-b18d-c907498a89f3" providerId="AD" clId="Web-{00000000-0000-0000-0000-000000000000}" dt="2026-08-31T17:34:38.013" v="53" actId="20577"/>
        <pc:sldMkLst>
          <pc:docMk/>
          <pc:sldMk cId="288708291" sldId="274"/>
        </pc:sldMkLst>
        <pc:spChg chg="mod">
          <ac:chgData name="Álvaro Lúcio Almeida Ribeiro" userId="S::ribeiro.alvaro@inatel.br::7df6deca-1dfa-4007-b18d-c907498a89f3" providerId="AD" clId="Web-{00000000-0000-0000-0000-000000000000}" dt="2026-08-31T17:34:33.231" v="51" actId="1076"/>
          <ac:spMkLst>
            <pc:docMk/>
            <pc:sldMk cId="288708291" sldId="274"/>
            <ac:spMk id="4" creationId="{0583ED3C-4C84-40FD-A273-11D083FACC08}"/>
          </ac:spMkLst>
        </pc:spChg>
        <pc:spChg chg="mod">
          <ac:chgData name="Álvaro Lúcio Almeida Ribeiro" userId="S::ribeiro.alvaro@inatel.br::7df6deca-1dfa-4007-b18d-c907498a89f3" providerId="AD" clId="Web-{00000000-0000-0000-0000-000000000000}" dt="2026-08-31T17:34:38.013" v="53" actId="20577"/>
          <ac:spMkLst>
            <pc:docMk/>
            <pc:sldMk cId="288708291" sldId="274"/>
            <ac:spMk id="5" creationId="{DBEA6695-5B3B-499D-82BC-3C232E66285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8BD32-179D-4291-ADFF-9C86FD981599}" type="datetimeFigureOut">
              <a:t>31/08/2026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8EC8-E3EF-49D8-9421-A25E77E243A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41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Bom </a:t>
            </a:r>
            <a:r>
              <a:rPr lang="en-US" err="1"/>
              <a:t>dia</a:t>
            </a:r>
            <a:r>
              <a:rPr lang="en-US"/>
              <a:t>, </a:t>
            </a:r>
            <a:r>
              <a:rPr lang="en-US" err="1"/>
              <a:t>pessoal</a:t>
            </a:r>
            <a:r>
              <a:rPr lang="en-US"/>
              <a:t>. </a:t>
            </a:r>
            <a:r>
              <a:rPr lang="en-US" err="1"/>
              <a:t>Hoje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vou</a:t>
            </a:r>
            <a:r>
              <a:rPr lang="en-US"/>
              <a:t> </a:t>
            </a:r>
            <a:r>
              <a:rPr lang="en-US" err="1"/>
              <a:t>apresentar</a:t>
            </a:r>
            <a:r>
              <a:rPr lang="en-US"/>
              <a:t> o </a:t>
            </a:r>
            <a:r>
              <a:rPr lang="en-US" err="1"/>
              <a:t>artigo</a:t>
            </a:r>
            <a:r>
              <a:rPr lang="en-US"/>
              <a:t> ‘</a:t>
            </a:r>
            <a:r>
              <a:rPr lang="en-US" err="1"/>
              <a:t>RepViT</a:t>
            </a:r>
            <a:r>
              <a:rPr lang="en-US"/>
              <a:t>: Revisiting Mobile CNN From </a:t>
            </a:r>
            <a:r>
              <a:rPr lang="en-US" err="1"/>
              <a:t>ViT</a:t>
            </a:r>
            <a:r>
              <a:rPr lang="en-US"/>
              <a:t> Perspective’. Nesse </a:t>
            </a:r>
            <a:r>
              <a:rPr lang="en-US" err="1"/>
              <a:t>trabalho</a:t>
            </a:r>
            <a:r>
              <a:rPr lang="en-US"/>
              <a:t>,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autores</a:t>
            </a:r>
            <a:r>
              <a:rPr lang="en-US"/>
              <a:t> </a:t>
            </a:r>
            <a:r>
              <a:rPr lang="en-US" err="1"/>
              <a:t>analisam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algumas</a:t>
            </a:r>
            <a:r>
              <a:rPr lang="en-US"/>
              <a:t> </a:t>
            </a:r>
            <a:r>
              <a:rPr lang="en-US" err="1"/>
              <a:t>características</a:t>
            </a:r>
            <a:r>
              <a:rPr lang="en-US"/>
              <a:t> </a:t>
            </a:r>
            <a:r>
              <a:rPr lang="en-US" err="1"/>
              <a:t>utilizadas</a:t>
            </a:r>
            <a:r>
              <a:rPr lang="en-US"/>
              <a:t> </a:t>
            </a:r>
            <a:r>
              <a:rPr lang="en-US" err="1"/>
              <a:t>nos</a:t>
            </a:r>
            <a:r>
              <a:rPr lang="en-US"/>
              <a:t> Vision Transformers </a:t>
            </a:r>
            <a:r>
              <a:rPr lang="en-US" err="1"/>
              <a:t>podem</a:t>
            </a:r>
            <a:r>
              <a:rPr lang="en-US"/>
              <a:t> ser </a:t>
            </a:r>
            <a:r>
              <a:rPr lang="en-US" err="1"/>
              <a:t>aplicadas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CNN </a:t>
            </a:r>
            <a:r>
              <a:rPr lang="en-US" err="1"/>
              <a:t>tradicional</a:t>
            </a:r>
            <a:r>
              <a:rPr lang="en-US"/>
              <a:t>, com o </a:t>
            </a:r>
            <a:r>
              <a:rPr lang="en-US" err="1"/>
              <a:t>objetivo</a:t>
            </a:r>
            <a:r>
              <a:rPr lang="en-US"/>
              <a:t> de </a:t>
            </a:r>
            <a:r>
              <a:rPr lang="en-US" err="1"/>
              <a:t>criar</a:t>
            </a:r>
            <a:r>
              <a:rPr lang="en-US"/>
              <a:t> um </a:t>
            </a:r>
            <a:r>
              <a:rPr lang="en-US" err="1"/>
              <a:t>modelo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rápido</a:t>
            </a:r>
            <a:r>
              <a:rPr lang="en-US"/>
              <a:t> e </a:t>
            </a:r>
            <a:r>
              <a:rPr lang="en-US" err="1"/>
              <a:t>eficiente</a:t>
            </a:r>
            <a:r>
              <a:rPr lang="en-US"/>
              <a:t> para </a:t>
            </a:r>
            <a:r>
              <a:rPr lang="en-US" err="1"/>
              <a:t>dispositivos</a:t>
            </a:r>
            <a:r>
              <a:rPr lang="en-US"/>
              <a:t> </a:t>
            </a:r>
            <a:r>
              <a:rPr lang="en-US" err="1"/>
              <a:t>móveis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Primeiro,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vou</a:t>
            </a:r>
            <a:r>
              <a:rPr lang="en-US"/>
              <a:t> </a:t>
            </a:r>
            <a:r>
              <a:rPr lang="en-US" err="1"/>
              <a:t>explicar</a:t>
            </a:r>
            <a:r>
              <a:rPr lang="en-US"/>
              <a:t> a </a:t>
            </a:r>
            <a:r>
              <a:rPr lang="en-US" err="1"/>
              <a:t>motivação</a:t>
            </a:r>
            <a:r>
              <a:rPr lang="en-US"/>
              <a:t> e o </a:t>
            </a:r>
            <a:r>
              <a:rPr lang="en-US" err="1"/>
              <a:t>problema</a:t>
            </a:r>
            <a:r>
              <a:rPr lang="en-US"/>
              <a:t> </a:t>
            </a:r>
            <a:r>
              <a:rPr lang="en-US" err="1"/>
              <a:t>investigado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artigo</a:t>
            </a:r>
            <a:r>
              <a:rPr lang="en-US"/>
              <a:t>. </a:t>
            </a:r>
            <a:r>
              <a:rPr lang="en-US" err="1"/>
              <a:t>Depois</a:t>
            </a:r>
            <a:r>
              <a:rPr lang="en-US"/>
              <a:t>, </a:t>
            </a:r>
            <a:r>
              <a:rPr lang="en-US" err="1"/>
              <a:t>vou</a:t>
            </a:r>
            <a:r>
              <a:rPr lang="en-US"/>
              <a:t> </a:t>
            </a:r>
            <a:r>
              <a:rPr lang="en-US" err="1"/>
              <a:t>mostrar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o </a:t>
            </a:r>
            <a:r>
              <a:rPr lang="en-US" err="1"/>
              <a:t>RepViT</a:t>
            </a:r>
            <a:r>
              <a:rPr lang="en-US"/>
              <a:t>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construído</a:t>
            </a:r>
            <a:r>
              <a:rPr lang="en-US"/>
              <a:t>, </a:t>
            </a:r>
            <a:r>
              <a:rPr lang="en-US" err="1"/>
              <a:t>passando</a:t>
            </a:r>
            <a:r>
              <a:rPr lang="en-US"/>
              <a:t> </a:t>
            </a:r>
            <a:r>
              <a:rPr lang="en-US" err="1"/>
              <a:t>pelas</a:t>
            </a:r>
            <a:r>
              <a:rPr lang="en-US"/>
              <a:t> </a:t>
            </a:r>
            <a:r>
              <a:rPr lang="en-US" err="1"/>
              <a:t>mudanças</a:t>
            </a:r>
            <a:r>
              <a:rPr lang="en-US"/>
              <a:t> </a:t>
            </a:r>
            <a:r>
              <a:rPr lang="en-US" err="1"/>
              <a:t>feitas</a:t>
            </a:r>
            <a:r>
              <a:rPr lang="en-US"/>
              <a:t> no </a:t>
            </a:r>
            <a:r>
              <a:rPr lang="en-US" err="1"/>
              <a:t>bloco</a:t>
            </a:r>
            <a:r>
              <a:rPr lang="en-US"/>
              <a:t>, no </a:t>
            </a:r>
            <a:r>
              <a:rPr lang="en-US" err="1"/>
              <a:t>macrodesign</a:t>
            </a:r>
            <a:r>
              <a:rPr lang="en-US"/>
              <a:t> e no </a:t>
            </a:r>
            <a:r>
              <a:rPr lang="en-US" err="1"/>
              <a:t>microdesign</a:t>
            </a:r>
            <a:r>
              <a:rPr lang="en-US"/>
              <a:t>. Em </a:t>
            </a:r>
            <a:r>
              <a:rPr lang="en-US" err="1"/>
              <a:t>seguida</a:t>
            </a:r>
            <a:r>
              <a:rPr lang="en-US"/>
              <a:t>, </a:t>
            </a:r>
            <a:r>
              <a:rPr lang="en-US" err="1"/>
              <a:t>vou</a:t>
            </a:r>
            <a:r>
              <a:rPr lang="en-US"/>
              <a:t> </a:t>
            </a:r>
            <a:r>
              <a:rPr lang="en-US" err="1"/>
              <a:t>apresentar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experimentos</a:t>
            </a:r>
            <a:r>
              <a:rPr lang="en-US"/>
              <a:t>,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principais</a:t>
            </a:r>
            <a:r>
              <a:rPr lang="en-US"/>
              <a:t> </a:t>
            </a:r>
            <a:r>
              <a:rPr lang="en-US" err="1"/>
              <a:t>resultados</a:t>
            </a:r>
            <a:r>
              <a:rPr lang="en-US"/>
              <a:t> e,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fim</a:t>
            </a:r>
            <a:r>
              <a:rPr lang="en-US"/>
              <a:t>,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pontos</a:t>
            </a:r>
            <a:r>
              <a:rPr lang="en-US"/>
              <a:t> fortes, as </a:t>
            </a:r>
            <a:r>
              <a:rPr lang="en-US" err="1"/>
              <a:t>limitações</a:t>
            </a:r>
            <a:r>
              <a:rPr lang="en-US"/>
              <a:t> e a </a:t>
            </a:r>
            <a:r>
              <a:rPr lang="en-US" err="1"/>
              <a:t>conclusão</a:t>
            </a:r>
            <a:r>
              <a:rPr lang="en-US"/>
              <a:t> do </a:t>
            </a:r>
            <a:r>
              <a:rPr lang="en-US" err="1"/>
              <a:t>trabalho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começar</a:t>
            </a:r>
            <a:r>
              <a:rPr lang="en-US" dirty="0"/>
              <a:t>, é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entender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de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para </a:t>
            </a:r>
            <a:r>
              <a:rPr lang="en-US" dirty="0" err="1"/>
              <a:t>dispositivos</a:t>
            </a:r>
            <a:r>
              <a:rPr lang="en-US" dirty="0"/>
              <a:t> </a:t>
            </a:r>
            <a:r>
              <a:rPr lang="en-US" dirty="0" err="1"/>
              <a:t>móveis</a:t>
            </a:r>
            <a:r>
              <a:rPr lang="en-US" dirty="0"/>
              <a:t>. </a:t>
            </a:r>
            <a:r>
              <a:rPr lang="en-US" dirty="0" err="1"/>
              <a:t>Hoje</a:t>
            </a:r>
            <a:r>
              <a:rPr lang="en-US" dirty="0"/>
              <a:t>, </a:t>
            </a:r>
            <a:r>
              <a:rPr lang="en-US" dirty="0" err="1"/>
              <a:t>muitas</a:t>
            </a:r>
            <a:r>
              <a:rPr lang="en-US" dirty="0"/>
              <a:t> </a:t>
            </a:r>
            <a:r>
              <a:rPr lang="en-US" dirty="0" err="1"/>
              <a:t>aplicações</a:t>
            </a:r>
            <a:r>
              <a:rPr lang="en-US" dirty="0"/>
              <a:t> de </a:t>
            </a:r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r>
              <a:rPr lang="en-US" dirty="0"/>
              <a:t> </a:t>
            </a:r>
            <a:r>
              <a:rPr lang="en-US" dirty="0" err="1"/>
              <a:t>rodam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celulares</a:t>
            </a:r>
            <a:r>
              <a:rPr lang="en-US" dirty="0"/>
              <a:t>, </a:t>
            </a:r>
            <a:r>
              <a:rPr lang="en-US" dirty="0" err="1"/>
              <a:t>veículos</a:t>
            </a:r>
            <a:r>
              <a:rPr lang="en-US" dirty="0"/>
              <a:t>, </a:t>
            </a:r>
            <a:r>
              <a:rPr lang="en-US" dirty="0" err="1"/>
              <a:t>câmeras</a:t>
            </a:r>
            <a:r>
              <a:rPr lang="en-US" dirty="0"/>
              <a:t> </a:t>
            </a:r>
            <a:r>
              <a:rPr lang="en-US" dirty="0" err="1"/>
              <a:t>inteligentes</a:t>
            </a:r>
            <a:r>
              <a:rPr lang="en-US" dirty="0"/>
              <a:t> e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embarcados</a:t>
            </a:r>
            <a:r>
              <a:rPr lang="en-US" dirty="0"/>
              <a:t>. Esses </a:t>
            </a:r>
            <a:r>
              <a:rPr lang="en-US" dirty="0" err="1"/>
              <a:t>equipamentos</a:t>
            </a:r>
            <a:r>
              <a:rPr lang="en-US" dirty="0"/>
              <a:t> </a:t>
            </a:r>
            <a:r>
              <a:rPr lang="en-US" dirty="0" err="1"/>
              <a:t>têm</a:t>
            </a:r>
            <a:r>
              <a:rPr lang="en-US" dirty="0"/>
              <a:t> </a:t>
            </a:r>
            <a:r>
              <a:rPr lang="en-US" dirty="0" err="1"/>
              <a:t>limitações</a:t>
            </a:r>
            <a:r>
              <a:rPr lang="en-US" dirty="0"/>
              <a:t> de </a:t>
            </a:r>
            <a:r>
              <a:rPr lang="en-US" dirty="0" err="1"/>
              <a:t>memória</a:t>
            </a:r>
            <a:r>
              <a:rPr lang="en-US" dirty="0"/>
              <a:t>, </a:t>
            </a:r>
            <a:r>
              <a:rPr lang="en-US" dirty="0" err="1"/>
              <a:t>energia</a:t>
            </a:r>
            <a:r>
              <a:rPr lang="en-US" dirty="0"/>
              <a:t> e </a:t>
            </a:r>
            <a:r>
              <a:rPr lang="en-US" dirty="0" err="1"/>
              <a:t>processamento</a:t>
            </a:r>
            <a:r>
              <a:rPr lang="en-US" dirty="0"/>
              <a:t>. Por </a:t>
            </a:r>
            <a:r>
              <a:rPr lang="en-US" dirty="0" err="1"/>
              <a:t>isso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basta ter boa </a:t>
            </a:r>
            <a:r>
              <a:rPr lang="en-US" dirty="0" err="1"/>
              <a:t>acurácia</a:t>
            </a:r>
            <a:r>
              <a:rPr lang="en-US" dirty="0"/>
              <a:t>: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 responder </a:t>
            </a:r>
            <a:r>
              <a:rPr lang="en-US" dirty="0" err="1"/>
              <a:t>rápido</a:t>
            </a:r>
            <a:r>
              <a:rPr lang="en-US" dirty="0"/>
              <a:t> no hardware real. O </a:t>
            </a:r>
            <a:r>
              <a:rPr lang="en-US" dirty="0" err="1"/>
              <a:t>artigo</a:t>
            </a:r>
            <a:r>
              <a:rPr lang="en-US" dirty="0"/>
              <a:t> </a:t>
            </a:r>
            <a:r>
              <a:rPr lang="en-US" dirty="0" err="1"/>
              <a:t>mostra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ViTs</a:t>
            </a:r>
            <a:r>
              <a:rPr lang="en-US" dirty="0"/>
              <a:t> </a:t>
            </a:r>
            <a:r>
              <a:rPr lang="en-US" dirty="0" err="1"/>
              <a:t>leves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estavam</a:t>
            </a:r>
            <a:r>
              <a:rPr lang="en-US" dirty="0"/>
              <a:t> </a:t>
            </a:r>
            <a:r>
              <a:rPr lang="en-US" dirty="0" err="1"/>
              <a:t>competitivos</a:t>
            </a:r>
            <a:r>
              <a:rPr lang="en-US" dirty="0"/>
              <a:t>, mas </a:t>
            </a:r>
            <a:r>
              <a:rPr lang="en-US" dirty="0" err="1"/>
              <a:t>lembra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as CNNs </a:t>
            </a:r>
            <a:r>
              <a:rPr lang="en-US" dirty="0" err="1"/>
              <a:t>ainda</a:t>
            </a:r>
            <a:r>
              <a:rPr lang="en-US" dirty="0"/>
              <a:t> </a:t>
            </a:r>
            <a:r>
              <a:rPr lang="en-US" dirty="0" err="1"/>
              <a:t>têm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vantagem</a:t>
            </a:r>
            <a:r>
              <a:rPr lang="en-US" dirty="0"/>
              <a:t> </a:t>
            </a:r>
            <a:r>
              <a:rPr lang="en-US" dirty="0" err="1"/>
              <a:t>prática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, </a:t>
            </a:r>
            <a:r>
              <a:rPr lang="en-US" dirty="0" err="1"/>
              <a:t>porque</a:t>
            </a:r>
            <a:r>
              <a:rPr lang="en-US" dirty="0"/>
              <a:t> as </a:t>
            </a:r>
            <a:r>
              <a:rPr lang="en-US" dirty="0" err="1"/>
              <a:t>convoluções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bem</a:t>
            </a:r>
            <a:r>
              <a:rPr lang="en-US" dirty="0"/>
              <a:t> </a:t>
            </a:r>
            <a:r>
              <a:rPr lang="en-US" dirty="0" err="1"/>
              <a:t>otimizadas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 </a:t>
            </a:r>
            <a:r>
              <a:rPr lang="en-US" dirty="0" err="1"/>
              <a:t>móveis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A </a:t>
            </a:r>
            <a:r>
              <a:rPr lang="en-US" b="1" dirty="0" err="1"/>
              <a:t>acurácia</a:t>
            </a:r>
            <a:r>
              <a:rPr lang="en-US" b="1" dirty="0"/>
              <a:t> top-1</a:t>
            </a:r>
            <a:r>
              <a:rPr lang="en-US" dirty="0"/>
              <a:t> </a:t>
            </a:r>
            <a:r>
              <a:rPr lang="en-US" dirty="0" err="1"/>
              <a:t>mostra</a:t>
            </a:r>
            <a:r>
              <a:rPr lang="en-US" dirty="0"/>
              <a:t> </a:t>
            </a:r>
            <a:r>
              <a:rPr lang="en-US" dirty="0" err="1"/>
              <a:t>quantas</a:t>
            </a:r>
            <a:r>
              <a:rPr lang="en-US" dirty="0"/>
              <a:t> </a:t>
            </a:r>
            <a:r>
              <a:rPr lang="en-US" dirty="0" err="1"/>
              <a:t>vezes</a:t>
            </a:r>
            <a:r>
              <a:rPr lang="en-US" dirty="0"/>
              <a:t> o </a:t>
            </a:r>
            <a:r>
              <a:rPr lang="en-US" b="1" dirty="0" err="1"/>
              <a:t>primeiro</a:t>
            </a:r>
            <a:r>
              <a:rPr lang="en-US" b="1" dirty="0"/>
              <a:t> </a:t>
            </a:r>
            <a:r>
              <a:rPr lang="en-US" b="1" dirty="0" err="1"/>
              <a:t>palpite</a:t>
            </a:r>
            <a:r>
              <a:rPr lang="en-US" b="1" dirty="0"/>
              <a:t> do </a:t>
            </a:r>
            <a:r>
              <a:rPr lang="en-US" b="1" dirty="0" err="1"/>
              <a:t>modelo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correto</a:t>
            </a:r>
            <a:r>
              <a:rPr lang="en-US" dirty="0"/>
              <a:t>. Por </a:t>
            </a:r>
            <a:r>
              <a:rPr lang="en-US" dirty="0" err="1"/>
              <a:t>exemplo</a:t>
            </a:r>
            <a:r>
              <a:rPr lang="en-US" dirty="0"/>
              <a:t>: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mostra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foto</a:t>
            </a:r>
            <a:r>
              <a:rPr lang="en-US" dirty="0"/>
              <a:t> de um </a:t>
            </a:r>
            <a:r>
              <a:rPr lang="en-US" dirty="0" err="1"/>
              <a:t>cachorro</a:t>
            </a:r>
            <a:r>
              <a:rPr lang="en-US" dirty="0"/>
              <a:t>. Ele </a:t>
            </a:r>
            <a:r>
              <a:rPr lang="en-US" dirty="0" err="1"/>
              <a:t>analisa</a:t>
            </a:r>
            <a:r>
              <a:rPr lang="en-US" dirty="0"/>
              <a:t> e </a:t>
            </a:r>
            <a:r>
              <a:rPr lang="en-US" dirty="0" err="1"/>
              <a:t>responde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 err="1"/>
              <a:t>Cachorro</a:t>
            </a:r>
            <a:r>
              <a:rPr lang="en-US" dirty="0"/>
              <a:t>: 80% 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Gato: 15%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Coelho: 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Nos últimos anos, os Vision Transformers leves começaram a superar várias CNNs móveis em velocidade e acurácia. Porém, os autores observam que muitas comparações acabam atribuindo o ganho apenas à atenção. A pergunta central do artigo é outra: será que decisões arquiteturais típicas dos ViTs leves, como a separação entre token mixer e channel mixer, além de mudanças de macro e microdesign, também poderiam melhorar uma CNN pura?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</a:t>
            </a:r>
            <a:r>
              <a:rPr lang="en-US" dirty="0" err="1"/>
              <a:t>ponto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do </a:t>
            </a:r>
            <a:r>
              <a:rPr lang="en-US" dirty="0" err="1"/>
              <a:t>artigo</a:t>
            </a:r>
            <a:r>
              <a:rPr lang="en-US" dirty="0"/>
              <a:t> é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avaliam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parâmetros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FLOPs. </a:t>
            </a:r>
            <a:r>
              <a:rPr lang="en-US" dirty="0" err="1"/>
              <a:t>Essas</a:t>
            </a:r>
            <a:r>
              <a:rPr lang="en-US" dirty="0"/>
              <a:t> </a:t>
            </a:r>
            <a:r>
              <a:rPr lang="en-US" dirty="0" err="1"/>
              <a:t>métricas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representam</a:t>
            </a:r>
            <a:r>
              <a:rPr lang="en-US" dirty="0"/>
              <a:t> </a:t>
            </a:r>
            <a:r>
              <a:rPr lang="en-US" dirty="0" err="1"/>
              <a:t>bem</a:t>
            </a:r>
            <a:r>
              <a:rPr lang="en-US" dirty="0"/>
              <a:t> a </a:t>
            </a:r>
            <a:r>
              <a:rPr lang="en-US" dirty="0" err="1"/>
              <a:t>latência</a:t>
            </a:r>
            <a:r>
              <a:rPr lang="en-US" dirty="0"/>
              <a:t> real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 </a:t>
            </a:r>
            <a:r>
              <a:rPr lang="en-US" dirty="0" err="1"/>
              <a:t>móveis</a:t>
            </a:r>
            <a:r>
              <a:rPr lang="en-US" dirty="0"/>
              <a:t>. Por </a:t>
            </a:r>
            <a:r>
              <a:rPr lang="en-US" dirty="0" err="1"/>
              <a:t>isso</a:t>
            </a:r>
            <a:r>
              <a:rPr lang="en-US" dirty="0"/>
              <a:t>, </a:t>
            </a:r>
            <a:r>
              <a:rPr lang="en-US" dirty="0" err="1"/>
              <a:t>eles</a:t>
            </a:r>
            <a:r>
              <a:rPr lang="en-US" dirty="0"/>
              <a:t> </a:t>
            </a:r>
            <a:r>
              <a:rPr lang="en-US" dirty="0" err="1"/>
              <a:t>medem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o tempo de </a:t>
            </a:r>
            <a:r>
              <a:rPr lang="en-US" dirty="0" err="1"/>
              <a:t>inferência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iPhone 12 com iOS 16 </a:t>
            </a:r>
            <a:r>
              <a:rPr lang="en-US" dirty="0" err="1"/>
              <a:t>usando</a:t>
            </a:r>
            <a:r>
              <a:rPr lang="en-US" dirty="0"/>
              <a:t> Core ML Tools, com batch </a:t>
            </a:r>
            <a:r>
              <a:rPr lang="en-US" dirty="0" err="1"/>
              <a:t>igual</a:t>
            </a:r>
            <a:r>
              <a:rPr lang="en-US" dirty="0"/>
              <a:t> a 1. Para </a:t>
            </a:r>
            <a:r>
              <a:rPr lang="en-US" dirty="0" err="1"/>
              <a:t>classificação</a:t>
            </a:r>
            <a:r>
              <a:rPr lang="en-US" dirty="0"/>
              <a:t>, as imagens </a:t>
            </a:r>
            <a:r>
              <a:rPr lang="en-US" dirty="0" err="1"/>
              <a:t>têm</a:t>
            </a:r>
            <a:r>
              <a:rPr lang="en-US" dirty="0"/>
              <a:t> 224 </a:t>
            </a:r>
            <a:r>
              <a:rPr lang="en-US" dirty="0" err="1"/>
              <a:t>por</a:t>
            </a:r>
            <a:r>
              <a:rPr lang="en-US" dirty="0"/>
              <a:t> 224. Essa </a:t>
            </a:r>
            <a:r>
              <a:rPr lang="en-US" dirty="0" err="1"/>
              <a:t>decisão</a:t>
            </a:r>
            <a:r>
              <a:rPr lang="en-US" dirty="0"/>
              <a:t> </a:t>
            </a:r>
            <a:r>
              <a:rPr lang="en-US" dirty="0" err="1"/>
              <a:t>torna</a:t>
            </a:r>
            <a:r>
              <a:rPr lang="en-US" dirty="0"/>
              <a:t> a </a:t>
            </a:r>
            <a:r>
              <a:rPr lang="en-US" dirty="0" err="1"/>
              <a:t>comparação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prática</a:t>
            </a:r>
            <a:r>
              <a:rPr lang="en-US" dirty="0"/>
              <a:t> e </a:t>
            </a:r>
            <a:r>
              <a:rPr lang="en-US" dirty="0" err="1"/>
              <a:t>orientada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real.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b="1"/>
              <a:t>FLOPS mede quantas operações matemáticas um computador consegue realizar em um segundo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responder a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pergunta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partem do MobileNetV3-Large. A </a:t>
            </a:r>
            <a:r>
              <a:rPr lang="en-US" dirty="0" err="1"/>
              <a:t>arquitetura</a:t>
            </a:r>
            <a:r>
              <a:rPr lang="en-US" dirty="0"/>
              <a:t> é </a:t>
            </a:r>
            <a:r>
              <a:rPr lang="en-US" dirty="0" err="1"/>
              <a:t>modificada</a:t>
            </a:r>
            <a:r>
              <a:rPr lang="en-US" dirty="0"/>
              <a:t> de forma incremental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níveis</a:t>
            </a:r>
            <a:r>
              <a:rPr lang="en-US" dirty="0"/>
              <a:t>: </a:t>
            </a:r>
            <a:r>
              <a:rPr lang="en-US" dirty="0" err="1"/>
              <a:t>primeiro</a:t>
            </a:r>
            <a:r>
              <a:rPr lang="en-US" dirty="0"/>
              <a:t> o </a:t>
            </a:r>
            <a:r>
              <a:rPr lang="en-US" dirty="0" err="1"/>
              <a:t>bloco</a:t>
            </a:r>
            <a:r>
              <a:rPr lang="en-US" dirty="0"/>
              <a:t>, </a:t>
            </a:r>
            <a:r>
              <a:rPr lang="en-US" dirty="0" err="1"/>
              <a:t>depois</a:t>
            </a:r>
            <a:r>
              <a:rPr lang="en-US" dirty="0"/>
              <a:t> o </a:t>
            </a:r>
            <a:r>
              <a:rPr lang="en-US" dirty="0" err="1"/>
              <a:t>macrodesign</a:t>
            </a:r>
            <a:r>
              <a:rPr lang="en-US" dirty="0"/>
              <a:t> da rede e,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fim</a:t>
            </a:r>
            <a:r>
              <a:rPr lang="en-US" dirty="0"/>
              <a:t>, o </a:t>
            </a:r>
            <a:r>
              <a:rPr lang="en-US" dirty="0" err="1"/>
              <a:t>microdesign</a:t>
            </a:r>
            <a:r>
              <a:rPr lang="en-US" dirty="0"/>
              <a:t>. O </a:t>
            </a:r>
            <a:r>
              <a:rPr lang="en-US" dirty="0" err="1"/>
              <a:t>ponto</a:t>
            </a:r>
            <a:r>
              <a:rPr lang="en-US" dirty="0"/>
              <a:t> forte </a:t>
            </a:r>
            <a:r>
              <a:rPr lang="en-US" dirty="0" err="1"/>
              <a:t>desse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é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mudança</a:t>
            </a:r>
            <a:r>
              <a:rPr lang="en-US" dirty="0"/>
              <a:t> é </a:t>
            </a:r>
            <a:r>
              <a:rPr lang="en-US" dirty="0" err="1"/>
              <a:t>medida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termos</a:t>
            </a:r>
            <a:r>
              <a:rPr lang="en-US" dirty="0"/>
              <a:t> de </a:t>
            </a:r>
            <a:r>
              <a:rPr lang="en-US" dirty="0" err="1"/>
              <a:t>acurácia</a:t>
            </a:r>
            <a:r>
              <a:rPr lang="en-US" dirty="0"/>
              <a:t> top-1 e </a:t>
            </a:r>
            <a:r>
              <a:rPr lang="en-US" dirty="0" err="1"/>
              <a:t>latência</a:t>
            </a:r>
            <a:r>
              <a:rPr lang="en-US" dirty="0"/>
              <a:t> real, </a:t>
            </a:r>
            <a:r>
              <a:rPr lang="en-US" dirty="0" err="1"/>
              <a:t>permitindo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se a </a:t>
            </a:r>
            <a:r>
              <a:rPr lang="en-US" dirty="0" err="1"/>
              <a:t>alteração</a:t>
            </a:r>
            <a:r>
              <a:rPr lang="en-US" dirty="0"/>
              <a:t> </a:t>
            </a:r>
            <a:r>
              <a:rPr lang="en-US" dirty="0" err="1"/>
              <a:t>realmente</a:t>
            </a:r>
            <a:r>
              <a:rPr lang="en-US" dirty="0"/>
              <a:t> </a:t>
            </a:r>
            <a:r>
              <a:rPr lang="en-US" dirty="0" err="1"/>
              <a:t>melhora</a:t>
            </a:r>
            <a:r>
              <a:rPr lang="en-US" dirty="0"/>
              <a:t> o </a:t>
            </a:r>
            <a:r>
              <a:rPr lang="en-US" dirty="0" err="1"/>
              <a:t>equilíbrio</a:t>
            </a:r>
            <a:r>
              <a:rPr lang="en-US" dirty="0"/>
              <a:t> entre </a:t>
            </a:r>
            <a:r>
              <a:rPr lang="en-US" dirty="0" err="1"/>
              <a:t>desempenho</a:t>
            </a:r>
            <a:r>
              <a:rPr lang="en-US" dirty="0"/>
              <a:t> e </a:t>
            </a:r>
            <a:r>
              <a:rPr lang="en-US" dirty="0" err="1"/>
              <a:t>velocidade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Stem </a:t>
            </a:r>
            <a:r>
              <a:rPr lang="en-US" dirty="0" err="1"/>
              <a:t>recebe</a:t>
            </a:r>
            <a:r>
              <a:rPr lang="en-US" dirty="0"/>
              <a:t> a </a:t>
            </a:r>
            <a:r>
              <a:rPr lang="en-US" dirty="0" err="1"/>
              <a:t>imagem</a:t>
            </a:r>
            <a:r>
              <a:rPr lang="en-US" dirty="0"/>
              <a:t>, </a:t>
            </a:r>
            <a:r>
              <a:rPr lang="en-US" dirty="0" err="1"/>
              <a:t>downsampling</a:t>
            </a:r>
            <a:r>
              <a:rPr lang="en-US" dirty="0"/>
              <a:t> </a:t>
            </a:r>
            <a:r>
              <a:rPr lang="en-US" dirty="0" err="1"/>
              <a:t>reduz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tamanho</a:t>
            </a:r>
            <a:r>
              <a:rPr lang="en-US" dirty="0"/>
              <a:t>, stages </a:t>
            </a:r>
            <a:r>
              <a:rPr lang="en-US" dirty="0" err="1"/>
              <a:t>extraem</a:t>
            </a:r>
            <a:r>
              <a:rPr lang="en-US" dirty="0"/>
              <a:t> </a:t>
            </a:r>
            <a:r>
              <a:rPr lang="en-US" dirty="0" err="1"/>
              <a:t>características</a:t>
            </a:r>
            <a:r>
              <a:rPr lang="en-US" dirty="0"/>
              <a:t> e o </a:t>
            </a:r>
            <a:r>
              <a:rPr lang="en-US" dirty="0" err="1"/>
              <a:t>classificador</a:t>
            </a:r>
            <a:r>
              <a:rPr lang="en-US" dirty="0"/>
              <a:t> define a </a:t>
            </a:r>
            <a:r>
              <a:rPr lang="en-US" dirty="0" err="1"/>
              <a:t>categoria</a:t>
            </a:r>
            <a:r>
              <a:rPr lang="en-US" dirty="0"/>
              <a:t> final.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</a:t>
            </a:r>
            <a:r>
              <a:rPr lang="en-US" dirty="0" err="1"/>
              <a:t>apresentar</a:t>
            </a:r>
            <a:r>
              <a:rPr lang="en-US" dirty="0"/>
              <a:t> o </a:t>
            </a:r>
            <a:r>
              <a:rPr lang="en-US" dirty="0" err="1"/>
              <a:t>RepViT</a:t>
            </a:r>
            <a:r>
              <a:rPr lang="en-US" dirty="0"/>
              <a:t>, vale </a:t>
            </a:r>
            <a:r>
              <a:rPr lang="en-US" dirty="0" err="1"/>
              <a:t>lembrar</a:t>
            </a:r>
            <a:r>
              <a:rPr lang="en-US" dirty="0"/>
              <a:t> o </a:t>
            </a:r>
            <a:r>
              <a:rPr lang="en-US" dirty="0" err="1"/>
              <a:t>bloco</a:t>
            </a:r>
            <a:r>
              <a:rPr lang="en-US" dirty="0"/>
              <a:t> do MobileNetV3. Nele, a </a:t>
            </a:r>
            <a:r>
              <a:rPr lang="en-US" dirty="0" err="1"/>
              <a:t>convolução</a:t>
            </a:r>
            <a:r>
              <a:rPr lang="en-US" dirty="0"/>
              <a:t> </a:t>
            </a:r>
            <a:r>
              <a:rPr lang="en-US" dirty="0" err="1"/>
              <a:t>depthwise</a:t>
            </a:r>
            <a:r>
              <a:rPr lang="en-US" dirty="0"/>
              <a:t> e as </a:t>
            </a:r>
            <a:r>
              <a:rPr lang="en-US" dirty="0" err="1"/>
              <a:t>convoluções</a:t>
            </a:r>
            <a:r>
              <a:rPr lang="en-US" dirty="0"/>
              <a:t> 1 </a:t>
            </a:r>
            <a:r>
              <a:rPr lang="en-US" dirty="0" err="1"/>
              <a:t>por</a:t>
            </a:r>
            <a:r>
              <a:rPr lang="en-US" dirty="0"/>
              <a:t> 1 </a:t>
            </a:r>
            <a:r>
              <a:rPr lang="en-US" dirty="0" err="1"/>
              <a:t>ficam</a:t>
            </a:r>
            <a:r>
              <a:rPr lang="en-US" dirty="0"/>
              <a:t> </a:t>
            </a:r>
            <a:r>
              <a:rPr lang="en-US" dirty="0" err="1"/>
              <a:t>organizadas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de um </a:t>
            </a:r>
            <a:r>
              <a:rPr lang="en-US" dirty="0" err="1"/>
              <a:t>bloco</a:t>
            </a:r>
            <a:r>
              <a:rPr lang="en-US" dirty="0"/>
              <a:t> </a:t>
            </a:r>
            <a:r>
              <a:rPr lang="en-US" dirty="0" err="1"/>
              <a:t>invertido</a:t>
            </a:r>
            <a:r>
              <a:rPr lang="en-US" dirty="0"/>
              <a:t> </a:t>
            </a:r>
            <a:r>
              <a:rPr lang="en-US" dirty="0" err="1"/>
              <a:t>tradicional</a:t>
            </a:r>
            <a:r>
              <a:rPr lang="en-US" dirty="0"/>
              <a:t>. No </a:t>
            </a:r>
            <a:r>
              <a:rPr lang="en-US" dirty="0" err="1"/>
              <a:t>RepViT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</a:t>
            </a:r>
            <a:r>
              <a:rPr lang="en-US" dirty="0" err="1"/>
              <a:t>reorganizam</a:t>
            </a:r>
            <a:r>
              <a:rPr lang="en-US" dirty="0"/>
              <a:t> </a:t>
            </a:r>
            <a:r>
              <a:rPr lang="en-US" dirty="0" err="1"/>
              <a:t>essas</a:t>
            </a:r>
            <a:r>
              <a:rPr lang="en-US" dirty="0"/>
              <a:t> </a:t>
            </a:r>
            <a:r>
              <a:rPr lang="en-US" dirty="0" err="1"/>
              <a:t>operações</a:t>
            </a:r>
            <a:r>
              <a:rPr lang="en-US" dirty="0"/>
              <a:t> para </a:t>
            </a:r>
            <a:r>
              <a:rPr lang="en-US" dirty="0" err="1"/>
              <a:t>separar</a:t>
            </a:r>
            <a:r>
              <a:rPr lang="en-US" dirty="0"/>
              <a:t> </a:t>
            </a:r>
            <a:r>
              <a:rPr lang="en-US" dirty="0" err="1"/>
              <a:t>explicitamente</a:t>
            </a:r>
            <a:r>
              <a:rPr lang="en-US" dirty="0"/>
              <a:t> o mixer </a:t>
            </a:r>
            <a:r>
              <a:rPr lang="en-US" dirty="0" err="1"/>
              <a:t>espacial</a:t>
            </a:r>
            <a:r>
              <a:rPr lang="en-US" dirty="0"/>
              <a:t>, </a:t>
            </a:r>
            <a:r>
              <a:rPr lang="en-US" dirty="0" err="1"/>
              <a:t>feito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depthwise</a:t>
            </a:r>
            <a:r>
              <a:rPr lang="en-US" dirty="0"/>
              <a:t> 3 </a:t>
            </a:r>
            <a:r>
              <a:rPr lang="en-US" dirty="0" err="1"/>
              <a:t>por</a:t>
            </a:r>
            <a:r>
              <a:rPr lang="en-US" dirty="0"/>
              <a:t> 3, do mixer de </a:t>
            </a:r>
            <a:r>
              <a:rPr lang="en-US" dirty="0" err="1"/>
              <a:t>canais</a:t>
            </a:r>
            <a:r>
              <a:rPr lang="en-US" dirty="0"/>
              <a:t>, </a:t>
            </a:r>
            <a:r>
              <a:rPr lang="en-US" dirty="0" err="1"/>
              <a:t>feito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convoluções</a:t>
            </a:r>
            <a:r>
              <a:rPr lang="en-US" dirty="0"/>
              <a:t> 1 </a:t>
            </a:r>
            <a:r>
              <a:rPr lang="en-US" dirty="0" err="1"/>
              <a:t>por</a:t>
            </a:r>
            <a:r>
              <a:rPr lang="en-US" dirty="0"/>
              <a:t> 1. Essa </a:t>
            </a:r>
            <a:r>
              <a:rPr lang="en-US" dirty="0" err="1"/>
              <a:t>organização</a:t>
            </a:r>
            <a:r>
              <a:rPr lang="en-US" dirty="0"/>
              <a:t> </a:t>
            </a:r>
            <a:r>
              <a:rPr lang="en-US" dirty="0" err="1"/>
              <a:t>lembra</a:t>
            </a:r>
            <a:r>
              <a:rPr lang="en-US" dirty="0"/>
              <a:t> a </a:t>
            </a:r>
            <a:r>
              <a:rPr lang="en-US" dirty="0" err="1"/>
              <a:t>estrutura</a:t>
            </a:r>
            <a:r>
              <a:rPr lang="en-US" dirty="0"/>
              <a:t> </a:t>
            </a:r>
            <a:r>
              <a:rPr lang="en-US" dirty="0" err="1"/>
              <a:t>MetaFormer</a:t>
            </a:r>
            <a:r>
              <a:rPr lang="en-US" dirty="0"/>
              <a:t> dos </a:t>
            </a:r>
            <a:r>
              <a:rPr lang="en-US" dirty="0" err="1"/>
              <a:t>ViTs</a:t>
            </a:r>
            <a:r>
              <a:rPr lang="en-US" dirty="0"/>
              <a:t> </a:t>
            </a:r>
            <a:r>
              <a:rPr lang="en-US" dirty="0" err="1"/>
              <a:t>leves</a:t>
            </a:r>
            <a:r>
              <a:rPr lang="en-US" dirty="0"/>
              <a:t>, mas o </a:t>
            </a:r>
            <a:r>
              <a:rPr lang="en-US" dirty="0" err="1"/>
              <a:t>RepViT</a:t>
            </a:r>
            <a:r>
              <a:rPr lang="en-US" dirty="0"/>
              <a:t> continua </a:t>
            </a:r>
            <a:r>
              <a:rPr lang="en-US" dirty="0" err="1"/>
              <a:t>sendo</a:t>
            </a:r>
            <a:r>
              <a:rPr lang="en-US" dirty="0"/>
              <a:t> </a:t>
            </a:r>
            <a:r>
              <a:rPr lang="en-US" dirty="0" err="1"/>
              <a:t>totalmente</a:t>
            </a:r>
            <a:r>
              <a:rPr lang="en-US" dirty="0"/>
              <a:t> </a:t>
            </a:r>
            <a:r>
              <a:rPr lang="en-US" dirty="0" err="1"/>
              <a:t>convolucional</a:t>
            </a:r>
            <a:r>
              <a:rPr lang="en-US" dirty="0"/>
              <a:t>.</a:t>
            </a:r>
          </a:p>
          <a:p>
            <a:r>
              <a:rPr lang="en-US" b="1" dirty="0"/>
              <a:t>SE (Squeeze-and-Excitation)</a:t>
            </a:r>
            <a:r>
              <a:rPr lang="en-US" dirty="0"/>
              <a:t> é um </a:t>
            </a:r>
            <a:r>
              <a:rPr lang="en-US" dirty="0" err="1"/>
              <a:t>mecanismo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b="1" dirty="0" err="1"/>
              <a:t>canais</a:t>
            </a:r>
            <a:r>
              <a:rPr lang="en-US" b="1" dirty="0"/>
              <a:t> </a:t>
            </a:r>
            <a:r>
              <a:rPr lang="en-US" b="1" dirty="0" err="1"/>
              <a:t>mais</a:t>
            </a:r>
            <a:r>
              <a:rPr lang="en-US" b="1" dirty="0"/>
              <a:t> </a:t>
            </a:r>
            <a:r>
              <a:rPr lang="en-US" b="1" dirty="0" err="1"/>
              <a:t>importantes</a:t>
            </a:r>
            <a:r>
              <a:rPr lang="en-US" dirty="0"/>
              <a:t> da </a:t>
            </a:r>
            <a:r>
              <a:rPr lang="en-US" dirty="0" err="1"/>
              <a:t>imagem</a:t>
            </a:r>
            <a:r>
              <a:rPr lang="en-US" dirty="0"/>
              <a:t> e </a:t>
            </a:r>
            <a:r>
              <a:rPr lang="en-US" dirty="0" err="1"/>
              <a:t>dá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atenção</a:t>
            </a:r>
            <a:r>
              <a:rPr lang="en-US" dirty="0"/>
              <a:t> a </a:t>
            </a:r>
            <a:r>
              <a:rPr lang="en-US" dirty="0" err="1"/>
              <a:t>eles</a:t>
            </a:r>
            <a:r>
              <a:rPr lang="en-US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b="1" dirty="0"/>
              <a:t>Token Mixer:</a:t>
            </a:r>
            <a:r>
              <a:rPr lang="en-US" dirty="0"/>
              <a:t> </a:t>
            </a:r>
            <a:r>
              <a:rPr lang="en-US" dirty="0" err="1"/>
              <a:t>mistura</a:t>
            </a:r>
            <a:r>
              <a:rPr lang="en-US" dirty="0"/>
              <a:t> as </a:t>
            </a:r>
            <a:r>
              <a:rPr lang="en-US" dirty="0" err="1"/>
              <a:t>informações</a:t>
            </a:r>
            <a:r>
              <a:rPr lang="en-US" dirty="0"/>
              <a:t> das </a:t>
            </a:r>
            <a:r>
              <a:rPr lang="en-US" dirty="0" err="1"/>
              <a:t>regiões</a:t>
            </a:r>
            <a:r>
              <a:rPr lang="en-US" dirty="0"/>
              <a:t> </a:t>
            </a:r>
            <a:r>
              <a:rPr lang="en-US" dirty="0" err="1"/>
              <a:t>próximas</a:t>
            </a:r>
            <a:r>
              <a:rPr lang="en-US" dirty="0"/>
              <a:t> da </a:t>
            </a:r>
            <a:r>
              <a:rPr lang="en-US" dirty="0" err="1"/>
              <a:t>imagem</a:t>
            </a:r>
            <a:r>
              <a:rPr lang="en-US" dirty="0"/>
              <a:t>. 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/>
              <a:t>Channel Mixer:</a:t>
            </a:r>
            <a:r>
              <a:rPr lang="en-US" dirty="0"/>
              <a:t> </a:t>
            </a:r>
            <a:r>
              <a:rPr lang="en-US" dirty="0" err="1"/>
              <a:t>combina</a:t>
            </a:r>
            <a:r>
              <a:rPr lang="en-US" dirty="0"/>
              <a:t> as </a:t>
            </a:r>
            <a:r>
              <a:rPr lang="en-US" dirty="0" err="1"/>
              <a:t>características</a:t>
            </a:r>
            <a:r>
              <a:rPr lang="en-US" dirty="0"/>
              <a:t> </a:t>
            </a:r>
            <a:r>
              <a:rPr lang="en-US" dirty="0" err="1"/>
              <a:t>encontradas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formas, cores e </a:t>
            </a:r>
            <a:r>
              <a:rPr lang="en-US" dirty="0" err="1"/>
              <a:t>texturas</a:t>
            </a:r>
            <a:r>
              <a:rPr lang="en-US" dirty="0"/>
              <a:t>. 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 err="1"/>
              <a:t>Estrutura</a:t>
            </a:r>
            <a:r>
              <a:rPr lang="en-US" b="1" dirty="0"/>
              <a:t> </a:t>
            </a:r>
            <a:r>
              <a:rPr lang="en-US" b="1" dirty="0" err="1"/>
              <a:t>MetaFormer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mantém</a:t>
            </a:r>
            <a:r>
              <a:rPr lang="en-US" dirty="0"/>
              <a:t> </a:t>
            </a:r>
            <a:r>
              <a:rPr lang="en-US" dirty="0" err="1"/>
              <a:t>essas</a:t>
            </a:r>
            <a:r>
              <a:rPr lang="en-US" dirty="0"/>
              <a:t> duas </a:t>
            </a:r>
            <a:r>
              <a:rPr lang="en-US" dirty="0" err="1"/>
              <a:t>etapas</a:t>
            </a:r>
            <a:r>
              <a:rPr lang="en-US" dirty="0"/>
              <a:t> </a:t>
            </a:r>
            <a:r>
              <a:rPr lang="en-US" dirty="0" err="1"/>
              <a:t>separadas</a:t>
            </a:r>
            <a:r>
              <a:rPr lang="en-US" dirty="0"/>
              <a:t> e </a:t>
            </a:r>
            <a:r>
              <a:rPr lang="en-US" dirty="0" err="1"/>
              <a:t>organiza</a:t>
            </a:r>
            <a:r>
              <a:rPr lang="en-US" dirty="0"/>
              <a:t> o </a:t>
            </a:r>
            <a:r>
              <a:rPr lang="en-US" dirty="0" err="1"/>
              <a:t>processamento</a:t>
            </a:r>
            <a:r>
              <a:rPr lang="en-US" dirty="0"/>
              <a:t> da </a:t>
            </a:r>
            <a:r>
              <a:rPr lang="en-US" dirty="0" err="1"/>
              <a:t>imagem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Outra decisão importante é a reparametrização estrutural. Durante o treinamento, o bloco possui múltiplos ramos, o que facilita a aprendizagem. Antes da inferência, esses ramos são combinados em uma única convolução equivalente, evitando custo extra no dispositivo. Além disso, o expansion ratio do channel mixer é reduzido para 2. Com a economia de computação, os autores aumentam a largura da rede para 48, 96, 192 e 384 canais. Esse conjunto de mudanças leva o modelo a 73,5% de acurácia com 0,89 milissegundo.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Depois</a:t>
            </a:r>
            <a:r>
              <a:rPr lang="en-US" dirty="0"/>
              <a:t> do </a:t>
            </a:r>
            <a:r>
              <a:rPr lang="en-US" dirty="0" err="1"/>
              <a:t>bloco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</a:t>
            </a:r>
            <a:r>
              <a:rPr lang="en-US" dirty="0" err="1"/>
              <a:t>trabalham</a:t>
            </a:r>
            <a:r>
              <a:rPr lang="en-US" dirty="0"/>
              <a:t> no </a:t>
            </a:r>
            <a:r>
              <a:rPr lang="en-US" dirty="0" err="1"/>
              <a:t>macrodesign</a:t>
            </a:r>
            <a:r>
              <a:rPr lang="en-US" dirty="0"/>
              <a:t>. O stem é </a:t>
            </a:r>
            <a:r>
              <a:rPr lang="en-US" dirty="0" err="1"/>
              <a:t>simplificado</a:t>
            </a:r>
            <a:r>
              <a:rPr lang="en-US" dirty="0"/>
              <a:t> para duas </a:t>
            </a:r>
            <a:r>
              <a:rPr lang="en-US" dirty="0" err="1"/>
              <a:t>convoluções</a:t>
            </a:r>
            <a:r>
              <a:rPr lang="en-US" dirty="0"/>
              <a:t> 3 </a:t>
            </a:r>
            <a:r>
              <a:rPr lang="en-US" dirty="0" err="1"/>
              <a:t>por</a:t>
            </a:r>
            <a:r>
              <a:rPr lang="en-US" dirty="0"/>
              <a:t> 3 com stride 2. O </a:t>
            </a:r>
            <a:r>
              <a:rPr lang="en-US" dirty="0" err="1"/>
              <a:t>downsampling</a:t>
            </a:r>
            <a:r>
              <a:rPr lang="en-US" dirty="0"/>
              <a:t> </a:t>
            </a:r>
            <a:r>
              <a:rPr lang="en-US" dirty="0" err="1"/>
              <a:t>passa</a:t>
            </a:r>
            <a:r>
              <a:rPr lang="en-US" dirty="0"/>
              <a:t> a ser </a:t>
            </a:r>
            <a:r>
              <a:rPr lang="en-US" dirty="0" err="1"/>
              <a:t>feito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camada</a:t>
            </a:r>
            <a:r>
              <a:rPr lang="en-US" dirty="0"/>
              <a:t> </a:t>
            </a:r>
            <a:r>
              <a:rPr lang="en-US" dirty="0" err="1"/>
              <a:t>separada</a:t>
            </a:r>
            <a:r>
              <a:rPr lang="en-US" dirty="0"/>
              <a:t> e </a:t>
            </a:r>
            <a:r>
              <a:rPr lang="en-US" dirty="0" err="1"/>
              <a:t>mais</a:t>
            </a:r>
            <a:r>
              <a:rPr lang="en-US" dirty="0"/>
              <a:t> profunda, </a:t>
            </a:r>
            <a:r>
              <a:rPr lang="en-US" dirty="0" err="1"/>
              <a:t>tentando</a:t>
            </a:r>
            <a:r>
              <a:rPr lang="en-US" dirty="0"/>
              <a:t> </a:t>
            </a:r>
            <a:r>
              <a:rPr lang="en-US" dirty="0" err="1"/>
              <a:t>reduzir</a:t>
            </a:r>
            <a:r>
              <a:rPr lang="en-US" dirty="0"/>
              <a:t> a </a:t>
            </a:r>
            <a:r>
              <a:rPr lang="en-US" dirty="0" err="1"/>
              <a:t>perda</a:t>
            </a:r>
            <a:r>
              <a:rPr lang="en-US" dirty="0"/>
              <a:t> de </a:t>
            </a:r>
            <a:r>
              <a:rPr lang="en-US" dirty="0" err="1"/>
              <a:t>informação</a:t>
            </a:r>
            <a:r>
              <a:rPr lang="en-US" dirty="0"/>
              <a:t>. O </a:t>
            </a:r>
            <a:r>
              <a:rPr lang="en-US" dirty="0" err="1"/>
              <a:t>classificador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é </a:t>
            </a:r>
            <a:r>
              <a:rPr lang="en-US" dirty="0" err="1"/>
              <a:t>simplificado</a:t>
            </a:r>
            <a:r>
              <a:rPr lang="en-US" dirty="0"/>
              <a:t> para global average pooling </a:t>
            </a:r>
            <a:r>
              <a:rPr lang="en-US" dirty="0" err="1"/>
              <a:t>seguido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camada</a:t>
            </a:r>
            <a:r>
              <a:rPr lang="en-US" dirty="0"/>
              <a:t> linear. Por </a:t>
            </a:r>
            <a:r>
              <a:rPr lang="en-US" dirty="0" err="1"/>
              <a:t>fim</a:t>
            </a:r>
            <a:r>
              <a:rPr lang="en-US" dirty="0"/>
              <a:t>, a </a:t>
            </a:r>
            <a:r>
              <a:rPr lang="en-US" dirty="0" err="1"/>
              <a:t>distribuição</a:t>
            </a:r>
            <a:r>
              <a:rPr lang="en-US" dirty="0"/>
              <a:t> de </a:t>
            </a:r>
            <a:r>
              <a:rPr lang="en-US" dirty="0" err="1"/>
              <a:t>blocos</a:t>
            </a:r>
            <a:r>
              <a:rPr lang="en-US" dirty="0"/>
              <a:t> é </a:t>
            </a:r>
            <a:r>
              <a:rPr lang="en-US" dirty="0" err="1"/>
              <a:t>alterada</a:t>
            </a:r>
            <a:r>
              <a:rPr lang="en-US" dirty="0"/>
              <a:t> para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proporção</a:t>
            </a:r>
            <a:r>
              <a:rPr lang="en-US" dirty="0"/>
              <a:t> 1 para 1, 7 para 1, </a:t>
            </a:r>
            <a:r>
              <a:rPr lang="en-US" dirty="0" err="1"/>
              <a:t>concentrando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computação</a:t>
            </a:r>
            <a:r>
              <a:rPr lang="en-US" dirty="0"/>
              <a:t> no </a:t>
            </a:r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estágio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Stem </a:t>
            </a:r>
            <a:r>
              <a:rPr lang="en-US" dirty="0" err="1"/>
              <a:t>recebe</a:t>
            </a:r>
            <a:r>
              <a:rPr lang="en-US" dirty="0"/>
              <a:t> a </a:t>
            </a:r>
            <a:r>
              <a:rPr lang="en-US" dirty="0" err="1"/>
              <a:t>imagem</a:t>
            </a:r>
            <a:r>
              <a:rPr lang="en-US" dirty="0"/>
              <a:t>, </a:t>
            </a:r>
            <a:r>
              <a:rPr lang="en-US" dirty="0" err="1"/>
              <a:t>downsampling</a:t>
            </a:r>
            <a:r>
              <a:rPr lang="en-US" dirty="0"/>
              <a:t> </a:t>
            </a:r>
            <a:r>
              <a:rPr lang="en-US" dirty="0" err="1"/>
              <a:t>reduz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tamanho</a:t>
            </a:r>
            <a:r>
              <a:rPr lang="en-US" dirty="0"/>
              <a:t>, stages </a:t>
            </a:r>
            <a:r>
              <a:rPr lang="en-US" dirty="0" err="1"/>
              <a:t>extraem</a:t>
            </a:r>
            <a:r>
              <a:rPr lang="en-US" dirty="0"/>
              <a:t> </a:t>
            </a:r>
            <a:r>
              <a:rPr lang="en-US" dirty="0" err="1"/>
              <a:t>características</a:t>
            </a:r>
            <a:r>
              <a:rPr lang="en-US" dirty="0"/>
              <a:t> e o </a:t>
            </a:r>
            <a:r>
              <a:rPr lang="en-US" dirty="0" err="1"/>
              <a:t>classificador</a:t>
            </a:r>
            <a:r>
              <a:rPr lang="en-US" dirty="0"/>
              <a:t> define a </a:t>
            </a:r>
            <a:r>
              <a:rPr lang="en-US" dirty="0" err="1"/>
              <a:t>categoria</a:t>
            </a:r>
            <a:r>
              <a:rPr lang="en-US" dirty="0"/>
              <a:t> final</a:t>
            </a:r>
            <a:endParaRPr lang="en-US" dirty="0">
              <a:solidFill>
                <a:srgbClr val="44444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microdesign, os autores ajustam detalhes menores, mas importantes para a execução móvel. Eles priorizam kernels 3 por 3 porque esse tipo de convolução é muito bem suportado por compiladores e bibliotecas. Também distribuem as camadas Squeeze-and-Excitation em blocos alternados, em vez de usar SE em todos os blocos. Com isso, a versão final da modernização, o RepViT-M0.9, chega a 77,4% de acurácia em 0,87 milissegundo sem destilação.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Depois de finalizar a arquitetura, os autores criam várias versões do RepViT: M0.9, M1.0, M1.1, M1.5 e M2.3. O número no nome representa aproximadamente a latência do modelo no iPhone 12. Isso permite escolher uma variante de acordo com o orçamento de tempo disponível na aplicação. À medida que a variante cresce, aumentam os canais, o número de blocos, os parâmetros e também a acurácia.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Nos experimentos de classificação no ImageNet-1K, o principal resultado é a relação entre acurácia e latência. O RepViT-M1.0 alcança 80,3% de top-1 com aproximadamente 1 milissegundo no iPhone 12. Já o M2.3 chega a 83,7% com 2,3 milissegundos. Em faixas semelhantes de latência, o RepViT supera CNNs, híbridos e ViTs leves usados na comparação, deslocando a fronteira entre desempenho e velocidade.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parte</a:t>
            </a:r>
            <a:r>
              <a:rPr lang="en-US" dirty="0"/>
              <a:t> dos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anteriores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destilação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treinam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. </a:t>
            </a:r>
            <a:r>
              <a:rPr lang="en-US" dirty="0" err="1"/>
              <a:t>Isso</a:t>
            </a:r>
            <a:r>
              <a:rPr lang="en-US" dirty="0"/>
              <a:t> é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a </a:t>
            </a:r>
            <a:r>
              <a:rPr lang="en-US" dirty="0" err="1"/>
              <a:t>destilação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aumentar</a:t>
            </a:r>
            <a:r>
              <a:rPr lang="en-US" dirty="0"/>
              <a:t> a </a:t>
            </a:r>
            <a:r>
              <a:rPr lang="en-US" dirty="0" err="1"/>
              <a:t>acurácia</a:t>
            </a:r>
            <a:r>
              <a:rPr lang="en-US" dirty="0"/>
              <a:t> e </a:t>
            </a:r>
            <a:r>
              <a:rPr lang="en-US" dirty="0" err="1"/>
              <a:t>esconder</a:t>
            </a:r>
            <a:r>
              <a:rPr lang="en-US" dirty="0"/>
              <a:t> </a:t>
            </a:r>
            <a:r>
              <a:rPr lang="en-US" dirty="0" err="1"/>
              <a:t>quanto</a:t>
            </a:r>
            <a:r>
              <a:rPr lang="en-US" dirty="0"/>
              <a:t> do </a:t>
            </a:r>
            <a:r>
              <a:rPr lang="en-US" dirty="0" err="1"/>
              <a:t>ganho</a:t>
            </a:r>
            <a:r>
              <a:rPr lang="en-US" dirty="0"/>
              <a:t> </a:t>
            </a:r>
            <a:r>
              <a:rPr lang="en-US" dirty="0" err="1"/>
              <a:t>veio</a:t>
            </a:r>
            <a:r>
              <a:rPr lang="en-US" dirty="0"/>
              <a:t> </a:t>
            </a:r>
            <a:r>
              <a:rPr lang="en-US" dirty="0" err="1"/>
              <a:t>realmente</a:t>
            </a:r>
            <a:r>
              <a:rPr lang="en-US" dirty="0"/>
              <a:t> da </a:t>
            </a:r>
            <a:r>
              <a:rPr lang="en-US" dirty="0" err="1"/>
              <a:t>arquitetura</a:t>
            </a:r>
            <a:r>
              <a:rPr lang="en-US" dirty="0"/>
              <a:t>.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professor, o M0.9 </a:t>
            </a:r>
            <a:r>
              <a:rPr lang="en-US" dirty="0" err="1"/>
              <a:t>chega</a:t>
            </a:r>
            <a:r>
              <a:rPr lang="en-US" dirty="0"/>
              <a:t> a 77,4%, o M1.0 a 78,6% e o M2.3 a 82,5%. </a:t>
            </a:r>
            <a:r>
              <a:rPr lang="en-US" dirty="0" err="1"/>
              <a:t>Portanto</a:t>
            </a:r>
            <a:r>
              <a:rPr lang="en-US" dirty="0"/>
              <a:t>, o </a:t>
            </a:r>
            <a:r>
              <a:rPr lang="en-US" dirty="0" err="1"/>
              <a:t>desempenho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do RegNetY-16GF.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b="1" dirty="0" err="1"/>
              <a:t>Destilação</a:t>
            </a:r>
            <a:r>
              <a:rPr lang="en-US" dirty="0"/>
              <a:t>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um </a:t>
            </a:r>
            <a:r>
              <a:rPr lang="en-US" dirty="0" err="1"/>
              <a:t>modelo</a:t>
            </a:r>
            <a:r>
              <a:rPr lang="en-US" dirty="0"/>
              <a:t> de IA </a:t>
            </a:r>
            <a:r>
              <a:rPr lang="en-US" dirty="0" err="1"/>
              <a:t>maior</a:t>
            </a:r>
            <a:r>
              <a:rPr lang="en-US" dirty="0"/>
              <a:t> e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preciso</a:t>
            </a:r>
            <a:r>
              <a:rPr lang="en-US" dirty="0"/>
              <a:t>, </a:t>
            </a:r>
            <a:r>
              <a:rPr lang="en-US" dirty="0" err="1"/>
              <a:t>chamado</a:t>
            </a:r>
            <a:r>
              <a:rPr lang="en-US" dirty="0"/>
              <a:t> </a:t>
            </a:r>
            <a:r>
              <a:rPr lang="en-US" b="1" dirty="0"/>
              <a:t>professor</a:t>
            </a:r>
            <a:r>
              <a:rPr lang="en-US" dirty="0"/>
              <a:t>, </a:t>
            </a:r>
            <a:r>
              <a:rPr lang="en-US" dirty="0" err="1"/>
              <a:t>ensina</a:t>
            </a:r>
            <a:r>
              <a:rPr lang="en-US" dirty="0"/>
              <a:t> um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menor</a:t>
            </a:r>
            <a:r>
              <a:rPr lang="en-US" dirty="0"/>
              <a:t>, </a:t>
            </a:r>
            <a:r>
              <a:rPr lang="en-US" dirty="0" err="1"/>
              <a:t>chamado</a:t>
            </a:r>
            <a:r>
              <a:rPr lang="en-US" dirty="0"/>
              <a:t> </a:t>
            </a:r>
            <a:r>
              <a:rPr lang="en-US" b="1" dirty="0" err="1"/>
              <a:t>aluno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substituem</a:t>
            </a:r>
            <a:r>
              <a:rPr lang="en-US" dirty="0"/>
              <a:t> o encoder </a:t>
            </a:r>
            <a:r>
              <a:rPr lang="en-US" dirty="0" err="1"/>
              <a:t>pesado</a:t>
            </a:r>
            <a:r>
              <a:rPr lang="en-US" dirty="0"/>
              <a:t> do Segment Anything Model </a:t>
            </a:r>
            <a:r>
              <a:rPr lang="en-US" dirty="0" err="1"/>
              <a:t>pelo</a:t>
            </a:r>
            <a:r>
              <a:rPr lang="en-US" dirty="0"/>
              <a:t> RepViT-M2.3, </a:t>
            </a:r>
            <a:r>
              <a:rPr lang="en-US" dirty="0" err="1"/>
              <a:t>criando</a:t>
            </a:r>
            <a:r>
              <a:rPr lang="en-US" dirty="0"/>
              <a:t> o </a:t>
            </a:r>
            <a:r>
              <a:rPr lang="en-US" dirty="0" err="1"/>
              <a:t>RepViT</a:t>
            </a:r>
            <a:r>
              <a:rPr lang="en-US" dirty="0"/>
              <a:t>-SAM. No iPhone 12, o </a:t>
            </a:r>
            <a:r>
              <a:rPr lang="en-US" dirty="0" err="1"/>
              <a:t>RepViT</a:t>
            </a:r>
            <a:r>
              <a:rPr lang="en-US" dirty="0"/>
              <a:t>-SAM </a:t>
            </a:r>
            <a:r>
              <a:rPr lang="en-US" dirty="0" err="1"/>
              <a:t>consegue</a:t>
            </a:r>
            <a:r>
              <a:rPr lang="en-US" dirty="0"/>
              <a:t> </a:t>
            </a:r>
            <a:r>
              <a:rPr lang="en-US" dirty="0" err="1"/>
              <a:t>executar</a:t>
            </a:r>
            <a:r>
              <a:rPr lang="en-US" dirty="0"/>
              <a:t> a 1024 </a:t>
            </a:r>
            <a:r>
              <a:rPr lang="en-US" dirty="0" err="1"/>
              <a:t>por</a:t>
            </a:r>
            <a:r>
              <a:rPr lang="en-US" dirty="0"/>
              <a:t> 1024, </a:t>
            </a:r>
            <a:r>
              <a:rPr lang="en-US" dirty="0" err="1"/>
              <a:t>enquanto</a:t>
            </a:r>
            <a:r>
              <a:rPr lang="en-US" dirty="0"/>
              <a:t> </a:t>
            </a:r>
            <a:r>
              <a:rPr lang="en-US" dirty="0" err="1"/>
              <a:t>MobileSAM</a:t>
            </a:r>
            <a:r>
              <a:rPr lang="en-US" dirty="0"/>
              <a:t> e </a:t>
            </a:r>
            <a:r>
              <a:rPr lang="en-US" dirty="0" err="1"/>
              <a:t>ViT</a:t>
            </a:r>
            <a:r>
              <a:rPr lang="en-US" dirty="0"/>
              <a:t>-B-SAM </a:t>
            </a:r>
            <a:r>
              <a:rPr lang="en-US" dirty="0" err="1"/>
              <a:t>ficam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memória</a:t>
            </a:r>
            <a:r>
              <a:rPr lang="en-US" dirty="0"/>
              <a:t>. No MacBook M1 Pro, o encoder do </a:t>
            </a:r>
            <a:r>
              <a:rPr lang="en-US" dirty="0" err="1"/>
              <a:t>RepViT</a:t>
            </a:r>
            <a:r>
              <a:rPr lang="en-US" dirty="0"/>
              <a:t>-SAM leva 44,8 </a:t>
            </a:r>
            <a:r>
              <a:rPr lang="en-US" dirty="0" err="1"/>
              <a:t>milissegundos</a:t>
            </a:r>
            <a:r>
              <a:rPr lang="en-US" dirty="0"/>
              <a:t> contra 482,2 do </a:t>
            </a:r>
            <a:r>
              <a:rPr lang="en-US" dirty="0" err="1"/>
              <a:t>MobileSAM</a:t>
            </a:r>
            <a:r>
              <a:rPr lang="en-US" dirty="0"/>
              <a:t>,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seja</a:t>
            </a:r>
            <a:r>
              <a:rPr lang="en-US" dirty="0"/>
              <a:t>, </a:t>
            </a:r>
            <a:r>
              <a:rPr lang="en-US" dirty="0" err="1"/>
              <a:t>quase</a:t>
            </a:r>
            <a:r>
              <a:rPr lang="en-US" dirty="0"/>
              <a:t> </a:t>
            </a:r>
            <a:r>
              <a:rPr lang="en-US" dirty="0" err="1"/>
              <a:t>dez</a:t>
            </a:r>
            <a:r>
              <a:rPr lang="en-US" dirty="0"/>
              <a:t> </a:t>
            </a:r>
            <a:r>
              <a:rPr lang="en-US" dirty="0" err="1"/>
              <a:t>vezes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rápido</a:t>
            </a:r>
            <a:r>
              <a:rPr lang="en-US" dirty="0"/>
              <a:t>. </a:t>
            </a:r>
            <a:r>
              <a:rPr lang="en-US" dirty="0" err="1"/>
              <a:t>Além</a:t>
            </a:r>
            <a:r>
              <a:rPr lang="en-US" dirty="0"/>
              <a:t> </a:t>
            </a:r>
            <a:r>
              <a:rPr lang="en-US" dirty="0" err="1"/>
              <a:t>disso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zero-shot </a:t>
            </a:r>
            <a:r>
              <a:rPr lang="en-US" dirty="0" err="1"/>
              <a:t>continuam</a:t>
            </a:r>
            <a:r>
              <a:rPr lang="en-US" dirty="0"/>
              <a:t> </a:t>
            </a:r>
            <a:r>
              <a:rPr lang="en-US" dirty="0" err="1"/>
              <a:t>competitivos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OOM (</a:t>
            </a:r>
            <a:r>
              <a:rPr lang="en-US" b="1" i="1" dirty="0"/>
              <a:t>Out of Memory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b="1" dirty="0"/>
              <a:t>memória </a:t>
            </a:r>
            <a:r>
              <a:rPr lang="en-US" b="1" dirty="0" err="1"/>
              <a:t>insuficiente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Para verificar se a arquitetura generaliza, o RepViT é usado como backbone em outras tarefas. No COCO, ele é integrado ao Mask R-CNN para detecção e segmentação de instâncias. No ADE20K, é usado no Semantic FPN para segmentação semântica. O M2.3, por exemplo, alcança 46,1 de mIoU com 9,9 milissegundos, enquanto o EfficientFormerV2-L obtém 45,2 com 18,2 milissegundos. Isso reforça a vantagem do RepViT em tarefas de maior resolução.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fazem</a:t>
            </a:r>
            <a:r>
              <a:rPr lang="en-US" dirty="0"/>
              <a:t> </a:t>
            </a:r>
            <a:r>
              <a:rPr lang="en-US" dirty="0" err="1"/>
              <a:t>estudos</a:t>
            </a:r>
            <a:r>
              <a:rPr lang="en-US" dirty="0"/>
              <a:t> de </a:t>
            </a:r>
            <a:r>
              <a:rPr lang="en-US" dirty="0" err="1"/>
              <a:t>ablação</a:t>
            </a:r>
            <a:r>
              <a:rPr lang="en-US" dirty="0"/>
              <a:t> para </a:t>
            </a:r>
            <a:r>
              <a:rPr lang="en-US" dirty="0" err="1"/>
              <a:t>verificar</a:t>
            </a:r>
            <a:r>
              <a:rPr lang="en-US" dirty="0"/>
              <a:t> se as </a:t>
            </a:r>
            <a:r>
              <a:rPr lang="en-US" dirty="0" err="1"/>
              <a:t>decisões</a:t>
            </a:r>
            <a:r>
              <a:rPr lang="en-US" dirty="0"/>
              <a:t> </a:t>
            </a:r>
            <a:r>
              <a:rPr lang="en-US" dirty="0" err="1"/>
              <a:t>realmente</a:t>
            </a:r>
            <a:r>
              <a:rPr lang="en-US" dirty="0"/>
              <a:t> </a:t>
            </a:r>
            <a:r>
              <a:rPr lang="en-US" dirty="0" err="1"/>
              <a:t>ajudam</a:t>
            </a:r>
            <a:r>
              <a:rPr lang="en-US" dirty="0"/>
              <a:t>. Quando a </a:t>
            </a:r>
            <a:r>
              <a:rPr lang="en-US" dirty="0" err="1"/>
              <a:t>reparametrização</a:t>
            </a:r>
            <a:r>
              <a:rPr lang="en-US" dirty="0"/>
              <a:t> </a:t>
            </a:r>
            <a:r>
              <a:rPr lang="en-US" dirty="0" err="1"/>
              <a:t>estrutural</a:t>
            </a:r>
            <a:r>
              <a:rPr lang="en-US" dirty="0"/>
              <a:t> é </a:t>
            </a:r>
            <a:r>
              <a:rPr lang="en-US" dirty="0" err="1"/>
              <a:t>removida</a:t>
            </a:r>
            <a:r>
              <a:rPr lang="en-US" dirty="0"/>
              <a:t>, a </a:t>
            </a:r>
            <a:r>
              <a:rPr lang="en-US" dirty="0" err="1"/>
              <a:t>acurácia</a:t>
            </a:r>
            <a:r>
              <a:rPr lang="en-US" dirty="0"/>
              <a:t> </a:t>
            </a:r>
            <a:r>
              <a:rPr lang="en-US" dirty="0" err="1"/>
              <a:t>cai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variantes</a:t>
            </a:r>
            <a:r>
              <a:rPr lang="en-US" dirty="0"/>
              <a:t>. No </a:t>
            </a:r>
            <a:r>
              <a:rPr lang="en-US" dirty="0" err="1"/>
              <a:t>caso</a:t>
            </a:r>
            <a:r>
              <a:rPr lang="en-US" dirty="0"/>
              <a:t> das </a:t>
            </a:r>
            <a:r>
              <a:rPr lang="en-US" dirty="0" err="1"/>
              <a:t>camadas</a:t>
            </a:r>
            <a:r>
              <a:rPr lang="en-US" dirty="0"/>
              <a:t> SE, usar SE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blocos</a:t>
            </a:r>
            <a:r>
              <a:rPr lang="en-US" dirty="0"/>
              <a:t> </a:t>
            </a:r>
            <a:r>
              <a:rPr lang="en-US" dirty="0" err="1"/>
              <a:t>praticamente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melhora</a:t>
            </a:r>
            <a:r>
              <a:rPr lang="en-US" dirty="0"/>
              <a:t> a </a:t>
            </a:r>
            <a:r>
              <a:rPr lang="en-US" dirty="0" err="1"/>
              <a:t>acurácia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relação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alternado</a:t>
            </a:r>
            <a:r>
              <a:rPr lang="en-US" dirty="0"/>
              <a:t>, mas </a:t>
            </a:r>
            <a:r>
              <a:rPr lang="en-US" dirty="0" err="1"/>
              <a:t>aumenta</a:t>
            </a:r>
            <a:r>
              <a:rPr lang="en-US" dirty="0"/>
              <a:t> a </a:t>
            </a:r>
            <a:r>
              <a:rPr lang="en-US" dirty="0" err="1"/>
              <a:t>latência</a:t>
            </a:r>
            <a:r>
              <a:rPr lang="en-US" dirty="0"/>
              <a:t>. Por </a:t>
            </a:r>
            <a:r>
              <a:rPr lang="en-US" dirty="0" err="1"/>
              <a:t>isso</a:t>
            </a:r>
            <a:r>
              <a:rPr lang="en-US" dirty="0"/>
              <a:t>, a </a:t>
            </a:r>
            <a:r>
              <a:rPr lang="en-US" dirty="0" err="1"/>
              <a:t>configuração</a:t>
            </a:r>
            <a:r>
              <a:rPr lang="en-US" dirty="0"/>
              <a:t> final </a:t>
            </a:r>
            <a:r>
              <a:rPr lang="en-US" dirty="0" err="1"/>
              <a:t>usa</a:t>
            </a:r>
            <a:r>
              <a:rPr lang="en-US" dirty="0"/>
              <a:t> SE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blocos</a:t>
            </a:r>
            <a:r>
              <a:rPr lang="en-US" dirty="0"/>
              <a:t> </a:t>
            </a:r>
            <a:r>
              <a:rPr lang="en-US" dirty="0" err="1"/>
              <a:t>alternados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SR (</a:t>
            </a:r>
            <a:r>
              <a:rPr lang="en-US" b="1" i="1" dirty="0"/>
              <a:t>Structural Re-parameterization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b="1" dirty="0" err="1"/>
              <a:t>reparametrização</a:t>
            </a:r>
            <a:r>
              <a:rPr lang="en-US" b="1" dirty="0"/>
              <a:t> </a:t>
            </a:r>
            <a:r>
              <a:rPr lang="en-US" b="1" dirty="0" err="1"/>
              <a:t>estrutural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Como pontos fortes, eu destacaria a medição de latência em hardware real, a construção incremental da arquitetura, os estudos de ablação e a validação em várias tarefas. Como limitações, a avaliação móvel está concentrada em iPhone 12 e Core ML, então não dá para assumir a mesma latência em Android, GPUs ou NPUs diferentes. O artigo também não aprofunda consumo de energia, memória e comportamento térmico, que são relevantes para uso contínuo em dispositivos móveis.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Para concluir, o RepViT mostra que uma CNN pode incorporar princípios arquiteturais encontrados em Vision Transformers leves e alcançar uma excelente relação entre acurácia e latência. Na minha interpretação, a principal contribuição do trabalho é mostrar que não devemos avaliar um modelo apenas pelo rótulo de CNN ou Transformer: o desenho do bloco, o macrodesign, o microdesign e o comportamento no hardware real têm uma influência muito grande. Portanto, as CNNs ainda têm bastante espaço em aplicações móveis e sistemas de edge computing.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88C1D-71D4-4D4C-A772-B42ABC42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187" y="1828800"/>
            <a:ext cx="9761108" cy="3048001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marL="0">
              <a:buNone/>
              <a:defRPr sz="4400">
                <a:solidFill>
                  <a:srgbClr val="CBCBCB"/>
                </a:solidFill>
              </a:defRPr>
            </a:lvl1pPr>
          </a:lstStyle>
          <a:p>
            <a:pPr>
              <a:buNone/>
            </a:pPr>
            <a:r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E08FAA-05F0-47D6-BB38-C25E5A2AD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447" y="5029200"/>
            <a:ext cx="9751847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Clique para editar o estilo do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0D89FC-04F5-46D9-AC6D-E1F269BD7B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Adicionar um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5028ED-A23B-4C9B-875F-6A3E54DAE4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2894448B-5AE4-4A52-87B1-0ED7AA1BF8E1}" type="datetime1">
              <a:t>31/08/2026</a:t>
            </a:fld>
            <a:endParaRPr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2123344-564D-4DC7-96C5-DB9F9867BE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F36C87F6-986D-49E6-AF40-1B3A1EE8064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278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83ED3C-4C84-40FD-A273-11D083FAC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867" y="1899920"/>
            <a:ext cx="10685668" cy="3048001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REPViT: REVISITANDO CNNs MÓVEIS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DBEA6695-5B3B-499D-82BC-3C232E6628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t>Uma </a:t>
            </a:r>
            <a:r>
              <a:rPr err="1"/>
              <a:t>análise</a:t>
            </a:r>
            <a:r>
              <a:t> do </a:t>
            </a:r>
            <a:r>
              <a:rPr err="1"/>
              <a:t>artigo</a:t>
            </a:r>
            <a:r>
              <a:t> sob a </a:t>
            </a:r>
            <a:r>
              <a:rPr err="1"/>
              <a:t>perspectiva</a:t>
            </a:r>
            <a:r>
              <a:t> dos Vision Transformers</a:t>
            </a:r>
          </a:p>
        </p:txBody>
      </p:sp>
    </p:spTree>
    <p:extLst>
      <p:ext uri="{BB962C8B-B14F-4D97-AF65-F5344CB8AC3E}">
        <p14:creationId xmlns:p14="http://schemas.microsoft.com/office/powerpoint/2010/main" val="288708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1">
            <a:extLst>
              <a:ext uri="{FF2B5EF4-FFF2-40B4-BE49-F238E27FC236}">
                <a16:creationId xmlns:a16="http://schemas.microsoft.com/office/drawing/2014/main" id="{0E4CA51A-4DA3-BB82-163C-34D3D519918B}"/>
              </a:ext>
            </a:extLst>
          </p:cNvPr>
          <p:cNvSpPr/>
          <p:nvPr/>
        </p:nvSpPr>
        <p:spPr>
          <a:xfrm>
            <a:off x="658368" y="4754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427EDCB2-6E2F-B9EE-5172-26EE76E2F2B2}"/>
              </a:ext>
            </a:extLst>
          </p:cNvPr>
          <p:cNvSpPr/>
          <p:nvPr/>
        </p:nvSpPr>
        <p:spPr>
          <a:xfrm>
            <a:off x="786384" y="1435608"/>
            <a:ext cx="402336" cy="402336"/>
          </a:xfrm>
          <a:prstGeom prst="ellipse">
            <a:avLst/>
          </a:prstGeom>
          <a:solidFill>
            <a:srgbClr val="3B73E6"/>
          </a:solidFill>
          <a:ln w="7620">
            <a:solidFill>
              <a:srgbClr val="7BA5FF"/>
            </a:solidFill>
            <a:prstDash val="solid"/>
          </a:ln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01A6DAAE-3F05-6AF4-A61C-0C3ECBD7E939}"/>
              </a:ext>
            </a:extLst>
          </p:cNvPr>
          <p:cNvSpPr/>
          <p:nvPr/>
        </p:nvSpPr>
        <p:spPr>
          <a:xfrm>
            <a:off x="786384" y="153619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3A738744-58BC-F281-F256-2DD2A1E7A6E4}"/>
              </a:ext>
            </a:extLst>
          </p:cNvPr>
          <p:cNvSpPr/>
          <p:nvPr/>
        </p:nvSpPr>
        <p:spPr>
          <a:xfrm>
            <a:off x="1353312" y="141732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 e questão de pesquisa</a:t>
            </a:r>
            <a:endParaRPr lang="en-US" sz="180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30F97A9C-377C-BDAA-210F-1B4304FF2B60}"/>
              </a:ext>
            </a:extLst>
          </p:cNvPr>
          <p:cNvSpPr/>
          <p:nvPr/>
        </p:nvSpPr>
        <p:spPr>
          <a:xfrm>
            <a:off x="987552" y="1856232"/>
            <a:ext cx="0" cy="411480"/>
          </a:xfrm>
          <a:prstGeom prst="line">
            <a:avLst/>
          </a:prstGeom>
          <a:noFill/>
          <a:ln w="12700">
            <a:solidFill>
              <a:srgbClr val="5F79B5"/>
            </a:solidFill>
            <a:prstDash val="solid"/>
          </a:ln>
        </p:spPr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67C24571-D7F1-9D17-965D-BFF2EBA16F3B}"/>
              </a:ext>
            </a:extLst>
          </p:cNvPr>
          <p:cNvSpPr/>
          <p:nvPr/>
        </p:nvSpPr>
        <p:spPr>
          <a:xfrm>
            <a:off x="786384" y="2276856"/>
            <a:ext cx="402336" cy="402336"/>
          </a:xfrm>
          <a:prstGeom prst="ellipse">
            <a:avLst/>
          </a:prstGeom>
          <a:solidFill>
            <a:srgbClr val="163576">
              <a:alpha val="88000"/>
            </a:srgbClr>
          </a:solidFill>
          <a:ln w="7620">
            <a:solidFill>
              <a:srgbClr val="7BA5FF"/>
            </a:solidFill>
            <a:prstDash val="solid"/>
          </a:ln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50DD096-3920-E599-BF8D-95386736B899}"/>
              </a:ext>
            </a:extLst>
          </p:cNvPr>
          <p:cNvSpPr/>
          <p:nvPr/>
        </p:nvSpPr>
        <p:spPr>
          <a:xfrm>
            <a:off x="786384" y="23774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1D2D41E-A051-F9A0-C61E-77DD44DC7465}"/>
              </a:ext>
            </a:extLst>
          </p:cNvPr>
          <p:cNvSpPr/>
          <p:nvPr/>
        </p:nvSpPr>
        <p:spPr>
          <a:xfrm>
            <a:off x="1353312" y="22585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incremental do RepViT</a:t>
            </a:r>
            <a:endParaRPr lang="en-US" sz="180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8645B5BE-BF3E-6346-B9A8-99FDBA43C791}"/>
              </a:ext>
            </a:extLst>
          </p:cNvPr>
          <p:cNvSpPr/>
          <p:nvPr/>
        </p:nvSpPr>
        <p:spPr>
          <a:xfrm>
            <a:off x="987552" y="2697480"/>
            <a:ext cx="0" cy="411480"/>
          </a:xfrm>
          <a:prstGeom prst="line">
            <a:avLst/>
          </a:prstGeom>
          <a:noFill/>
          <a:ln w="12700">
            <a:solidFill>
              <a:srgbClr val="5F79B5"/>
            </a:solidFill>
            <a:prstDash val="solid"/>
          </a:ln>
        </p:spPr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B14C7135-6647-ADF6-563D-EB2BFED065EB}"/>
              </a:ext>
            </a:extLst>
          </p:cNvPr>
          <p:cNvSpPr/>
          <p:nvPr/>
        </p:nvSpPr>
        <p:spPr>
          <a:xfrm>
            <a:off x="786384" y="3118104"/>
            <a:ext cx="402336" cy="402336"/>
          </a:xfrm>
          <a:prstGeom prst="ellipse">
            <a:avLst/>
          </a:prstGeom>
          <a:solidFill>
            <a:srgbClr val="163576">
              <a:alpha val="88000"/>
            </a:srgbClr>
          </a:solidFill>
          <a:ln w="7620">
            <a:solidFill>
              <a:srgbClr val="7BA5FF"/>
            </a:solidFill>
            <a:prstDash val="solid"/>
          </a:ln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542E0F28-7A15-46F4-8320-5E31A02224DE}"/>
              </a:ext>
            </a:extLst>
          </p:cNvPr>
          <p:cNvSpPr/>
          <p:nvPr/>
        </p:nvSpPr>
        <p:spPr>
          <a:xfrm>
            <a:off x="786384" y="32186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79A8B04A-DA4C-2B12-7CEE-E238F7337AA4}"/>
              </a:ext>
            </a:extLst>
          </p:cNvPr>
          <p:cNvSpPr/>
          <p:nvPr/>
        </p:nvSpPr>
        <p:spPr>
          <a:xfrm>
            <a:off x="1353312" y="309981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experimental</a:t>
            </a:r>
            <a:endParaRPr lang="en-US" sz="180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894E640A-1ACA-C89C-99D9-8169FB297A77}"/>
              </a:ext>
            </a:extLst>
          </p:cNvPr>
          <p:cNvSpPr/>
          <p:nvPr/>
        </p:nvSpPr>
        <p:spPr>
          <a:xfrm>
            <a:off x="987552" y="3538728"/>
            <a:ext cx="0" cy="411480"/>
          </a:xfrm>
          <a:prstGeom prst="line">
            <a:avLst/>
          </a:prstGeom>
          <a:noFill/>
          <a:ln w="12700">
            <a:solidFill>
              <a:srgbClr val="5F79B5"/>
            </a:solidFill>
            <a:prstDash val="solid"/>
          </a:ln>
        </p:spPr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8BA3A066-5F65-1730-523E-C01BCF8FFF57}"/>
              </a:ext>
            </a:extLst>
          </p:cNvPr>
          <p:cNvSpPr/>
          <p:nvPr/>
        </p:nvSpPr>
        <p:spPr>
          <a:xfrm>
            <a:off x="786384" y="3959352"/>
            <a:ext cx="402336" cy="402336"/>
          </a:xfrm>
          <a:prstGeom prst="ellipse">
            <a:avLst/>
          </a:prstGeom>
          <a:solidFill>
            <a:srgbClr val="163576">
              <a:alpha val="88000"/>
            </a:srgbClr>
          </a:solidFill>
          <a:ln w="7620">
            <a:solidFill>
              <a:srgbClr val="7BA5FF"/>
            </a:solidFill>
            <a:prstDash val="solid"/>
          </a:ln>
        </p:spPr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B48D325B-643C-9E7F-A23B-3EBF503BB7D7}"/>
              </a:ext>
            </a:extLst>
          </p:cNvPr>
          <p:cNvSpPr/>
          <p:nvPr/>
        </p:nvSpPr>
        <p:spPr>
          <a:xfrm>
            <a:off x="786384" y="405993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76F11928-79AF-D29C-0A8E-D8CA82A382D8}"/>
              </a:ext>
            </a:extLst>
          </p:cNvPr>
          <p:cNvSpPr/>
          <p:nvPr/>
        </p:nvSpPr>
        <p:spPr>
          <a:xfrm>
            <a:off x="1353312" y="3941064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em tarefas de visão</a:t>
            </a:r>
            <a:endParaRPr lang="en-US" sz="180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FA806D16-1D05-EF93-CEA2-80125F48AD04}"/>
              </a:ext>
            </a:extLst>
          </p:cNvPr>
          <p:cNvSpPr/>
          <p:nvPr/>
        </p:nvSpPr>
        <p:spPr>
          <a:xfrm>
            <a:off x="987552" y="4379976"/>
            <a:ext cx="0" cy="411480"/>
          </a:xfrm>
          <a:prstGeom prst="line">
            <a:avLst/>
          </a:prstGeom>
          <a:noFill/>
          <a:ln w="12700">
            <a:solidFill>
              <a:srgbClr val="5F79B5"/>
            </a:solidFill>
            <a:prstDash val="solid"/>
          </a:ln>
        </p:spPr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21162930-5783-5AE7-87D7-A502EA150E57}"/>
              </a:ext>
            </a:extLst>
          </p:cNvPr>
          <p:cNvSpPr/>
          <p:nvPr/>
        </p:nvSpPr>
        <p:spPr>
          <a:xfrm>
            <a:off x="786384" y="4800600"/>
            <a:ext cx="402336" cy="402336"/>
          </a:xfrm>
          <a:prstGeom prst="ellipse">
            <a:avLst/>
          </a:prstGeom>
          <a:solidFill>
            <a:srgbClr val="163576">
              <a:alpha val="88000"/>
            </a:srgbClr>
          </a:solidFill>
          <a:ln w="7620">
            <a:solidFill>
              <a:srgbClr val="7BA5FF"/>
            </a:solidFill>
            <a:prstDash val="solid"/>
          </a:ln>
        </p:spPr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230FD0FE-F3A5-D712-5122-59ABF5A478ED}"/>
              </a:ext>
            </a:extLst>
          </p:cNvPr>
          <p:cNvSpPr/>
          <p:nvPr/>
        </p:nvSpPr>
        <p:spPr>
          <a:xfrm>
            <a:off x="786384" y="49011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1B1AD6BB-1C36-A8D5-8111-10270D0BE7A1}"/>
              </a:ext>
            </a:extLst>
          </p:cNvPr>
          <p:cNvSpPr/>
          <p:nvPr/>
        </p:nvSpPr>
        <p:spPr>
          <a:xfrm>
            <a:off x="1353312" y="478231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fortes, limitações e conclusão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5856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MODELOS MÓVEIS IMPORTAM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658368" y="118872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188720"/>
            <a:ext cx="73152" cy="1097280"/>
          </a:xfrm>
          <a:prstGeom prst="rect">
            <a:avLst/>
          </a:prstGeom>
          <a:solidFill>
            <a:srgbClr val="1648A6"/>
          </a:solidFill>
          <a:ln w="12700">
            <a:solidFill>
              <a:srgbClr val="164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53312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868680" y="1635633"/>
            <a:ext cx="2940558" cy="5215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Celulares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,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veículos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e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sistemas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embarcados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exigem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respostas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rápidas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com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memória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e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energia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limitadas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2487168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2F6FF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487168"/>
            <a:ext cx="73152" cy="1097280"/>
          </a:xfrm>
          <a:prstGeom prst="rect">
            <a:avLst/>
          </a:prstGeom>
          <a:solidFill>
            <a:srgbClr val="2D63C8"/>
          </a:solidFill>
          <a:ln w="12700">
            <a:solidFill>
              <a:srgbClr val="2D6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51760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6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ViTs LEVES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868680" y="2962656"/>
            <a:ext cx="2807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4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Já</a:t>
            </a:r>
            <a:r>
              <a:rPr lang="en-US" sz="14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 </a:t>
            </a:r>
            <a:r>
              <a:rPr lang="en-US" sz="14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entregavam</a:t>
            </a:r>
            <a:r>
              <a:rPr lang="en-US" sz="14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bons </a:t>
            </a:r>
            <a:r>
              <a:rPr lang="en-US" sz="14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resultados</a:t>
            </a:r>
            <a:r>
              <a:rPr lang="en-US" sz="14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de </a:t>
            </a:r>
            <a:r>
              <a:rPr lang="en-US" sz="14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acurácia</a:t>
            </a:r>
            <a:r>
              <a:rPr lang="en-US" sz="14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e </a:t>
            </a:r>
            <a:r>
              <a:rPr lang="en-US" sz="14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latência</a:t>
            </a:r>
            <a:r>
              <a:rPr lang="en-US" sz="14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em</a:t>
            </a:r>
            <a:r>
              <a:rPr lang="en-US" sz="14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dispositivos</a:t>
            </a:r>
            <a:r>
              <a:rPr lang="en-US" sz="14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móveis</a:t>
            </a:r>
            <a:r>
              <a:rPr lang="en-US" sz="14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3785616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EAF6F0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785616"/>
            <a:ext cx="73152" cy="1097280"/>
          </a:xfrm>
          <a:prstGeom prst="rect">
            <a:avLst/>
          </a:prstGeom>
          <a:solidFill>
            <a:srgbClr val="2B7A55"/>
          </a:solidFill>
          <a:ln w="12700">
            <a:solidFill>
              <a:srgbClr val="2B7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0208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VANTAGEM DAS CNNs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868680" y="4261104"/>
            <a:ext cx="2807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Convoluções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possuem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excelente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suporte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em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bibliotecas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e hardware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móvel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15384" y="1115568"/>
            <a:ext cx="4974336" cy="4626864"/>
          </a:xfrm>
          <a:prstGeom prst="roundRect">
            <a:avLst>
              <a:gd name="adj" fmla="val 791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pic>
        <p:nvPicPr>
          <p:cNvPr id="18" name="Image 0" descr="/mnt/data/pptx_unzip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52144"/>
            <a:ext cx="4901184" cy="455371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464040" y="1188720"/>
            <a:ext cx="1965960" cy="4526280"/>
          </a:xfrm>
          <a:prstGeom prst="roundRect">
            <a:avLst>
              <a:gd name="adj" fmla="val 2791"/>
            </a:avLst>
          </a:prstGeom>
          <a:solidFill>
            <a:srgbClr val="0A1F55"/>
          </a:solidFill>
          <a:ln w="12700">
            <a:solidFill>
              <a:srgbClr val="0A1F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0" y="15087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E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9646920" y="2148840"/>
            <a:ext cx="16002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</a:t>
            </a: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</a:t>
            </a:r>
            <a:endParaRPr lang="en-US" sz="2400"/>
          </a:p>
        </p:txBody>
      </p:sp>
      <p:sp>
        <p:nvSpPr>
          <p:cNvPr id="22" name="Text 19"/>
          <p:cNvSpPr/>
          <p:nvPr/>
        </p:nvSpPr>
        <p:spPr>
          <a:xfrm>
            <a:off x="9710928" y="464515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D8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hardware real</a:t>
            </a:r>
            <a:endParaRPr lang="en-US" sz="1100"/>
          </a:p>
        </p:txBody>
      </p:sp>
      <p:sp>
        <p:nvSpPr>
          <p:cNvPr id="23" name="Text 20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Wang et al. (2024) — RepViT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QUESTÃO CENTRAL DO ARTIGO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713232" y="1207008"/>
            <a:ext cx="10588752" cy="1298448"/>
          </a:xfrm>
          <a:prstGeom prst="roundRect">
            <a:avLst>
              <a:gd name="adj" fmla="val 4225"/>
            </a:avLst>
          </a:prstGeom>
          <a:solidFill>
            <a:srgbClr val="EEF4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554480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“Princípios arquiteturais dos ViTs leves podem melhorar uma CNN leve pura?”</a:t>
            </a:r>
            <a:endParaRPr lang="en-US" sz="2300"/>
          </a:p>
        </p:txBody>
      </p:sp>
      <p:sp>
        <p:nvSpPr>
          <p:cNvPr id="7" name="Shape 5"/>
          <p:cNvSpPr/>
          <p:nvPr/>
        </p:nvSpPr>
        <p:spPr>
          <a:xfrm>
            <a:off x="804672" y="2834640"/>
            <a:ext cx="2999232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8E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305409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LEVES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005840" y="3456432"/>
            <a:ext cx="2596896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convolucionais bem otimizadas</a:t>
            </a:r>
            <a:endParaRPr lang="en-US" sz="1350"/>
          </a:p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complexidade espacial</a:t>
            </a:r>
            <a:endParaRPr lang="en-US" sz="1350"/>
          </a:p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invertido tradicional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4270248" y="2834640"/>
            <a:ext cx="2999232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8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305409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ViTs LEVES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471416" y="3456432"/>
            <a:ext cx="2596896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MetaFormer recorrente</a:t>
            </a:r>
            <a:endParaRPr lang="en-US" sz="1350"/>
          </a:p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Separação token/channel mixer</a:t>
            </a:r>
            <a:endParaRPr lang="en-US" sz="1350"/>
          </a:p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e microdesign mais recentes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7735824" y="2834640"/>
            <a:ext cx="2999232" cy="2212848"/>
          </a:xfrm>
          <a:prstGeom prst="roundRect">
            <a:avLst>
              <a:gd name="adj" fmla="val 2479"/>
            </a:avLst>
          </a:prstGeom>
          <a:solidFill>
            <a:srgbClr val="F2F6FF"/>
          </a:solidFill>
          <a:ln w="12700">
            <a:solidFill>
              <a:srgbClr val="AFC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0416" y="305409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7936992" y="3456432"/>
            <a:ext cx="2596896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ganho não vem só da atenção</a:t>
            </a:r>
            <a:endParaRPr lang="en-US" sz="1350"/>
          </a:p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do desempenho vem do arranjo arquitetural</a:t>
            </a:r>
            <a:endParaRPr lang="en-US" sz="1350"/>
          </a:p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esse desenho em uma CNN pura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1024128" y="541324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foco do trabalho é comparar arquitetura, e não apenas “CNN vs Transformer”.</a:t>
            </a:r>
            <a:endParaRPr lang="en-US" sz="1700"/>
          </a:p>
        </p:txBody>
      </p:sp>
      <p:sp>
        <p:nvSpPr>
          <p:cNvPr id="17" name="Text 15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Wang et al. (2024) — RepViT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 REAL, NÃO APENAS FLOPs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749808" y="1261872"/>
            <a:ext cx="3794760" cy="4553712"/>
          </a:xfrm>
          <a:prstGeom prst="roundRect">
            <a:avLst>
              <a:gd name="adj" fmla="val 1687"/>
            </a:avLst>
          </a:prstGeom>
          <a:solidFill>
            <a:srgbClr val="0A1F55"/>
          </a:solidFill>
          <a:ln w="12700">
            <a:solidFill>
              <a:srgbClr val="0A1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62763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FLOPs ≠ LATÊNCIA REAL</a:t>
            </a:r>
            <a:endParaRPr lang="en-US" sz="2100"/>
          </a:p>
        </p:txBody>
      </p:sp>
      <p:sp>
        <p:nvSpPr>
          <p:cNvPr id="7" name="Text 5"/>
          <p:cNvSpPr/>
          <p:nvPr/>
        </p:nvSpPr>
        <p:spPr>
          <a:xfrm>
            <a:off x="1078992" y="2331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modelos com custo teórico parecido podem ter tempos muito diferentes no dispositivo.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1225296" y="3584448"/>
            <a:ext cx="2834640" cy="0"/>
          </a:xfrm>
          <a:prstGeom prst="line">
            <a:avLst/>
          </a:prstGeom>
          <a:noFill/>
          <a:ln w="12700">
            <a:solidFill>
              <a:srgbClr val="5D79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3895344"/>
            <a:ext cx="30358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principal do artigo: tempo medido no hardware.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4983480" y="1353312"/>
            <a:ext cx="188366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93208" y="146304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12</a:t>
            </a:r>
            <a:endParaRPr lang="en-US" sz="2300"/>
          </a:p>
        </p:txBody>
      </p:sp>
      <p:sp>
        <p:nvSpPr>
          <p:cNvPr id="12" name="Text 10"/>
          <p:cNvSpPr/>
          <p:nvPr/>
        </p:nvSpPr>
        <p:spPr>
          <a:xfrm>
            <a:off x="5093208" y="19202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 de teste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093208" y="223113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16 + Core ML Tools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7114032" y="1353312"/>
            <a:ext cx="188366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146304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2D6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1</a:t>
            </a:r>
            <a:endParaRPr lang="en-US" sz="2300"/>
          </a:p>
        </p:txBody>
      </p:sp>
      <p:sp>
        <p:nvSpPr>
          <p:cNvPr id="16" name="Text 14"/>
          <p:cNvSpPr/>
          <p:nvPr/>
        </p:nvSpPr>
        <p:spPr>
          <a:xfrm>
            <a:off x="7223760" y="19202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Inferência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7223760" y="223113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por imagem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9244584" y="1353312"/>
            <a:ext cx="188366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54312" y="146304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</a:t>
            </a:r>
            <a:endParaRPr lang="en-US" sz="2300"/>
          </a:p>
        </p:txBody>
      </p:sp>
      <p:sp>
        <p:nvSpPr>
          <p:cNvPr id="20" name="Text 18"/>
          <p:cNvSpPr/>
          <p:nvPr/>
        </p:nvSpPr>
        <p:spPr>
          <a:xfrm>
            <a:off x="9354312" y="19202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ImageNet-1K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9354312" y="223113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e teste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983480" y="2999232"/>
            <a:ext cx="2852928" cy="1243584"/>
          </a:xfrm>
          <a:prstGeom prst="roundRect">
            <a:avLst>
              <a:gd name="adj" fmla="val 5882"/>
            </a:avLst>
          </a:prstGeom>
          <a:solidFill>
            <a:srgbClr val="F7F9FD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83480" y="2999232"/>
            <a:ext cx="73152" cy="1243584"/>
          </a:xfrm>
          <a:prstGeom prst="rect">
            <a:avLst/>
          </a:prstGeom>
          <a:solidFill>
            <a:srgbClr val="1648A6"/>
          </a:solidFill>
          <a:ln w="12700">
            <a:solidFill>
              <a:srgbClr val="164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316382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5193792" y="3474720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300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ou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450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épocas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seguindo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a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receita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dos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ViTs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leves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AdamW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, cosine schedule e data augmentation.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01584" y="2999232"/>
            <a:ext cx="3026664" cy="1243584"/>
          </a:xfrm>
          <a:prstGeom prst="roundRect">
            <a:avLst>
              <a:gd name="adj" fmla="val 5882"/>
            </a:avLst>
          </a:prstGeom>
          <a:solidFill>
            <a:srgbClr val="EAF6F0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01584" y="2999232"/>
            <a:ext cx="73152" cy="1243584"/>
          </a:xfrm>
          <a:prstGeom prst="rect">
            <a:avLst/>
          </a:prstGeom>
          <a:solidFill>
            <a:srgbClr val="2B7A55"/>
          </a:solidFill>
          <a:ln w="12700">
            <a:solidFill>
              <a:srgbClr val="2B7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3163824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8301736" y="3423920"/>
            <a:ext cx="2679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MobileNetV3-L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mede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1,01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ms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 antes das </a:t>
            </a:r>
            <a:r>
              <a:rPr lang="en-US" sz="1300" err="1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modernizações</a:t>
            </a:r>
            <a:r>
              <a:rPr lang="en-US" sz="1300">
                <a:solidFill>
                  <a:srgbClr val="252B36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983480" y="4572000"/>
            <a:ext cx="6144768" cy="1243584"/>
          </a:xfrm>
          <a:prstGeom prst="roundRect">
            <a:avLst>
              <a:gd name="adj" fmla="val 5882"/>
            </a:avLst>
          </a:prstGeom>
          <a:solidFill>
            <a:srgbClr val="F3F7FF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4572000"/>
            <a:ext cx="73152" cy="1243584"/>
          </a:xfrm>
          <a:prstGeom prst="rect">
            <a:avLst/>
          </a:prstGeom>
          <a:solidFill>
            <a:srgbClr val="2D63C8"/>
          </a:solidFill>
          <a:ln w="12700">
            <a:solidFill>
              <a:srgbClr val="2D63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4736592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6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IMPORTA?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5193792" y="5047488"/>
            <a:ext cx="5797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objetivo é otimizar a arquitetura para o comportamento que realmente aparece no dispositivo — não só para uma métrica teórica.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Wang et al. (2024) — RepViT</a:t>
            </a:r>
            <a:endParaRPr lang="en-US" sz="75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REPViT FOI CONSTRUÍDO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49808" y="1060704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partida: MobileNetV3-L  →  modernização incremental  →  RepViT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841248" y="1664208"/>
            <a:ext cx="3154680" cy="100584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20240"/>
            <a:ext cx="420624" cy="420624"/>
          </a:xfrm>
          <a:prstGeom prst="ellipse">
            <a:avLst/>
          </a:prstGeom>
          <a:solidFill>
            <a:srgbClr val="1648A6"/>
          </a:solidFill>
          <a:ln w="12700">
            <a:solidFill>
              <a:srgbClr val="164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20824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591056" y="18105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DESIGN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591056" y="21122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mixer espacial e de canais</a:t>
            </a:r>
            <a:endParaRPr lang="en-US" sz="1220"/>
          </a:p>
        </p:txBody>
      </p:sp>
      <p:sp>
        <p:nvSpPr>
          <p:cNvPr id="11" name="Shape 9"/>
          <p:cNvSpPr/>
          <p:nvPr/>
        </p:nvSpPr>
        <p:spPr>
          <a:xfrm>
            <a:off x="4114800" y="1984248"/>
            <a:ext cx="301752" cy="301752"/>
          </a:xfrm>
          <a:prstGeom prst="chevron">
            <a:avLst/>
          </a:prstGeom>
          <a:solidFill>
            <a:srgbClr val="A7B8DA"/>
          </a:solidFill>
          <a:ln w="12700">
            <a:solidFill>
              <a:srgbClr val="A7B8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664208"/>
            <a:ext cx="31546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1920240"/>
            <a:ext cx="420624" cy="420624"/>
          </a:xfrm>
          <a:prstGeom prst="ellipse">
            <a:avLst/>
          </a:prstGeom>
          <a:solidFill>
            <a:srgbClr val="1648A6"/>
          </a:solidFill>
          <a:ln w="12700">
            <a:solidFill>
              <a:srgbClr val="164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020824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5321808" y="18105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DESIGN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321808" y="21122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Stem, downsampling, classificador e stages</a:t>
            </a:r>
            <a:endParaRPr lang="en-US" sz="1220"/>
          </a:p>
        </p:txBody>
      </p:sp>
      <p:sp>
        <p:nvSpPr>
          <p:cNvPr id="17" name="Shape 15"/>
          <p:cNvSpPr/>
          <p:nvPr/>
        </p:nvSpPr>
        <p:spPr>
          <a:xfrm>
            <a:off x="7845552" y="1984248"/>
            <a:ext cx="301752" cy="301752"/>
          </a:xfrm>
          <a:prstGeom prst="chevron">
            <a:avLst/>
          </a:prstGeom>
          <a:solidFill>
            <a:srgbClr val="A7B8DA"/>
          </a:solidFill>
          <a:ln w="12700">
            <a:solidFill>
              <a:srgbClr val="A7B8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2752" y="1664208"/>
            <a:ext cx="31546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67344" y="1920240"/>
            <a:ext cx="420624" cy="420624"/>
          </a:xfrm>
          <a:prstGeom prst="ellipse">
            <a:avLst/>
          </a:prstGeom>
          <a:solidFill>
            <a:srgbClr val="1648A6"/>
          </a:solidFill>
          <a:ln w="12700">
            <a:solidFill>
              <a:srgbClr val="164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2020824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9052560" y="18105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DESIGN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9052560" y="21122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3×3 e posição das camadas SE</a:t>
            </a:r>
            <a:endParaRPr lang="en-US" sz="1220"/>
          </a:p>
        </p:txBody>
      </p:sp>
      <p:sp>
        <p:nvSpPr>
          <p:cNvPr id="25" name="Text 22"/>
          <p:cNvSpPr/>
          <p:nvPr/>
        </p:nvSpPr>
        <p:spPr>
          <a:xfrm>
            <a:off x="1440688" y="6392672"/>
            <a:ext cx="9098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alteração foi avaliada por acurácia Top-1 e latência medida no dispositivo.</a:t>
            </a:r>
            <a:endParaRPr lang="en-US" sz="1350"/>
          </a:p>
        </p:txBody>
      </p:sp>
      <p:sp>
        <p:nvSpPr>
          <p:cNvPr id="26" name="Text 23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Wang et al. (2024) — RepViT</a:t>
            </a:r>
            <a:endParaRPr lang="en-US" sz="75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C0604A20-7B21-C616-3058-57799C15B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748" y="2807335"/>
            <a:ext cx="4314825" cy="3529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BLOCO REPViT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DESIGN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786384" y="1207008"/>
            <a:ext cx="539496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pic>
        <p:nvPicPr>
          <p:cNvPr id="6" name="Image 0" descr="/mnt/data/pptx_unzip/ppt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43584"/>
            <a:ext cx="5321808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353312"/>
            <a:ext cx="4754880" cy="1133856"/>
          </a:xfrm>
          <a:prstGeom prst="roundRect">
            <a:avLst>
              <a:gd name="adj" fmla="val 6452"/>
            </a:avLst>
          </a:prstGeom>
          <a:solidFill>
            <a:srgbClr val="F2F6FF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0" y="1353312"/>
            <a:ext cx="73152" cy="1133856"/>
          </a:xfrm>
          <a:prstGeom prst="rect">
            <a:avLst/>
          </a:prstGeom>
          <a:solidFill>
            <a:srgbClr val="1648A6"/>
          </a:solidFill>
          <a:ln w="12700">
            <a:solidFill>
              <a:srgbClr val="164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02552" y="15179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MIXER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6702552" y="1828800"/>
            <a:ext cx="4407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Convolução depthwise 3 × 3 mistura informação espacial local.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6492240" y="2724912"/>
            <a:ext cx="4754880" cy="1133856"/>
          </a:xfrm>
          <a:prstGeom prst="roundRect">
            <a:avLst>
              <a:gd name="adj" fmla="val 6452"/>
            </a:avLst>
          </a:prstGeom>
          <a:solidFill>
            <a:srgbClr val="F7F9FD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724912"/>
            <a:ext cx="73152" cy="1133856"/>
          </a:xfrm>
          <a:prstGeom prst="rect">
            <a:avLst/>
          </a:prstGeom>
          <a:solidFill>
            <a:srgbClr val="2D63C8"/>
          </a:solidFill>
          <a:ln w="12700">
            <a:solidFill>
              <a:srgbClr val="2D63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02552" y="28895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6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MIXER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6702552" y="3200400"/>
            <a:ext cx="4407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Convoluções 1 × 1 fazem a mistura entre os canais.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6492240" y="4096512"/>
            <a:ext cx="4754880" cy="1133856"/>
          </a:xfrm>
          <a:prstGeom prst="roundRect">
            <a:avLst>
              <a:gd name="adj" fmla="val 6452"/>
            </a:avLst>
          </a:prstGeom>
          <a:solidFill>
            <a:srgbClr val="EAF6F0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92240" y="4096512"/>
            <a:ext cx="73152" cy="1133856"/>
          </a:xfrm>
          <a:prstGeom prst="rect">
            <a:avLst/>
          </a:prstGeom>
          <a:solidFill>
            <a:srgbClr val="2B7A55"/>
          </a:solidFill>
          <a:ln w="12700">
            <a:solidFill>
              <a:srgbClr val="2B7A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02552" y="42611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METAFormer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6702552" y="4572000"/>
            <a:ext cx="4407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mixers passam a ficar separados, mas o modelo continua 100% convolucional.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6720840" y="54681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permanece associado à informação espacial.</a:t>
            </a:r>
            <a:endParaRPr lang="en-US" sz="1300"/>
          </a:p>
        </p:txBody>
      </p:sp>
      <p:sp>
        <p:nvSpPr>
          <p:cNvPr id="20" name="Text 17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Wang et al. (2024) — RepViT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REPARAMETRIZAÇÃO E EXPANSÃO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DESIGN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Reparametrização estrutural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822960" y="1591056"/>
            <a:ext cx="4572000" cy="3218688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pic>
        <p:nvPicPr>
          <p:cNvPr id="7" name="Image 0" descr="/mnt/data/pptx_unzip/ppt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627632"/>
            <a:ext cx="4498848" cy="3145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5029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932688" y="5321808"/>
            <a:ext cx="1993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ramos facilitam a aprendizagem</a:t>
            </a: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3465576" y="5029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INFERÊNCIA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3127248" y="5321808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ramos são fundidos em uma única convolução equivalente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>
          <a:xfrm>
            <a:off x="5870448" y="1225296"/>
            <a:ext cx="0" cy="4617720"/>
          </a:xfrm>
          <a:prstGeom prst="line">
            <a:avLst/>
          </a:prstGeom>
          <a:noFill/>
          <a:ln w="12700">
            <a:solidFill>
              <a:srgbClr val="D4DC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ratio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6309360" y="1719072"/>
            <a:ext cx="18288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19088" y="182880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→ 2</a:t>
            </a:r>
            <a:endParaRPr lang="en-US" sz="2300"/>
          </a:p>
        </p:txBody>
      </p:sp>
      <p:sp>
        <p:nvSpPr>
          <p:cNvPr id="16" name="Text 13"/>
          <p:cNvSpPr/>
          <p:nvPr/>
        </p:nvSpPr>
        <p:spPr>
          <a:xfrm>
            <a:off x="6419088" y="22860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interna</a:t>
            </a:r>
            <a:endParaRPr lang="en-US" sz="1050"/>
          </a:p>
        </p:txBody>
      </p:sp>
      <p:sp>
        <p:nvSpPr>
          <p:cNvPr id="17" name="Text 14"/>
          <p:cNvSpPr/>
          <p:nvPr/>
        </p:nvSpPr>
        <p:spPr>
          <a:xfrm>
            <a:off x="6419088" y="2596896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custo no channel mixer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8394192" y="1719072"/>
            <a:ext cx="2596896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03799" y="1798012"/>
            <a:ext cx="2754590" cy="4485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2D6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• 96 • 192 • 384</a:t>
            </a:r>
            <a:endParaRPr lang="en-US" sz="2300"/>
          </a:p>
        </p:txBody>
      </p:sp>
      <p:sp>
        <p:nvSpPr>
          <p:cNvPr id="20" name="Text 17"/>
          <p:cNvSpPr/>
          <p:nvPr/>
        </p:nvSpPr>
        <p:spPr>
          <a:xfrm>
            <a:off x="850392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 por estágio</a:t>
            </a:r>
            <a:endParaRPr lang="en-US" sz="1050"/>
          </a:p>
        </p:txBody>
      </p:sp>
      <p:sp>
        <p:nvSpPr>
          <p:cNvPr id="21" name="Text 18"/>
          <p:cNvSpPr/>
          <p:nvPr/>
        </p:nvSpPr>
        <p:spPr>
          <a:xfrm>
            <a:off x="8503920" y="25968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largura aumenta para compensar</a:t>
            </a:r>
            <a:endParaRPr lang="en-US" sz="950"/>
          </a:p>
        </p:txBody>
      </p:sp>
      <p:sp>
        <p:nvSpPr>
          <p:cNvPr id="22" name="Shape 19"/>
          <p:cNvSpPr/>
          <p:nvPr/>
        </p:nvSpPr>
        <p:spPr>
          <a:xfrm>
            <a:off x="6309360" y="3310128"/>
            <a:ext cx="4681728" cy="1444752"/>
          </a:xfrm>
          <a:prstGeom prst="roundRect">
            <a:avLst>
              <a:gd name="adj" fmla="val 5063"/>
            </a:avLst>
          </a:prstGeom>
          <a:solidFill>
            <a:srgbClr val="EAF6F0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3310128"/>
            <a:ext cx="73152" cy="1444752"/>
          </a:xfrm>
          <a:prstGeom prst="rect">
            <a:avLst/>
          </a:prstGeom>
          <a:solidFill>
            <a:srgbClr val="2B7A55"/>
          </a:solidFill>
          <a:ln w="12700">
            <a:solidFill>
              <a:srgbClr val="2B7A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19672" y="347472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APÓS O BLOCK DESIGN</a:t>
            </a:r>
            <a:endParaRPr lang="en-US" sz="1100"/>
          </a:p>
        </p:txBody>
      </p:sp>
      <p:sp>
        <p:nvSpPr>
          <p:cNvPr id="25" name="Text 22"/>
          <p:cNvSpPr/>
          <p:nvPr/>
        </p:nvSpPr>
        <p:spPr>
          <a:xfrm>
            <a:off x="6519672" y="3785616"/>
            <a:ext cx="4334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73,5% Top-1 com 0,89 ms — melhor acurácia que a baseline e latência ainda inferior a 1 ms.</a:t>
            </a:r>
            <a:endParaRPr lang="en-US" sz="1600"/>
          </a:p>
        </p:txBody>
      </p:sp>
      <p:sp>
        <p:nvSpPr>
          <p:cNvPr id="26" name="Text 23"/>
          <p:cNvSpPr/>
          <p:nvPr/>
        </p:nvSpPr>
        <p:spPr>
          <a:xfrm>
            <a:off x="6382512" y="5102352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Ideia: usar o orçamento economizado pelo ratio menor para aumentar a largura da rede.</a:t>
            </a:r>
            <a:endParaRPr lang="en-US" sz="1350"/>
          </a:p>
        </p:txBody>
      </p:sp>
      <p:sp>
        <p:nvSpPr>
          <p:cNvPr id="27" name="Text 24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Wang et al. (2024) — RepViT</a:t>
            </a:r>
            <a:endParaRPr lang="en-US" sz="75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MACRODESIGN FOI SIMPLIFICADO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DESIGN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758952" y="1207008"/>
            <a:ext cx="239572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8074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380744" y="134416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</a:t>
            </a:r>
            <a:endParaRPr lang="en-US" sz="107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1975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convoluções 3×3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stride 2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3538728" y="1207008"/>
            <a:ext cx="239572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38074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160520" y="134416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DOWNSAMPLING</a:t>
            </a:r>
            <a:endParaRPr lang="en-US" sz="1070"/>
          </a:p>
        </p:txBody>
      </p:sp>
      <p:sp>
        <p:nvSpPr>
          <p:cNvPr id="12" name="Text 10"/>
          <p:cNvSpPr/>
          <p:nvPr/>
        </p:nvSpPr>
        <p:spPr>
          <a:xfrm>
            <a:off x="3739896" y="1737360"/>
            <a:ext cx="1975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separada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mais profunda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6318504" y="1207008"/>
            <a:ext cx="239572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38074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6940296" y="134416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CLASSIFICADOR</a:t>
            </a:r>
            <a:endParaRPr lang="en-US" sz="1070"/>
          </a:p>
        </p:txBody>
      </p:sp>
      <p:sp>
        <p:nvSpPr>
          <p:cNvPr id="16" name="Text 14"/>
          <p:cNvSpPr/>
          <p:nvPr/>
        </p:nvSpPr>
        <p:spPr>
          <a:xfrm>
            <a:off x="6519672" y="1737360"/>
            <a:ext cx="1975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pooling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camada linear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9098280" y="1207008"/>
            <a:ext cx="2395728" cy="1280160"/>
          </a:xfrm>
          <a:prstGeom prst="roundRect">
            <a:avLst>
              <a:gd name="adj" fmla="val 3571"/>
            </a:avLst>
          </a:prstGeom>
          <a:solidFill>
            <a:srgbClr val="EEF4FF"/>
          </a:solidFill>
          <a:ln w="12700">
            <a:solidFill>
              <a:srgbClr val="BFD0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38074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9720072" y="134416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RATIO</a:t>
            </a:r>
            <a:endParaRPr lang="en-US" sz="1070"/>
          </a:p>
        </p:txBody>
      </p:sp>
      <p:sp>
        <p:nvSpPr>
          <p:cNvPr id="20" name="Text 18"/>
          <p:cNvSpPr/>
          <p:nvPr/>
        </p:nvSpPr>
        <p:spPr>
          <a:xfrm>
            <a:off x="9299448" y="1737360"/>
            <a:ext cx="1975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1 : 7 : 1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blocos no 3º estágio</a:t>
            </a:r>
            <a:endParaRPr lang="en-US" sz="1250"/>
          </a:p>
        </p:txBody>
      </p:sp>
      <p:sp>
        <p:nvSpPr>
          <p:cNvPr id="23" name="Text 20"/>
          <p:cNvSpPr/>
          <p:nvPr/>
        </p:nvSpPr>
        <p:spPr>
          <a:xfrm>
            <a:off x="1024128" y="596188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macrodesign: reduzir gargalos de latência sem perder capacidade de representação.</a:t>
            </a:r>
            <a:endParaRPr lang="en-US" sz="1420"/>
          </a:p>
        </p:txBody>
      </p:sp>
      <p:sp>
        <p:nvSpPr>
          <p:cNvPr id="24" name="Text 21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Wang et al. (2024) — RepViT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0487BC0-47D5-11F1-72A0-65E719503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720" y="2710324"/>
            <a:ext cx="8473440" cy="31645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MICRO COMPLETAM O MODELO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DESIGN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804672" y="1261872"/>
            <a:ext cx="5074920" cy="1938528"/>
          </a:xfrm>
          <a:prstGeom prst="roundRect">
            <a:avLst>
              <a:gd name="adj" fmla="val 3774"/>
            </a:avLst>
          </a:prstGeom>
          <a:solidFill>
            <a:srgbClr val="F3F7FF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261872"/>
            <a:ext cx="73152" cy="1938528"/>
          </a:xfrm>
          <a:prstGeom prst="rect">
            <a:avLst/>
          </a:prstGeom>
          <a:solidFill>
            <a:srgbClr val="1648A6"/>
          </a:solidFill>
          <a:ln w="12700">
            <a:solidFill>
              <a:srgbClr val="164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426464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3 × 3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1014984" y="1737360"/>
            <a:ext cx="47274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Kernels maiores podem ampliar o campo receptivo, mas aumentam custo computacional e acesso à memória. O artigo prioriza 3 × 3 porque essas convoluções são muito bem otimizadas em compiladores móveis.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181344" y="1261872"/>
            <a:ext cx="5074920" cy="1938528"/>
          </a:xfrm>
          <a:prstGeom prst="roundRect">
            <a:avLst>
              <a:gd name="adj" fmla="val 3774"/>
            </a:avLst>
          </a:prstGeom>
          <a:solidFill>
            <a:srgbClr val="EAF6F0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81344" y="1261872"/>
            <a:ext cx="73152" cy="1938528"/>
          </a:xfrm>
          <a:prstGeom prst="rect">
            <a:avLst/>
          </a:prstGeom>
          <a:solidFill>
            <a:srgbClr val="2B7A55"/>
          </a:solidFill>
          <a:ln w="12700">
            <a:solidFill>
              <a:srgbClr val="2B7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426464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EM BLOCOS ALTERNADOS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6391656" y="1737360"/>
            <a:ext cx="47274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camada Squeeze-and-Excitation é usada no 1º, 3º, 5º... bloco de cada estágio. Assim, mantém ganho de acurácia com menor incremento de latência.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1417320" y="3749040"/>
            <a:ext cx="9281160" cy="1572768"/>
          </a:xfrm>
          <a:prstGeom prst="roundRect">
            <a:avLst>
              <a:gd name="adj" fmla="val 4070"/>
            </a:avLst>
          </a:prstGeom>
          <a:solidFill>
            <a:srgbClr val="0A1F55"/>
          </a:solidFill>
          <a:ln w="12700">
            <a:solidFill>
              <a:srgbClr val="0A1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406908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77,4%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1965960" y="4599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224528" y="4005072"/>
            <a:ext cx="0" cy="896112"/>
          </a:xfrm>
          <a:prstGeom prst="line">
            <a:avLst/>
          </a:prstGeom>
          <a:noFill/>
          <a:ln w="12700">
            <a:solidFill>
              <a:srgbClr val="5271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406908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0,87 ms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4617720" y="45994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 no iPhone 12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7040880" y="4005072"/>
            <a:ext cx="0" cy="896112"/>
          </a:xfrm>
          <a:prstGeom prst="line">
            <a:avLst/>
          </a:prstGeom>
          <a:noFill/>
          <a:ln w="12700">
            <a:solidFill>
              <a:srgbClr val="5271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42062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destilação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7443216" y="46268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B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RepViT-M0.9 final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1463040" y="557784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é o resultado da “modernização” completa do MobileNetV3-L.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Wang et al. (2024) — RepViT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VARIANTES COBREM 0,9 A 2,3 ms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49808" y="107899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sufixo Mx aproxima a latência do modelo no iPhone 12.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1938528" cy="303580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3970">
            <a:solidFill>
              <a:srgbClr val="D8E1EF"/>
            </a:solidFill>
            <a:prstDash val="solid"/>
          </a:ln>
          <a:effectLst>
            <a:outerShdw blurRad="12700" dist="50800" dir="2700000" algn="bl" rotWithShape="0">
              <a:srgbClr val="C8D0D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M0.9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868680" y="26151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 ms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68680" y="29535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1069848" y="3328416"/>
            <a:ext cx="1170432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84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79,1%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868680" y="39227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(450 épocas)</a:t>
            </a:r>
            <a:endParaRPr lang="en-US" sz="920"/>
          </a:p>
        </p:txBody>
      </p:sp>
      <p:sp>
        <p:nvSpPr>
          <p:cNvPr id="13" name="Text 11"/>
          <p:cNvSpPr/>
          <p:nvPr/>
        </p:nvSpPr>
        <p:spPr>
          <a:xfrm>
            <a:off x="868680" y="42885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 M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868680" y="45354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2935224" y="1737360"/>
            <a:ext cx="1938528" cy="3035808"/>
          </a:xfrm>
          <a:prstGeom prst="roundRect">
            <a:avLst>
              <a:gd name="adj" fmla="val 3302"/>
            </a:avLst>
          </a:prstGeom>
          <a:solidFill>
            <a:srgbClr val="EEF4FF"/>
          </a:solidFill>
          <a:ln w="13970">
            <a:solidFill>
              <a:srgbClr val="A9C1EE"/>
            </a:solidFill>
            <a:prstDash val="solid"/>
          </a:ln>
          <a:effectLst>
            <a:outerShdw blurRad="12700" dist="50800" dir="2700000" algn="bl" rotWithShape="0">
              <a:srgbClr val="C8D0DE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18104" y="201168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M1.0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3118104" y="26151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 ms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3118104" y="29535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3319272" y="3328416"/>
            <a:ext cx="1170432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18104" y="3584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80,3%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3118104" y="39227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(450 épocas)</a:t>
            </a:r>
            <a:endParaRPr lang="en-US" sz="920"/>
          </a:p>
        </p:txBody>
      </p:sp>
      <p:sp>
        <p:nvSpPr>
          <p:cNvPr id="22" name="Text 20"/>
          <p:cNvSpPr/>
          <p:nvPr/>
        </p:nvSpPr>
        <p:spPr>
          <a:xfrm>
            <a:off x="3118104" y="42885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 M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3118104" y="45354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5184648" y="1737360"/>
            <a:ext cx="1938528" cy="303580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3970">
            <a:solidFill>
              <a:srgbClr val="D8E1EF"/>
            </a:solidFill>
            <a:prstDash val="solid"/>
          </a:ln>
          <a:effectLst>
            <a:outerShdw blurRad="12700" dist="50800" dir="2700000" algn="bl" rotWithShape="0">
              <a:srgbClr val="C8D0DE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67528" y="201168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M1.1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5367528" y="26151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 ms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5367528" y="29535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5568696" y="3328416"/>
            <a:ext cx="1170432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67528" y="3584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81,2%</a:t>
            </a:r>
            <a:endParaRPr lang="en-US" sz="1800"/>
          </a:p>
        </p:txBody>
      </p:sp>
      <p:sp>
        <p:nvSpPr>
          <p:cNvPr id="30" name="Text 28"/>
          <p:cNvSpPr/>
          <p:nvPr/>
        </p:nvSpPr>
        <p:spPr>
          <a:xfrm>
            <a:off x="5367528" y="39227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(450 épocas)</a:t>
            </a:r>
            <a:endParaRPr lang="en-US" sz="920"/>
          </a:p>
        </p:txBody>
      </p:sp>
      <p:sp>
        <p:nvSpPr>
          <p:cNvPr id="31" name="Text 29"/>
          <p:cNvSpPr/>
          <p:nvPr/>
        </p:nvSpPr>
        <p:spPr>
          <a:xfrm>
            <a:off x="5367528" y="42885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 M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367528" y="45354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7434072" y="1737360"/>
            <a:ext cx="1938528" cy="303580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3970">
            <a:solidFill>
              <a:srgbClr val="D8E1EF"/>
            </a:solidFill>
            <a:prstDash val="solid"/>
          </a:ln>
          <a:effectLst>
            <a:outerShdw blurRad="12700" dist="50800" dir="2700000" algn="bl" rotWithShape="0">
              <a:srgbClr val="C8D0DE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16952" y="201168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M1.5</a:t>
            </a:r>
            <a:endParaRPr lang="en-US" sz="2200"/>
          </a:p>
        </p:txBody>
      </p:sp>
      <p:sp>
        <p:nvSpPr>
          <p:cNvPr id="35" name="Text 33"/>
          <p:cNvSpPr/>
          <p:nvPr/>
        </p:nvSpPr>
        <p:spPr>
          <a:xfrm>
            <a:off x="7616952" y="26151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ms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7616952" y="29535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7818120" y="3328416"/>
            <a:ext cx="1170432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16952" y="3584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82,5%</a:t>
            </a:r>
            <a:endParaRPr lang="en-US" sz="1800"/>
          </a:p>
        </p:txBody>
      </p:sp>
      <p:sp>
        <p:nvSpPr>
          <p:cNvPr id="39" name="Text 37"/>
          <p:cNvSpPr/>
          <p:nvPr/>
        </p:nvSpPr>
        <p:spPr>
          <a:xfrm>
            <a:off x="7616952" y="39227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(450 épocas)</a:t>
            </a:r>
            <a:endParaRPr lang="en-US" sz="920"/>
          </a:p>
        </p:txBody>
      </p:sp>
      <p:sp>
        <p:nvSpPr>
          <p:cNvPr id="40" name="Text 38"/>
          <p:cNvSpPr/>
          <p:nvPr/>
        </p:nvSpPr>
        <p:spPr>
          <a:xfrm>
            <a:off x="7616952" y="42885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 M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7616952" y="45354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9683496" y="1737360"/>
            <a:ext cx="1938528" cy="3035808"/>
          </a:xfrm>
          <a:prstGeom prst="roundRect">
            <a:avLst>
              <a:gd name="adj" fmla="val 3302"/>
            </a:avLst>
          </a:prstGeom>
          <a:solidFill>
            <a:srgbClr val="EEF4FF"/>
          </a:solidFill>
          <a:ln w="13970">
            <a:solidFill>
              <a:srgbClr val="A9C1EE"/>
            </a:solidFill>
            <a:prstDash val="solid"/>
          </a:ln>
          <a:effectLst>
            <a:outerShdw blurRad="12700" dist="50800" dir="2700000" algn="bl" rotWithShape="0">
              <a:srgbClr val="C8D0DE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866376" y="201168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M2.3</a:t>
            </a:r>
            <a:endParaRPr lang="en-US" sz="2200"/>
          </a:p>
        </p:txBody>
      </p:sp>
      <p:sp>
        <p:nvSpPr>
          <p:cNvPr id="44" name="Text 42"/>
          <p:cNvSpPr/>
          <p:nvPr/>
        </p:nvSpPr>
        <p:spPr>
          <a:xfrm>
            <a:off x="9866376" y="26151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 ms</a:t>
            </a:r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9866376" y="29535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10067544" y="3328416"/>
            <a:ext cx="1170432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66376" y="3584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83,7%</a:t>
            </a:r>
            <a:endParaRPr lang="en-US" sz="1800"/>
          </a:p>
        </p:txBody>
      </p:sp>
      <p:sp>
        <p:nvSpPr>
          <p:cNvPr id="48" name="Text 46"/>
          <p:cNvSpPr/>
          <p:nvPr/>
        </p:nvSpPr>
        <p:spPr>
          <a:xfrm>
            <a:off x="9866376" y="39227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(450 épocas)</a:t>
            </a:r>
            <a:endParaRPr lang="en-US" sz="920"/>
          </a:p>
        </p:txBody>
      </p:sp>
      <p:sp>
        <p:nvSpPr>
          <p:cNvPr id="49" name="Text 47"/>
          <p:cNvSpPr/>
          <p:nvPr/>
        </p:nvSpPr>
        <p:spPr>
          <a:xfrm>
            <a:off x="9866376" y="42885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22,9 M</a:t>
            </a:r>
            <a:endParaRPr lang="en-US" sz="1200"/>
          </a:p>
        </p:txBody>
      </p:sp>
      <p:sp>
        <p:nvSpPr>
          <p:cNvPr id="50" name="Text 48"/>
          <p:cNvSpPr/>
          <p:nvPr/>
        </p:nvSpPr>
        <p:spPr>
          <a:xfrm>
            <a:off x="9866376" y="45354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</a:t>
            </a:r>
            <a:endParaRPr lang="en-US" sz="900"/>
          </a:p>
        </p:txBody>
      </p:sp>
      <p:sp>
        <p:nvSpPr>
          <p:cNvPr id="51" name="Text 49"/>
          <p:cNvSpPr/>
          <p:nvPr/>
        </p:nvSpPr>
        <p:spPr>
          <a:xfrm>
            <a:off x="1051560" y="5285232"/>
            <a:ext cx="964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família oferece diferentes pontos no orçamento de latência — de ultra-rápido a maior capacidade.</a:t>
            </a:r>
            <a:endParaRPr lang="en-US" sz="1500"/>
          </a:p>
        </p:txBody>
      </p:sp>
      <p:sp>
        <p:nvSpPr>
          <p:cNvPr id="52" name="Text 50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Tabela 1 do artigo (resultados com destilação, 450 épocas).</a:t>
            </a:r>
            <a:endParaRPr lang="en-US" sz="75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ACURÁCIA POR LATÊNCIA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804672" y="1133856"/>
            <a:ext cx="6519672" cy="4882896"/>
          </a:xfrm>
          <a:prstGeom prst="roundRect">
            <a:avLst>
              <a:gd name="adj" fmla="val 749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pic>
        <p:nvPicPr>
          <p:cNvPr id="6" name="Image 0" descr="/mnt/data/pptx_unzip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170432"/>
            <a:ext cx="6446520" cy="4809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389888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36408" y="1499616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80,3% @ 1,0 ms</a:t>
            </a:r>
            <a:endParaRPr lang="en-US" sz="2300"/>
          </a:p>
        </p:txBody>
      </p:sp>
      <p:sp>
        <p:nvSpPr>
          <p:cNvPr id="9" name="Text 6"/>
          <p:cNvSpPr/>
          <p:nvPr/>
        </p:nvSpPr>
        <p:spPr>
          <a:xfrm>
            <a:off x="7836408" y="1956816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RepViT-M1.0</a:t>
            </a:r>
            <a:endParaRPr lang="en-US" sz="1050"/>
          </a:p>
        </p:txBody>
      </p:sp>
      <p:sp>
        <p:nvSpPr>
          <p:cNvPr id="10" name="Text 7"/>
          <p:cNvSpPr/>
          <p:nvPr/>
        </p:nvSpPr>
        <p:spPr>
          <a:xfrm>
            <a:off x="7836408" y="2267712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lightweight model &gt;80% em ~1 ms, segundo os autores</a:t>
            </a:r>
            <a:endParaRPr lang="en-US" sz="950"/>
          </a:p>
        </p:txBody>
      </p:sp>
      <p:sp>
        <p:nvSpPr>
          <p:cNvPr id="11" name="Shape 8"/>
          <p:cNvSpPr/>
          <p:nvPr/>
        </p:nvSpPr>
        <p:spPr>
          <a:xfrm>
            <a:off x="7726680" y="3127248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36408" y="3236976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83,7% @ 2,3 ms</a:t>
            </a:r>
            <a:endParaRPr lang="en-US" sz="2300"/>
          </a:p>
        </p:txBody>
      </p:sp>
      <p:sp>
        <p:nvSpPr>
          <p:cNvPr id="13" name="Text 10"/>
          <p:cNvSpPr/>
          <p:nvPr/>
        </p:nvSpPr>
        <p:spPr>
          <a:xfrm>
            <a:off x="7836408" y="3694176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RepViT-M2.3</a:t>
            </a:r>
            <a:endParaRPr lang="en-US" sz="1050"/>
          </a:p>
        </p:txBody>
      </p:sp>
      <p:sp>
        <p:nvSpPr>
          <p:cNvPr id="14" name="Text 11"/>
          <p:cNvSpPr/>
          <p:nvPr/>
        </p:nvSpPr>
        <p:spPr>
          <a:xfrm>
            <a:off x="7836408" y="4005072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variante reportada no artigo</a:t>
            </a:r>
            <a:endParaRPr lang="en-US" sz="950"/>
          </a:p>
        </p:txBody>
      </p:sp>
      <p:sp>
        <p:nvSpPr>
          <p:cNvPr id="15" name="Shape 12"/>
          <p:cNvSpPr/>
          <p:nvPr/>
        </p:nvSpPr>
        <p:spPr>
          <a:xfrm>
            <a:off x="7726680" y="4864608"/>
            <a:ext cx="3246120" cy="914400"/>
          </a:xfrm>
          <a:prstGeom prst="roundRect">
            <a:avLst>
              <a:gd name="adj" fmla="val 5000"/>
            </a:avLst>
          </a:prstGeom>
          <a:solidFill>
            <a:srgbClr val="F3F7FF"/>
          </a:solidFill>
          <a:ln w="11430">
            <a:solidFill>
              <a:srgbClr val="C9D8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73568" y="50840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7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RepViT desloca a fronteira acurácia × latência em relação aos modelos comparados.</a:t>
            </a:r>
            <a:endParaRPr lang="en-US" sz="1370"/>
          </a:p>
        </p:txBody>
      </p:sp>
      <p:sp>
        <p:nvSpPr>
          <p:cNvPr id="17" name="Text 14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Wang et al. (2024) — RepViT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GANHOS EXISTEM SEM DESTILAÇÃO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822960" y="1078992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sem o professor RegNetY-16GF, a arquitetura continua competitiva.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30358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189280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77,4%</a:t>
            </a:r>
            <a:endParaRPr lang="en-US" sz="2300"/>
          </a:p>
        </p:txBody>
      </p:sp>
      <p:sp>
        <p:nvSpPr>
          <p:cNvPr id="8" name="Text 6"/>
          <p:cNvSpPr/>
          <p:nvPr/>
        </p:nvSpPr>
        <p:spPr>
          <a:xfrm>
            <a:off x="978408" y="23500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M0.9 • 0,9 ms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978408" y="2660904"/>
            <a:ext cx="2816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épocas, sem destilação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4160520" y="1783080"/>
            <a:ext cx="30358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70248" y="189280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2D6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78,6%</a:t>
            </a:r>
            <a:endParaRPr lang="en-US" sz="2300"/>
          </a:p>
        </p:txBody>
      </p:sp>
      <p:sp>
        <p:nvSpPr>
          <p:cNvPr id="12" name="Text 10"/>
          <p:cNvSpPr/>
          <p:nvPr/>
        </p:nvSpPr>
        <p:spPr>
          <a:xfrm>
            <a:off x="4270248" y="23500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M1.0 • 1,0 ms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270248" y="2660904"/>
            <a:ext cx="2816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épocas, sem destilação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7452360" y="1783080"/>
            <a:ext cx="303580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189280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82,5%</a:t>
            </a:r>
            <a:endParaRPr lang="en-US" sz="2300"/>
          </a:p>
        </p:txBody>
      </p:sp>
      <p:sp>
        <p:nvSpPr>
          <p:cNvPr id="16" name="Text 14"/>
          <p:cNvSpPr/>
          <p:nvPr/>
        </p:nvSpPr>
        <p:spPr>
          <a:xfrm>
            <a:off x="7562088" y="23500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M2.3 • 2,3 ms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7562088" y="2660904"/>
            <a:ext cx="2816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épocas, sem destilação</a:t>
            </a:r>
            <a:endParaRPr lang="en-US" sz="950"/>
          </a:p>
        </p:txBody>
      </p:sp>
      <p:sp>
        <p:nvSpPr>
          <p:cNvPr id="20" name="Text 17"/>
          <p:cNvSpPr/>
          <p:nvPr/>
        </p:nvSpPr>
        <p:spPr>
          <a:xfrm>
            <a:off x="1021080" y="60512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 o ganho não depende apenas da destilação — as decisões arquiteturais sustentam o desempenho.</a:t>
            </a:r>
            <a:endParaRPr lang="en-US" sz="1500"/>
          </a:p>
        </p:txBody>
      </p:sp>
      <p:sp>
        <p:nvSpPr>
          <p:cNvPr id="21" name="Text 18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Tabela 2 do artigo.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0C5D8193-A8EE-63FF-7BCC-FD480D30F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210" y="3301365"/>
            <a:ext cx="3426460" cy="25920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REPViT-SAM ACELERA A SEGMENTAÇÃO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822960" y="1078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do SAM: ViT-B  →  RepViT-M2.3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822960" y="1719072"/>
            <a:ext cx="4892040" cy="1920240"/>
          </a:xfrm>
          <a:prstGeom prst="roundRect">
            <a:avLst>
              <a:gd name="adj" fmla="val 2857"/>
            </a:avLst>
          </a:prstGeom>
          <a:solidFill>
            <a:srgbClr val="F3F7FF"/>
          </a:solidFill>
          <a:ln w="12700">
            <a:solidFill>
              <a:srgbClr val="C8D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12 • 1024×1024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1115568" y="2414016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25296" y="2523744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48,9 ms</a:t>
            </a:r>
            <a:endParaRPr lang="en-US" sz="2300"/>
          </a:p>
        </p:txBody>
      </p:sp>
      <p:sp>
        <p:nvSpPr>
          <p:cNvPr id="10" name="Text 8"/>
          <p:cNvSpPr/>
          <p:nvPr/>
        </p:nvSpPr>
        <p:spPr>
          <a:xfrm>
            <a:off x="1225296" y="2980944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RepViT-SAM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761488" y="2414016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71216" y="252374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A7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</a:t>
            </a:r>
            <a:endParaRPr lang="en-US" sz="2300"/>
          </a:p>
        </p:txBody>
      </p:sp>
      <p:sp>
        <p:nvSpPr>
          <p:cNvPr id="13" name="Text 11"/>
          <p:cNvSpPr/>
          <p:nvPr/>
        </p:nvSpPr>
        <p:spPr>
          <a:xfrm>
            <a:off x="2871216" y="298094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MobileSAM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087368" y="2414016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97096" y="252374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A7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</a:t>
            </a:r>
            <a:endParaRPr lang="en-US" sz="2300"/>
          </a:p>
        </p:txBody>
      </p:sp>
      <p:sp>
        <p:nvSpPr>
          <p:cNvPr id="16" name="Text 14"/>
          <p:cNvSpPr/>
          <p:nvPr/>
        </p:nvSpPr>
        <p:spPr>
          <a:xfrm>
            <a:off x="4197096" y="298094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ViT-B-SAM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053328" y="1719072"/>
            <a:ext cx="4892040" cy="1920240"/>
          </a:xfrm>
          <a:prstGeom prst="roundRect">
            <a:avLst>
              <a:gd name="adj" fmla="val 2857"/>
            </a:avLst>
          </a:prstGeom>
          <a:solidFill>
            <a:srgbClr val="F8FAFD"/>
          </a:solidFill>
          <a:ln w="12700">
            <a:solidFill>
              <a:srgbClr val="D6DF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9659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MacBook M1 Pro • 1024×1024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6355080" y="2414016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64808" y="2523744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44,8 ms</a:t>
            </a:r>
            <a:endParaRPr lang="en-US" sz="2300"/>
          </a:p>
        </p:txBody>
      </p:sp>
      <p:sp>
        <p:nvSpPr>
          <p:cNvPr id="21" name="Text 19"/>
          <p:cNvSpPr/>
          <p:nvPr/>
        </p:nvSpPr>
        <p:spPr>
          <a:xfrm>
            <a:off x="6464808" y="2980944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RepViT-SAM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8001000" y="2414016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10728" y="2523744"/>
            <a:ext cx="1106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482,2</a:t>
            </a:r>
            <a:endParaRPr lang="en-US" sz="2300"/>
          </a:p>
        </p:txBody>
      </p:sp>
      <p:sp>
        <p:nvSpPr>
          <p:cNvPr id="24" name="Text 22"/>
          <p:cNvSpPr/>
          <p:nvPr/>
        </p:nvSpPr>
        <p:spPr>
          <a:xfrm>
            <a:off x="8110728" y="298094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MobileSAM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8110728" y="3291840"/>
            <a:ext cx="1106424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9555480" y="2414016"/>
            <a:ext cx="1143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9E3F3"/>
            </a:solidFill>
            <a:prstDash val="solid"/>
          </a:ln>
          <a:effectLst>
            <a:outerShdw blurRad="16510" dist="50800" dir="2700000" algn="bl" rotWithShape="0">
              <a:srgbClr val="BCC7D8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65208" y="2523744"/>
            <a:ext cx="92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rgbClr val="A7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6249,5</a:t>
            </a:r>
            <a:endParaRPr lang="en-US" sz="2300"/>
          </a:p>
        </p:txBody>
      </p:sp>
      <p:sp>
        <p:nvSpPr>
          <p:cNvPr id="28" name="Text 26"/>
          <p:cNvSpPr/>
          <p:nvPr/>
        </p:nvSpPr>
        <p:spPr>
          <a:xfrm>
            <a:off x="9665208" y="298094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ViT-B-SAM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9665208" y="3291840"/>
            <a:ext cx="923544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1993392" y="4087368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10× mais rápido que o MobileSAM no MacBook M1 Pro</a:t>
            </a:r>
            <a:endParaRPr lang="en-US" sz="1800"/>
          </a:p>
        </p:txBody>
      </p:sp>
      <p:sp>
        <p:nvSpPr>
          <p:cNvPr id="31" name="Shape 29"/>
          <p:cNvSpPr/>
          <p:nvPr/>
        </p:nvSpPr>
        <p:spPr>
          <a:xfrm>
            <a:off x="1463040" y="4773168"/>
            <a:ext cx="9281160" cy="1005840"/>
          </a:xfrm>
          <a:prstGeom prst="roundRect">
            <a:avLst>
              <a:gd name="adj" fmla="val 7273"/>
            </a:avLst>
          </a:prstGeom>
          <a:solidFill>
            <a:srgbClr val="EAF6F0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63040" y="4773168"/>
            <a:ext cx="73152" cy="1005840"/>
          </a:xfrm>
          <a:prstGeom prst="rect">
            <a:avLst/>
          </a:prstGeom>
          <a:solidFill>
            <a:srgbClr val="2B7A55"/>
          </a:solidFill>
          <a:ln w="12700">
            <a:solidFill>
              <a:srgbClr val="2B7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73352" y="4937760"/>
            <a:ext cx="893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CONTINUA COMPETITIVO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1673352" y="5248656"/>
            <a:ext cx="8933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RepViT-SAM supera MobileSAM e ViT-B-SAM nos benchmarks reportados de edge detection, instance segmentation e SegInW.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Tabelas 3 e 4 do artigo. OOM = out of memory.</a:t>
            </a:r>
            <a:endParaRPr lang="en-US" sz="75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REPViT TAMBÉM GENERALIZA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804672" y="1371600"/>
            <a:ext cx="2880360" cy="1874520"/>
          </a:xfrm>
          <a:prstGeom prst="roundRect">
            <a:avLst>
              <a:gd name="adj" fmla="val 2927"/>
            </a:avLst>
          </a:prstGeom>
          <a:solidFill>
            <a:srgbClr val="F7F9FD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609344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080"/>
          </a:p>
        </p:txBody>
      </p:sp>
      <p:sp>
        <p:nvSpPr>
          <p:cNvPr id="7" name="Text 5"/>
          <p:cNvSpPr/>
          <p:nvPr/>
        </p:nvSpPr>
        <p:spPr>
          <a:xfrm>
            <a:off x="969264" y="1947672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R-CNN • COCO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969264" y="2322576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44,6 APbox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969264" y="2715768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 ms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160520" y="1371600"/>
            <a:ext cx="2880360" cy="1874520"/>
          </a:xfrm>
          <a:prstGeom prst="roundRect">
            <a:avLst>
              <a:gd name="adj" fmla="val 2927"/>
            </a:avLst>
          </a:prstGeom>
          <a:solidFill>
            <a:srgbClr val="F7F9FD"/>
          </a:solidFill>
          <a:ln w="12700">
            <a:solidFill>
              <a:srgbClr val="D7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1609344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SEGMENTATION</a:t>
            </a:r>
            <a:endParaRPr lang="en-US" sz="1080"/>
          </a:p>
        </p:txBody>
      </p:sp>
      <p:sp>
        <p:nvSpPr>
          <p:cNvPr id="12" name="Text 10"/>
          <p:cNvSpPr/>
          <p:nvPr/>
        </p:nvSpPr>
        <p:spPr>
          <a:xfrm>
            <a:off x="4325112" y="1947672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R-CNN • COCO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4325112" y="2322576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40,8 APmask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4325112" y="2715768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 ms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7516368" y="1371600"/>
            <a:ext cx="2880360" cy="1874520"/>
          </a:xfrm>
          <a:prstGeom prst="roundRect">
            <a:avLst>
              <a:gd name="adj" fmla="val 2927"/>
            </a:avLst>
          </a:prstGeom>
          <a:solidFill>
            <a:srgbClr val="EEF7F2"/>
          </a:solidFill>
          <a:ln w="12700">
            <a:solidFill>
              <a:srgbClr val="C9E4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609344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SEGMENTATION</a:t>
            </a:r>
            <a:endParaRPr lang="en-US" sz="1080"/>
          </a:p>
        </p:txBody>
      </p:sp>
      <p:sp>
        <p:nvSpPr>
          <p:cNvPr id="17" name="Text 15"/>
          <p:cNvSpPr/>
          <p:nvPr/>
        </p:nvSpPr>
        <p:spPr>
          <a:xfrm>
            <a:off x="7680960" y="1947672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7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FPN • ADE20K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7680960" y="2322576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46,1 mIoU</a:t>
            </a:r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7680960" y="2715768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 ms</a:t>
            </a:r>
            <a:endParaRPr lang="en-US" sz="1150"/>
          </a:p>
        </p:txBody>
      </p:sp>
      <p:sp>
        <p:nvSpPr>
          <p:cNvPr id="22" name="Text 19"/>
          <p:cNvSpPr/>
          <p:nvPr/>
        </p:nvSpPr>
        <p:spPr>
          <a:xfrm>
            <a:off x="1066800" y="60756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em ADE20K, M2.3* chega a 46,1 mIoU em 9,9 ms; EfficientFormerV2-L* fica em 45,2 mIoU e 18,2 ms.</a:t>
            </a:r>
            <a:endParaRPr lang="en-US" sz="1350"/>
          </a:p>
        </p:txBody>
      </p:sp>
      <p:sp>
        <p:nvSpPr>
          <p:cNvPr id="23" name="Text 20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Tabela 5 do artigo. * pré-treino de 450 épocas.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84458E60-C25D-9F86-0AE3-0E58A7978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360" y="3322554"/>
            <a:ext cx="7040880" cy="28240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ABLAÇÕES SUSTENTAM O DESIGN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841248" y="1261872"/>
            <a:ext cx="4956048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pic>
        <p:nvPicPr>
          <p:cNvPr id="6" name="Image 0" descr="/mnt/data/pptx_unzip/ppt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298448"/>
            <a:ext cx="4882896" cy="31729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44768" y="1353312"/>
            <a:ext cx="4754880" cy="1353312"/>
          </a:xfrm>
          <a:prstGeom prst="roundRect">
            <a:avLst>
              <a:gd name="adj" fmla="val 5405"/>
            </a:avLst>
          </a:prstGeom>
          <a:solidFill>
            <a:srgbClr val="F2F6FF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44768" y="1353312"/>
            <a:ext cx="73152" cy="1353312"/>
          </a:xfrm>
          <a:prstGeom prst="rect">
            <a:avLst/>
          </a:prstGeom>
          <a:solidFill>
            <a:srgbClr val="1648A6"/>
          </a:solidFill>
          <a:ln w="12700">
            <a:solidFill>
              <a:srgbClr val="164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5179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REPARAMETRIZAÇÃO ESTRUTURAL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6355080" y="1828800"/>
            <a:ext cx="4407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SR reduz a acurácia em todas as variantes avaliadas. O ganho é pequeno, mas consistente.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6144768" y="2999232"/>
            <a:ext cx="4754880" cy="1353312"/>
          </a:xfrm>
          <a:prstGeom prst="roundRect">
            <a:avLst>
              <a:gd name="adj" fmla="val 5405"/>
            </a:avLst>
          </a:prstGeom>
          <a:solidFill>
            <a:srgbClr val="EAF6F0"/>
          </a:solidFill>
          <a:ln w="10160">
            <a:solidFill>
              <a:srgbClr val="D7E0F0"/>
            </a:solidFill>
            <a:prstDash val="solid"/>
          </a:ln>
          <a:effectLst>
            <a:outerShdw blurRad="19050" dist="50800" dir="2700000" algn="bl" rotWithShape="0">
              <a:srgbClr val="BFC8D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44768" y="2999232"/>
            <a:ext cx="73152" cy="1353312"/>
          </a:xfrm>
          <a:prstGeom prst="rect">
            <a:avLst/>
          </a:prstGeom>
          <a:solidFill>
            <a:srgbClr val="2B7A55"/>
          </a:solidFill>
          <a:ln w="12700">
            <a:solidFill>
              <a:srgbClr val="2B7A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316382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EM TODOS OS BLOCOS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6355080" y="3474720"/>
            <a:ext cx="4407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 praticamente igual, mas com mais latência. O uso alternado mantém o benefício com menor custo.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1097280" y="4846320"/>
            <a:ext cx="9921240" cy="987552"/>
          </a:xfrm>
          <a:prstGeom prst="roundRect">
            <a:avLst>
              <a:gd name="adj" fmla="val 4630"/>
            </a:avLst>
          </a:prstGeom>
          <a:solidFill>
            <a:srgbClr val="F7F9FD"/>
          </a:solidFill>
          <a:ln w="11430">
            <a:solidFill>
              <a:srgbClr val="D8E1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89888" y="512978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da ablação: cada escolha final está ligada a uma evidência experimental — não é apenas uma preferência de design.</a:t>
            </a:r>
            <a:endParaRPr lang="en-US" sz="1500"/>
          </a:p>
        </p:txBody>
      </p:sp>
      <p:sp>
        <p:nvSpPr>
          <p:cNvPr id="17" name="Text 14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Tabelas 6 e 7 do artigo.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A1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 PONTOS FORTES E LIMITAÇÕES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60120" cy="0"/>
          </a:xfrm>
          <a:prstGeom prst="line">
            <a:avLst/>
          </a:prstGeom>
          <a:noFill/>
          <a:ln w="27940">
            <a:solidFill>
              <a:srgbClr val="164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310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60">
                <a:solidFill>
                  <a:srgbClr val="164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5074920" cy="4206240"/>
          </a:xfrm>
          <a:prstGeom prst="roundRect">
            <a:avLst>
              <a:gd name="adj" fmla="val 1304"/>
            </a:avLst>
          </a:prstGeom>
          <a:solidFill>
            <a:srgbClr val="EEF7F2"/>
          </a:solidFill>
          <a:ln w="12700">
            <a:solidFill>
              <a:srgbClr val="C9E4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6093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FORTES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143000" y="2139696"/>
            <a:ext cx="4389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 medida em dispositivo real</a:t>
            </a:r>
            <a:endParaRPr lang="en-US" sz="1550"/>
          </a:p>
          <a:p>
            <a:pPr marL="177800" indent="-177800">
              <a:buSzPct val="100000"/>
              <a:buChar char="•"/>
            </a:pPr>
            <a:r>
              <a:rPr lang="en-US" sz="15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Modernização incremental e fácil de acompanhar</a:t>
            </a:r>
            <a:endParaRPr lang="en-US" sz="1550"/>
          </a:p>
          <a:p>
            <a:pPr marL="177800" indent="-177800">
              <a:buSzPct val="100000"/>
              <a:buChar char="•"/>
            </a:pPr>
            <a:r>
              <a:rPr lang="en-US" sz="15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Ablações sustentam as escolhas de design</a:t>
            </a:r>
            <a:endParaRPr lang="en-US" sz="1550"/>
          </a:p>
          <a:p>
            <a:pPr marL="177800" indent="-177800">
              <a:buSzPct val="100000"/>
              <a:buChar char="•"/>
            </a:pPr>
            <a:r>
              <a:rPr lang="en-US" sz="155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em classificação, detecção e segmentação</a:t>
            </a:r>
            <a:endParaRPr lang="en-US" sz="1550"/>
          </a:p>
        </p:txBody>
      </p:sp>
      <p:sp>
        <p:nvSpPr>
          <p:cNvPr id="8" name="Shape 6"/>
          <p:cNvSpPr/>
          <p:nvPr/>
        </p:nvSpPr>
        <p:spPr>
          <a:xfrm>
            <a:off x="6291072" y="1280160"/>
            <a:ext cx="4709160" cy="4206240"/>
          </a:xfrm>
          <a:prstGeom prst="roundRect">
            <a:avLst>
              <a:gd name="adj" fmla="val 1304"/>
            </a:avLst>
          </a:prstGeom>
          <a:solidFill>
            <a:srgbClr val="FFF8EE"/>
          </a:solidFill>
          <a:ln w="12700">
            <a:solidFill>
              <a:srgbClr val="F1D7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6093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A7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565392" y="2139696"/>
            <a:ext cx="4133088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8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móvel concentrada em iPhone 12 + Core ML</a:t>
            </a:r>
            <a:endParaRPr lang="en-US" sz="1480"/>
          </a:p>
          <a:p>
            <a:pPr marL="177800" indent="-177800">
              <a:buSzPct val="100000"/>
              <a:buChar char="•"/>
            </a:pPr>
            <a:r>
              <a:rPr lang="en-US" sz="148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latência não garantem o mesmo comportamento em Android/NPUs</a:t>
            </a:r>
            <a:endParaRPr lang="en-US" sz="1480"/>
          </a:p>
          <a:p>
            <a:pPr marL="177800" indent="-177800">
              <a:buSzPct val="100000"/>
              <a:buChar char="•"/>
            </a:pPr>
            <a:r>
              <a:rPr lang="en-US" sz="148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Energia, memória e comportamento térmico não são aprofundados</a:t>
            </a:r>
            <a:endParaRPr lang="en-US" sz="1480"/>
          </a:p>
          <a:p>
            <a:pPr marL="177800" indent="-177800">
              <a:buSzPct val="100000"/>
              <a:buChar char="•"/>
            </a:pPr>
            <a:r>
              <a:rPr lang="en-US" sz="1480">
                <a:solidFill>
                  <a:srgbClr val="25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Treinos longos e destilação elevam o custo de desenvolvimento</a:t>
            </a:r>
            <a:endParaRPr lang="en-US" sz="1480"/>
          </a:p>
        </p:txBody>
      </p:sp>
      <p:sp>
        <p:nvSpPr>
          <p:cNvPr id="11" name="Text 9"/>
          <p:cNvSpPr/>
          <p:nvPr/>
        </p:nvSpPr>
        <p:spPr>
          <a:xfrm>
            <a:off x="1243584" y="57607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b="1" err="1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artigo</a:t>
            </a:r>
            <a:r>
              <a:rPr lang="en-US" sz="1500" b="1" dirty="0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b="1" err="1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mostra</a:t>
            </a:r>
            <a:r>
              <a:rPr lang="en-US" sz="1500" b="1" dirty="0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b="1" err="1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que</a:t>
            </a:r>
            <a:r>
              <a:rPr lang="en-US" sz="1500" b="1" dirty="0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b="1" err="1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eficiência</a:t>
            </a:r>
            <a:r>
              <a:rPr lang="en-US" sz="1500" b="1" dirty="0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b="1" err="1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móvel</a:t>
            </a:r>
            <a:r>
              <a:rPr lang="en-US" sz="1500" b="1" dirty="0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b="1" err="1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depende</a:t>
            </a:r>
            <a:r>
              <a:rPr lang="en-US" sz="1500" b="1" dirty="0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 tanto da </a:t>
            </a:r>
            <a:r>
              <a:rPr lang="en-US" sz="1500" b="1" err="1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arquitetura</a:t>
            </a:r>
            <a:r>
              <a:rPr lang="en-US" sz="1500" b="1" dirty="0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b="1" err="1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quanto</a:t>
            </a:r>
            <a:r>
              <a:rPr lang="en-US" sz="1500" b="1" dirty="0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 do </a:t>
            </a:r>
            <a:r>
              <a:rPr lang="en-US" sz="1500" b="1" err="1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suporte</a:t>
            </a:r>
            <a:r>
              <a:rPr lang="en-US" sz="1500" b="1" dirty="0">
                <a:solidFill>
                  <a:srgbClr val="1648A6"/>
                </a:solidFill>
                <a:latin typeface="Arial"/>
                <a:ea typeface="Arial" pitchFamily="34" charset="-122"/>
                <a:cs typeface="Arial"/>
              </a:rPr>
              <a:t> do hardware.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2648" y="63459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Wang et al. (2024) — RepViT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B94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4944" y="1353312"/>
            <a:ext cx="91440" cy="2578608"/>
          </a:xfrm>
          <a:prstGeom prst="rect">
            <a:avLst/>
          </a:prstGeom>
          <a:solidFill>
            <a:srgbClr val="3B73E6"/>
          </a:solidFill>
          <a:ln w="12700">
            <a:solidFill>
              <a:srgbClr val="3B73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52" y="1499616"/>
            <a:ext cx="6583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AINDA TÊM</a:t>
            </a:r>
            <a:endParaRPr lang="en-US" sz="3000"/>
          </a:p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NO EDGE</a:t>
            </a:r>
            <a:endParaRPr lang="en-US" sz="3000"/>
          </a:p>
        </p:txBody>
      </p:sp>
      <p:sp>
        <p:nvSpPr>
          <p:cNvPr id="6" name="Text 3"/>
          <p:cNvSpPr/>
          <p:nvPr/>
        </p:nvSpPr>
        <p:spPr>
          <a:xfrm>
            <a:off x="987552" y="2962656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DC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RepViT mostra que decisões de design e medições no hardware real podem importar mais do que o rótulo “CNN” ou “ViT”.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987552" y="4370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D3B054-1850-AECC-CC92-5A87B591D08E}"/>
              </a:ext>
            </a:extLst>
          </p:cNvPr>
          <p:cNvSpPr txBox="1"/>
          <p:nvPr/>
        </p:nvSpPr>
        <p:spPr>
          <a:xfrm>
            <a:off x="1647151" y="4999182"/>
            <a:ext cx="40947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https://forms.gle/rf5LnufSy3HBUTc66</a:t>
            </a:r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68D9B3-83DD-54BA-0E63-BF730304B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788" y="1431637"/>
            <a:ext cx="3494425" cy="349442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4B1CBC0-A816-50BB-0FA1-845725DBD858}"/>
              </a:ext>
            </a:extLst>
          </p:cNvPr>
          <p:cNvSpPr txBox="1"/>
          <p:nvPr/>
        </p:nvSpPr>
        <p:spPr>
          <a:xfrm>
            <a:off x="7065818" y="4929909"/>
            <a:ext cx="37715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https://github.com/Mestrado-Alvaro-Ribeiro/alvaro-ribeiro-985-tp558/tree/main/seminar2</a:t>
            </a:r>
          </a:p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4A26936-FD56-0AE6-19C6-097F3674C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666" y="1516303"/>
            <a:ext cx="3317395" cy="33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30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18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Office Theme</vt:lpstr>
      <vt:lpstr>REPViT: REVISITANDO CNNs MÓVEIS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Inatel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RepViT: Revisiting Mobile CNN From ViT Perspective</dc:title>
  <dc:subject>RepViT presentation</dc:subject>
  <dc:creator>OpenAI</dc:creator>
  <cp:revision>38</cp:revision>
  <dcterms:created xsi:type="dcterms:W3CDTF">2026-08-31T14:34:41Z</dcterms:created>
  <dcterms:modified xsi:type="dcterms:W3CDTF">2026-09-01T00:06:41Z</dcterms:modified>
</cp:coreProperties>
</file>