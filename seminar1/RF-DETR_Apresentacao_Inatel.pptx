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3FC157-514B-E75F-4815-74631BC11BBF}" v="22" dt="2026-08-17T23:47:18.568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lvaro Lúcio Almeida Ribeiro" userId="S::ribeiro.alvaro@inatel.br::7df6deca-1dfa-4007-b18d-c907498a89f3" providerId="AD" clId="Web-{AF3FC157-514B-E75F-4815-74631BC11BBF}"/>
    <pc:docChg chg="addSld delSld modSld sldOrd">
      <pc:chgData name="Álvaro Lúcio Almeida Ribeiro" userId="S::ribeiro.alvaro@inatel.br::7df6deca-1dfa-4007-b18d-c907498a89f3" providerId="AD" clId="Web-{AF3FC157-514B-E75F-4815-74631BC11BBF}" dt="2026-08-17T23:47:18.568" v="49" actId="1076"/>
      <pc:docMkLst>
        <pc:docMk/>
      </pc:docMkLst>
      <pc:sldChg chg="modSp modNotes">
        <pc:chgData name="Álvaro Lúcio Almeida Ribeiro" userId="S::ribeiro.alvaro@inatel.br::7df6deca-1dfa-4007-b18d-c907498a89f3" providerId="AD" clId="Web-{AF3FC157-514B-E75F-4815-74631BC11BBF}" dt="2026-08-17T23:29:56.650" v="39" actId="20577"/>
        <pc:sldMkLst>
          <pc:docMk/>
          <pc:sldMk cId="2558564212" sldId="257"/>
        </pc:sldMkLst>
        <pc:spChg chg="mod">
          <ac:chgData name="Álvaro Lúcio Almeida Ribeiro" userId="S::ribeiro.alvaro@inatel.br::7df6deca-1dfa-4007-b18d-c907498a89f3" providerId="AD" clId="Web-{AF3FC157-514B-E75F-4815-74631BC11BBF}" dt="2026-08-17T23:29:56.650" v="39" actId="20577"/>
          <ac:spMkLst>
            <pc:docMk/>
            <pc:sldMk cId="2558564212" sldId="257"/>
            <ac:spMk id="4" creationId="{F44A3C4D-4D0A-6BF7-9F5B-EB5375052216}"/>
          </ac:spMkLst>
        </pc:spChg>
      </pc:sldChg>
      <pc:sldChg chg="modNotes">
        <pc:chgData name="Álvaro Lúcio Almeida Ribeiro" userId="S::ribeiro.alvaro@inatel.br::7df6deca-1dfa-4007-b18d-c907498a89f3" providerId="AD" clId="Web-{AF3FC157-514B-E75F-4815-74631BC11BBF}" dt="2026-08-17T22:08:30.800" v="4"/>
        <pc:sldMkLst>
          <pc:docMk/>
          <pc:sldMk cId="1271481010" sldId="258"/>
        </pc:sldMkLst>
      </pc:sldChg>
      <pc:sldChg chg="modNotes">
        <pc:chgData name="Álvaro Lúcio Almeida Ribeiro" userId="S::ribeiro.alvaro@inatel.br::7df6deca-1dfa-4007-b18d-c907498a89f3" providerId="AD" clId="Web-{AF3FC157-514B-E75F-4815-74631BC11BBF}" dt="2026-08-17T22:09:24.552" v="10"/>
        <pc:sldMkLst>
          <pc:docMk/>
          <pc:sldMk cId="2940901777" sldId="259"/>
        </pc:sldMkLst>
      </pc:sldChg>
      <pc:sldChg chg="modNotes">
        <pc:chgData name="Álvaro Lúcio Almeida Ribeiro" userId="S::ribeiro.alvaro@inatel.br::7df6deca-1dfa-4007-b18d-c907498a89f3" providerId="AD" clId="Web-{AF3FC157-514B-E75F-4815-74631BC11BBF}" dt="2026-08-17T23:40:07.004" v="42"/>
        <pc:sldMkLst>
          <pc:docMk/>
          <pc:sldMk cId="3943068733" sldId="261"/>
        </pc:sldMkLst>
      </pc:sldChg>
      <pc:sldChg chg="ord modNotes">
        <pc:chgData name="Álvaro Lúcio Almeida Ribeiro" userId="S::ribeiro.alvaro@inatel.br::7df6deca-1dfa-4007-b18d-c907498a89f3" providerId="AD" clId="Web-{AF3FC157-514B-E75F-4815-74631BC11BBF}" dt="2026-08-17T22:09:40.709" v="14"/>
        <pc:sldMkLst>
          <pc:docMk/>
          <pc:sldMk cId="3943068733" sldId="262"/>
        </pc:sldMkLst>
      </pc:sldChg>
      <pc:sldChg chg="ord">
        <pc:chgData name="Álvaro Lúcio Almeida Ribeiro" userId="S::ribeiro.alvaro@inatel.br::7df6deca-1dfa-4007-b18d-c907498a89f3" providerId="AD" clId="Web-{AF3FC157-514B-E75F-4815-74631BC11BBF}" dt="2026-08-17T22:09:42.599" v="15"/>
        <pc:sldMkLst>
          <pc:docMk/>
          <pc:sldMk cId="1271481010" sldId="263"/>
        </pc:sldMkLst>
      </pc:sldChg>
      <pc:sldChg chg="modNotes">
        <pc:chgData name="Álvaro Lúcio Almeida Ribeiro" userId="S::ribeiro.alvaro@inatel.br::7df6deca-1dfa-4007-b18d-c907498a89f3" providerId="AD" clId="Web-{AF3FC157-514B-E75F-4815-74631BC11BBF}" dt="2026-08-17T22:13:08.669" v="17"/>
        <pc:sldMkLst>
          <pc:docMk/>
          <pc:sldMk cId="3943068733" sldId="265"/>
        </pc:sldMkLst>
      </pc:sldChg>
      <pc:sldChg chg="modNotes">
        <pc:chgData name="Álvaro Lúcio Almeida Ribeiro" userId="S::ribeiro.alvaro@inatel.br::7df6deca-1dfa-4007-b18d-c907498a89f3" providerId="AD" clId="Web-{AF3FC157-514B-E75F-4815-74631BC11BBF}" dt="2026-08-17T22:13:50.936" v="23"/>
        <pc:sldMkLst>
          <pc:docMk/>
          <pc:sldMk cId="2940901777" sldId="266"/>
        </pc:sldMkLst>
      </pc:sldChg>
      <pc:sldChg chg="mod modShow modNotes">
        <pc:chgData name="Álvaro Lúcio Almeida Ribeiro" userId="S::ribeiro.alvaro@inatel.br::7df6deca-1dfa-4007-b18d-c907498a89f3" providerId="AD" clId="Web-{AF3FC157-514B-E75F-4815-74631BC11BBF}" dt="2026-08-17T23:45:30.252" v="46"/>
        <pc:sldMkLst>
          <pc:docMk/>
          <pc:sldMk cId="3943068733" sldId="268"/>
        </pc:sldMkLst>
      </pc:sldChg>
      <pc:sldChg chg="mod modShow">
        <pc:chgData name="Álvaro Lúcio Almeida Ribeiro" userId="S::ribeiro.alvaro@inatel.br::7df6deca-1dfa-4007-b18d-c907498a89f3" providerId="AD" clId="Web-{AF3FC157-514B-E75F-4815-74631BC11BBF}" dt="2026-08-17T23:45:35.549" v="47"/>
        <pc:sldMkLst>
          <pc:docMk/>
          <pc:sldMk cId="1271481010" sldId="269"/>
        </pc:sldMkLst>
      </pc:sldChg>
      <pc:sldChg chg="modNotes">
        <pc:chgData name="Álvaro Lúcio Almeida Ribeiro" userId="S::ribeiro.alvaro@inatel.br::7df6deca-1dfa-4007-b18d-c907498a89f3" providerId="AD" clId="Web-{AF3FC157-514B-E75F-4815-74631BC11BBF}" dt="2026-08-17T22:17:58.913" v="29"/>
        <pc:sldMkLst>
          <pc:docMk/>
          <pc:sldMk cId="2940901777" sldId="270"/>
        </pc:sldMkLst>
      </pc:sldChg>
      <pc:sldChg chg="modNotes">
        <pc:chgData name="Álvaro Lúcio Almeida Ribeiro" userId="S::ribeiro.alvaro@inatel.br::7df6deca-1dfa-4007-b18d-c907498a89f3" providerId="AD" clId="Web-{AF3FC157-514B-E75F-4815-74631BC11BBF}" dt="2026-08-17T23:43:15.934" v="45"/>
        <pc:sldMkLst>
          <pc:docMk/>
          <pc:sldMk cId="3943068733" sldId="271"/>
        </pc:sldMkLst>
      </pc:sldChg>
      <pc:sldChg chg="mod modShow modNotes">
        <pc:chgData name="Álvaro Lúcio Almeida Ribeiro" userId="S::ribeiro.alvaro@inatel.br::7df6deca-1dfa-4007-b18d-c907498a89f3" providerId="AD" clId="Web-{AF3FC157-514B-E75F-4815-74631BC11BBF}" dt="2026-08-17T23:06:13.336" v="35"/>
        <pc:sldMkLst>
          <pc:docMk/>
          <pc:sldMk cId="3943068733" sldId="272"/>
        </pc:sldMkLst>
      </pc:sldChg>
      <pc:sldChg chg="modSp">
        <pc:chgData name="Álvaro Lúcio Almeida Ribeiro" userId="S::ribeiro.alvaro@inatel.br::7df6deca-1dfa-4007-b18d-c907498a89f3" providerId="AD" clId="Web-{AF3FC157-514B-E75F-4815-74631BC11BBF}" dt="2026-08-17T23:47:18.568" v="49" actId="1076"/>
        <pc:sldMkLst>
          <pc:docMk/>
          <pc:sldMk cId="3943068733" sldId="273"/>
        </pc:sldMkLst>
        <pc:spChg chg="mod">
          <ac:chgData name="Álvaro Lúcio Almeida Ribeiro" userId="S::ribeiro.alvaro@inatel.br::7df6deca-1dfa-4007-b18d-c907498a89f3" providerId="AD" clId="Web-{AF3FC157-514B-E75F-4815-74631BC11BBF}" dt="2026-08-17T23:47:13.865" v="48" actId="1076"/>
          <ac:spMkLst>
            <pc:docMk/>
            <pc:sldMk cId="3943068733" sldId="273"/>
            <ac:spMk id="16" creationId="{6E0157E7-2115-43CD-9060-629B9BB2812C}"/>
          </ac:spMkLst>
        </pc:spChg>
        <pc:spChg chg="mod">
          <ac:chgData name="Álvaro Lúcio Almeida Ribeiro" userId="S::ribeiro.alvaro@inatel.br::7df6deca-1dfa-4007-b18d-c907498a89f3" providerId="AD" clId="Web-{AF3FC157-514B-E75F-4815-74631BC11BBF}" dt="2026-08-17T23:47:18.568" v="49" actId="1076"/>
          <ac:spMkLst>
            <pc:docMk/>
            <pc:sldMk cId="3943068733" sldId="273"/>
            <ac:spMk id="21" creationId="{4CBE6D22-3F86-4E07-A8CE-6FA11461C883}"/>
          </ac:spMkLst>
        </pc:spChg>
      </pc:sldChg>
      <pc:sldChg chg="new del">
        <pc:chgData name="Álvaro Lúcio Almeida Ribeiro" userId="S::ribeiro.alvaro@inatel.br::7df6deca-1dfa-4007-b18d-c907498a89f3" providerId="AD" clId="Web-{AF3FC157-514B-E75F-4815-74631BC11BBF}" dt="2026-08-17T22:08:54.113" v="7"/>
        <pc:sldMkLst>
          <pc:docMk/>
          <pc:sldMk cId="180100979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Bom dia. </a:t>
            </a:r>
          </a:p>
          <a:p>
            <a:endParaRPr/>
          </a:p>
          <a:p>
            <a:r>
              <a:t>Nesta apresentação, vou abordar o artigo RF-DETR, que apresenta uma família de modelos baseados em Transformers para detecção e segmentação de objetos em tempo real. O principal objetivo do trabalho é combinar três características importantes: alta precisão, baixa latência e capacidade de generalização para diferentes conjuntos de dados e hardwares. Durante a apresentação, vou explicar o problema abordado, a arquitetura proposta, o treinamento com busca de arquitetura neural e os principais resultados alcançados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dirty="0" err="1"/>
              <a:t>apresentação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organizada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partes. Primeiro, </a:t>
            </a:r>
            <a:r>
              <a:rPr dirty="0" err="1"/>
              <a:t>vou</a:t>
            </a:r>
            <a:r>
              <a:rPr dirty="0"/>
              <a:t> </a:t>
            </a:r>
            <a:r>
              <a:rPr dirty="0" err="1"/>
              <a:t>explicar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 e a </a:t>
            </a:r>
            <a:r>
              <a:rPr dirty="0" err="1"/>
              <a:t>arquitetura</a:t>
            </a:r>
            <a:r>
              <a:rPr dirty="0"/>
              <a:t> do RF-DETR. Em </a:t>
            </a:r>
            <a:r>
              <a:rPr dirty="0" err="1"/>
              <a:t>seguida</a:t>
            </a:r>
            <a:r>
              <a:rPr dirty="0"/>
              <a:t>, </a:t>
            </a:r>
            <a:r>
              <a:rPr dirty="0" err="1"/>
              <a:t>mostrarei</a:t>
            </a:r>
            <a:r>
              <a:rPr dirty="0"/>
              <a:t> a </a:t>
            </a:r>
            <a:r>
              <a:rPr dirty="0" err="1"/>
              <a:t>troca</a:t>
            </a:r>
            <a:r>
              <a:rPr dirty="0"/>
              <a:t> do backbone e a </a:t>
            </a:r>
            <a:r>
              <a:rPr dirty="0" err="1"/>
              <a:t>ablação</a:t>
            </a:r>
            <a:r>
              <a:rPr dirty="0"/>
              <a:t> completa </a:t>
            </a:r>
            <a:r>
              <a:rPr dirty="0" err="1"/>
              <a:t>que</a:t>
            </a:r>
            <a:r>
              <a:rPr dirty="0"/>
              <a:t> leva do LW-DETR </a:t>
            </a:r>
            <a:r>
              <a:rPr dirty="0" err="1"/>
              <a:t>ao</a:t>
            </a:r>
            <a:r>
              <a:rPr dirty="0"/>
              <a:t> RF-DETR. </a:t>
            </a:r>
            <a:r>
              <a:rPr dirty="0" err="1"/>
              <a:t>Depois</a:t>
            </a:r>
            <a:r>
              <a:rPr dirty="0"/>
              <a:t>, </a:t>
            </a:r>
            <a:r>
              <a:rPr dirty="0" err="1"/>
              <a:t>apresentarei</a:t>
            </a:r>
            <a:r>
              <a:rPr dirty="0"/>
              <a:t> a </a:t>
            </a:r>
            <a:r>
              <a:rPr dirty="0" err="1"/>
              <a:t>busca</a:t>
            </a:r>
            <a:r>
              <a:rPr dirty="0"/>
              <a:t> neural, as </a:t>
            </a:r>
            <a:r>
              <a:rPr dirty="0" err="1"/>
              <a:t>configurações</a:t>
            </a:r>
            <a:r>
              <a:rPr dirty="0"/>
              <a:t> </a:t>
            </a:r>
            <a:r>
              <a:rPr dirty="0" err="1"/>
              <a:t>encontradas</a:t>
            </a:r>
            <a:r>
              <a:rPr dirty="0"/>
              <a:t> e o </a:t>
            </a:r>
            <a:r>
              <a:rPr dirty="0" err="1"/>
              <a:t>que</a:t>
            </a:r>
            <a:r>
              <a:rPr dirty="0"/>
              <a:t> a NAS </a:t>
            </a:r>
            <a:r>
              <a:rPr dirty="0" err="1"/>
              <a:t>revelou</a:t>
            </a:r>
            <a:r>
              <a:rPr dirty="0"/>
              <a:t>. Na </a:t>
            </a:r>
            <a:r>
              <a:rPr dirty="0" err="1"/>
              <a:t>quarta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, </a:t>
            </a:r>
            <a:r>
              <a:rPr dirty="0" err="1"/>
              <a:t>detalharei</a:t>
            </a:r>
            <a:r>
              <a:rPr dirty="0"/>
              <a:t> o </a:t>
            </a:r>
            <a:r>
              <a:rPr dirty="0" err="1"/>
              <a:t>treinamento</a:t>
            </a:r>
            <a:r>
              <a:rPr dirty="0"/>
              <a:t>, a </a:t>
            </a:r>
            <a:r>
              <a:rPr dirty="0" err="1"/>
              <a:t>segmentação</a:t>
            </a:r>
            <a:r>
              <a:rPr dirty="0"/>
              <a:t> e as </a:t>
            </a:r>
            <a:r>
              <a:rPr dirty="0" err="1"/>
              <a:t>métricas</a:t>
            </a:r>
            <a:r>
              <a:rPr dirty="0"/>
              <a:t>. Por </a:t>
            </a:r>
            <a:r>
              <a:rPr dirty="0" err="1"/>
              <a:t>fim</a:t>
            </a:r>
            <a:r>
              <a:rPr dirty="0"/>
              <a:t>, </a:t>
            </a:r>
            <a:r>
              <a:rPr dirty="0" err="1"/>
              <a:t>discutirei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, as </a:t>
            </a:r>
            <a:r>
              <a:rPr dirty="0" err="1"/>
              <a:t>limitações</a:t>
            </a:r>
            <a:r>
              <a:rPr dirty="0"/>
              <a:t> e as </a:t>
            </a:r>
            <a:r>
              <a:rPr dirty="0" err="1"/>
              <a:t>conclusões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artigo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dificuldade</a:t>
            </a:r>
            <a:r>
              <a:rPr dirty="0"/>
              <a:t> </a:t>
            </a:r>
            <a:r>
              <a:rPr dirty="0" err="1"/>
              <a:t>comum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detecção</a:t>
            </a:r>
            <a:r>
              <a:rPr dirty="0"/>
              <a:t> de </a:t>
            </a:r>
            <a:r>
              <a:rPr dirty="0" err="1"/>
              <a:t>objetos</a:t>
            </a:r>
            <a:r>
              <a:rPr dirty="0"/>
              <a:t>.</a:t>
            </a:r>
          </a:p>
          <a:p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</a:t>
            </a:r>
            <a:r>
              <a:rPr dirty="0" err="1"/>
              <a:t>vocabulário</a:t>
            </a:r>
            <a:r>
              <a:rPr dirty="0"/>
              <a:t> </a:t>
            </a:r>
            <a:r>
              <a:rPr dirty="0" err="1"/>
              <a:t>aberto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o </a:t>
            </a:r>
            <a:r>
              <a:rPr dirty="0" err="1"/>
              <a:t>GroundingDINO</a:t>
            </a:r>
            <a:r>
              <a:rPr dirty="0"/>
              <a:t>, </a:t>
            </a:r>
            <a:r>
              <a:rPr dirty="0" err="1"/>
              <a:t>utilizam</a:t>
            </a:r>
            <a:r>
              <a:rPr dirty="0"/>
              <a:t> </a:t>
            </a:r>
            <a:r>
              <a:rPr dirty="0" err="1"/>
              <a:t>conhecimento</a:t>
            </a:r>
            <a:r>
              <a:rPr dirty="0"/>
              <a:t> </a:t>
            </a:r>
            <a:r>
              <a:rPr dirty="0" err="1"/>
              <a:t>aprendido</a:t>
            </a:r>
            <a:r>
              <a:rPr dirty="0"/>
              <a:t> com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quantidades</a:t>
            </a:r>
            <a:r>
              <a:rPr dirty="0"/>
              <a:t> de imagens e </a:t>
            </a:r>
            <a:r>
              <a:rPr dirty="0" err="1"/>
              <a:t>textos</a:t>
            </a:r>
            <a:r>
              <a:rPr dirty="0"/>
              <a:t>. Eles </a:t>
            </a:r>
            <a:r>
              <a:rPr dirty="0" err="1"/>
              <a:t>apresentam</a:t>
            </a:r>
            <a:r>
              <a:rPr dirty="0"/>
              <a:t> boa </a:t>
            </a:r>
            <a:r>
              <a:rPr dirty="0" err="1"/>
              <a:t>capacidade</a:t>
            </a:r>
            <a:r>
              <a:rPr dirty="0"/>
              <a:t> de </a:t>
            </a:r>
            <a:r>
              <a:rPr dirty="0" err="1"/>
              <a:t>transferência</a:t>
            </a:r>
            <a:r>
              <a:rPr dirty="0"/>
              <a:t>, mas </a:t>
            </a:r>
            <a:r>
              <a:rPr dirty="0" err="1"/>
              <a:t>normalmente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pesados</a:t>
            </a:r>
            <a:r>
              <a:rPr dirty="0"/>
              <a:t> e lentos.</a:t>
            </a:r>
          </a:p>
          <a:p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detectores</a:t>
            </a:r>
            <a:r>
              <a:rPr dirty="0"/>
              <a:t> </a:t>
            </a:r>
            <a:r>
              <a:rPr dirty="0" err="1"/>
              <a:t>especializados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YOLO, RT-DETR e D-FINE, </a:t>
            </a:r>
            <a:r>
              <a:rPr dirty="0" err="1"/>
              <a:t>conseguem</a:t>
            </a:r>
            <a:r>
              <a:rPr dirty="0"/>
              <a:t> </a:t>
            </a:r>
            <a:r>
              <a:rPr dirty="0" err="1"/>
              <a:t>executar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real. </a:t>
            </a:r>
            <a:r>
              <a:rPr dirty="0" err="1"/>
              <a:t>Entretanto</a:t>
            </a:r>
            <a:r>
              <a:rPr dirty="0"/>
              <a:t>,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ficar</a:t>
            </a:r>
            <a:r>
              <a:rPr dirty="0"/>
              <a:t> </a:t>
            </a:r>
            <a:r>
              <a:rPr dirty="0" err="1"/>
              <a:t>excessivamente</a:t>
            </a:r>
            <a:r>
              <a:rPr dirty="0"/>
              <a:t> </a:t>
            </a:r>
            <a:r>
              <a:rPr dirty="0" err="1"/>
              <a:t>ajustados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COCO e </a:t>
            </a:r>
            <a:r>
              <a:rPr dirty="0" err="1"/>
              <a:t>apresentar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inferiores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conjuntos de dados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.</a:t>
            </a:r>
          </a:p>
          <a:p>
            <a:r>
              <a:rPr dirty="0" err="1"/>
              <a:t>Portanto</a:t>
            </a:r>
            <a:r>
              <a:rPr dirty="0"/>
              <a:t>, o </a:t>
            </a:r>
            <a:r>
              <a:rPr dirty="0" err="1"/>
              <a:t>desafio</a:t>
            </a:r>
            <a:r>
              <a:rPr dirty="0"/>
              <a:t> é </a:t>
            </a:r>
            <a:r>
              <a:rPr dirty="0" err="1"/>
              <a:t>desenvolver</a:t>
            </a:r>
            <a:r>
              <a:rPr dirty="0"/>
              <a:t> um detector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consiga</a:t>
            </a:r>
            <a:r>
              <a:rPr dirty="0"/>
              <a:t> ser </a:t>
            </a:r>
            <a:r>
              <a:rPr dirty="0" err="1"/>
              <a:t>rápido</a:t>
            </a:r>
            <a:r>
              <a:rPr dirty="0"/>
              <a:t>, </a:t>
            </a:r>
            <a:r>
              <a:rPr dirty="0" err="1"/>
              <a:t>preciso</a:t>
            </a:r>
            <a:r>
              <a:rPr dirty="0"/>
              <a:t> e </a:t>
            </a:r>
            <a:r>
              <a:rPr dirty="0" err="1"/>
              <a:t>capaz</a:t>
            </a:r>
            <a:r>
              <a:rPr dirty="0"/>
              <a:t> de </a:t>
            </a:r>
            <a:r>
              <a:rPr dirty="0" err="1"/>
              <a:t>generalizar</a:t>
            </a:r>
            <a:r>
              <a:rPr dirty="0"/>
              <a:t> para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aplicações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Para </a:t>
            </a:r>
            <a:r>
              <a:rPr dirty="0" err="1"/>
              <a:t>enfrentar</a:t>
            </a:r>
            <a:r>
              <a:rPr dirty="0"/>
              <a:t> esse </a:t>
            </a:r>
            <a:r>
              <a:rPr dirty="0" err="1"/>
              <a:t>problema</a:t>
            </a:r>
            <a:r>
              <a:rPr dirty="0"/>
              <a:t>,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apresentam</a:t>
            </a:r>
            <a:r>
              <a:rPr dirty="0"/>
              <a:t> o RF-DETR.</a:t>
            </a:r>
          </a:p>
          <a:p>
            <a:endParaRPr lang="pt-BR" dirty="0"/>
          </a:p>
          <a:p>
            <a:r>
              <a:rPr dirty="0"/>
              <a:t>O </a:t>
            </a:r>
            <a:r>
              <a:rPr dirty="0" err="1"/>
              <a:t>objetivo</a:t>
            </a:r>
            <a:r>
              <a:rPr dirty="0"/>
              <a:t> é </a:t>
            </a:r>
            <a:r>
              <a:rPr dirty="0" err="1"/>
              <a:t>desenvolver</a:t>
            </a:r>
            <a:r>
              <a:rPr dirty="0"/>
              <a:t> um detector </a:t>
            </a:r>
            <a:r>
              <a:rPr dirty="0" err="1"/>
              <a:t>que</a:t>
            </a:r>
            <a:r>
              <a:rPr dirty="0"/>
              <a:t>:</a:t>
            </a:r>
          </a:p>
          <a:p>
            <a:pPr marL="171450" indent="-171450">
              <a:buFont typeface="Arial"/>
              <a:buChar char="•"/>
            </a:pPr>
            <a:r>
              <a:rPr dirty="0"/>
              <a:t>Execute </a:t>
            </a:r>
            <a:r>
              <a:rPr dirty="0" err="1"/>
              <a:t>em</a:t>
            </a:r>
            <a:r>
              <a:rPr dirty="0"/>
              <a:t> tempo real; </a:t>
            </a:r>
          </a:p>
          <a:p>
            <a:pPr marL="171450" indent="-171450">
              <a:buFont typeface="Arial"/>
              <a:buChar char="•"/>
            </a:pP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; </a:t>
            </a:r>
          </a:p>
          <a:p>
            <a:pPr marL="171450" indent="-171450">
              <a:buFont typeface="Arial"/>
              <a:buChar char="•"/>
            </a:pPr>
            <a:r>
              <a:rPr dirty="0"/>
              <a:t>Seja </a:t>
            </a:r>
            <a:r>
              <a:rPr dirty="0" err="1"/>
              <a:t>adaptável</a:t>
            </a:r>
            <a:r>
              <a:rPr dirty="0"/>
              <a:t> a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hardwares</a:t>
            </a:r>
            <a:r>
              <a:rPr dirty="0"/>
              <a:t>; </a:t>
            </a:r>
          </a:p>
          <a:p>
            <a:pPr marL="171450" indent="-171450">
              <a:buFont typeface="Arial"/>
              <a:buChar char="•"/>
            </a:pPr>
            <a:r>
              <a:rPr dirty="0" err="1"/>
              <a:t>Funcione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conjuntos de dados </a:t>
            </a:r>
            <a:r>
              <a:rPr dirty="0" err="1"/>
              <a:t>diferentes</a:t>
            </a:r>
            <a:r>
              <a:rPr dirty="0"/>
              <a:t> do COCO; </a:t>
            </a:r>
          </a:p>
          <a:p>
            <a:pPr marL="171450" indent="-171450">
              <a:buFont typeface="Arial"/>
              <a:buChar char="•"/>
            </a:pPr>
            <a:r>
              <a:rPr dirty="0"/>
              <a:t>Permita </a:t>
            </a:r>
            <a:r>
              <a:rPr dirty="0" err="1"/>
              <a:t>escolher</a:t>
            </a:r>
            <a:r>
              <a:rPr dirty="0"/>
              <a:t> o </a:t>
            </a:r>
            <a:r>
              <a:rPr dirty="0" err="1"/>
              <a:t>equilíbrio</a:t>
            </a:r>
            <a:r>
              <a:rPr dirty="0"/>
              <a:t> entre </a:t>
            </a:r>
            <a:r>
              <a:rPr dirty="0" err="1"/>
              <a:t>precisão</a:t>
            </a:r>
            <a:r>
              <a:rPr dirty="0"/>
              <a:t> e </a:t>
            </a:r>
            <a:r>
              <a:rPr dirty="0" err="1"/>
              <a:t>velocidade</a:t>
            </a:r>
            <a:r>
              <a:rPr dirty="0"/>
              <a:t>; </a:t>
            </a:r>
          </a:p>
          <a:p>
            <a:pPr marL="171450" indent="-171450">
              <a:buFont typeface="Arial"/>
              <a:buChar char="•"/>
            </a:pPr>
            <a:r>
              <a:rPr dirty="0" err="1"/>
              <a:t>Não</a:t>
            </a:r>
            <a:r>
              <a:rPr dirty="0"/>
              <a:t> precise ser </a:t>
            </a:r>
            <a:r>
              <a:rPr dirty="0" err="1"/>
              <a:t>treinado</a:t>
            </a:r>
            <a:r>
              <a:rPr dirty="0"/>
              <a:t> </a:t>
            </a:r>
            <a:r>
              <a:rPr dirty="0" err="1"/>
              <a:t>novamente</a:t>
            </a:r>
            <a:r>
              <a:rPr dirty="0"/>
              <a:t>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tamanho</a:t>
            </a:r>
            <a:r>
              <a:rPr dirty="0"/>
              <a:t> de </a:t>
            </a:r>
            <a:r>
              <a:rPr dirty="0" err="1"/>
              <a:t>modelo</a:t>
            </a:r>
            <a:r>
              <a:rPr dirty="0"/>
              <a:t>.</a:t>
            </a:r>
          </a:p>
          <a:p>
            <a:pPr marL="171450" indent="-171450">
              <a:buFont typeface="Arial"/>
              <a:buChar char="•"/>
            </a:pPr>
            <a:endParaRPr lang="pt-BR" dirty="0"/>
          </a:p>
          <a:p>
            <a:r>
              <a:rPr dirty="0"/>
              <a:t>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moderniza</a:t>
            </a:r>
            <a:r>
              <a:rPr dirty="0"/>
              <a:t> a </a:t>
            </a:r>
            <a:r>
              <a:rPr dirty="0" err="1"/>
              <a:t>arquitetura</a:t>
            </a:r>
            <a:r>
              <a:rPr dirty="0"/>
              <a:t> do LW-DETR </a:t>
            </a:r>
            <a:r>
              <a:rPr dirty="0" err="1"/>
              <a:t>utilizando</a:t>
            </a:r>
            <a:r>
              <a:rPr dirty="0"/>
              <a:t> o </a:t>
            </a:r>
            <a:r>
              <a:rPr dirty="0" err="1"/>
              <a:t>conhecimento</a:t>
            </a:r>
            <a:r>
              <a:rPr dirty="0"/>
              <a:t> visual do DINOv2, </a:t>
            </a:r>
            <a:r>
              <a:rPr dirty="0" err="1"/>
              <a:t>detecção</a:t>
            </a:r>
            <a:r>
              <a:rPr dirty="0"/>
              <a:t> de </a:t>
            </a:r>
            <a:r>
              <a:rPr dirty="0" err="1"/>
              <a:t>ponta</a:t>
            </a:r>
            <a:r>
              <a:rPr dirty="0"/>
              <a:t> a </a:t>
            </a:r>
            <a:r>
              <a:rPr dirty="0" err="1"/>
              <a:t>ponta</a:t>
            </a:r>
            <a:r>
              <a:rPr dirty="0"/>
              <a:t> e </a:t>
            </a:r>
            <a:r>
              <a:rPr dirty="0" err="1"/>
              <a:t>busca</a:t>
            </a:r>
            <a:r>
              <a:rPr dirty="0"/>
              <a:t> de </a:t>
            </a:r>
            <a:r>
              <a:rPr dirty="0" err="1"/>
              <a:t>arquitetura</a:t>
            </a:r>
            <a:r>
              <a:rPr dirty="0"/>
              <a:t> neural.</a:t>
            </a:r>
          </a:p>
          <a:p>
            <a:r>
              <a:rPr dirty="0"/>
              <a:t>O RF-DETR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NMS, </a:t>
            </a:r>
            <a:r>
              <a:rPr dirty="0" err="1"/>
              <a:t>que</a:t>
            </a:r>
            <a:r>
              <a:rPr dirty="0"/>
              <a:t> é um </a:t>
            </a:r>
            <a:r>
              <a:rPr dirty="0" err="1"/>
              <a:t>pós-processamento</a:t>
            </a:r>
            <a:r>
              <a:rPr dirty="0"/>
              <a:t> </a:t>
            </a:r>
            <a:r>
              <a:rPr dirty="0" err="1"/>
              <a:t>usado</a:t>
            </a:r>
            <a:r>
              <a:rPr dirty="0"/>
              <a:t> para remover </a:t>
            </a:r>
            <a:r>
              <a:rPr dirty="0" err="1"/>
              <a:t>caixas</a:t>
            </a:r>
            <a:r>
              <a:rPr dirty="0"/>
              <a:t> </a:t>
            </a:r>
            <a:r>
              <a:rPr dirty="0" err="1"/>
              <a:t>duplicadas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o YOLO.</a:t>
            </a:r>
          </a:p>
          <a:p>
            <a:r>
              <a:rPr dirty="0"/>
              <a:t>O principal </a:t>
            </a:r>
            <a:r>
              <a:rPr dirty="0" err="1"/>
              <a:t>diferencial</a:t>
            </a:r>
            <a:r>
              <a:rPr dirty="0"/>
              <a:t> é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super-rede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originar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configurações</a:t>
            </a:r>
            <a:r>
              <a:rPr dirty="0"/>
              <a:t> do </a:t>
            </a:r>
            <a:r>
              <a:rPr dirty="0" err="1"/>
              <a:t>modelo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funcionamento começa com a imagem de entrada.</a:t>
            </a:r>
          </a:p>
          <a:p>
            <a:r>
              <a:t>A imagem é processada pelo DINOv2, que funciona como backbone e extrai suas características visuais. Como o DINOv2 já foi pré-treinado em uma grande quantidade de imagens, ele fornece representações mais robustas, principalmente quando o conjunto de dados utilizado no ajuste é pequeno.</a:t>
            </a:r>
          </a:p>
          <a:p>
            <a:r>
              <a:t>Depois, um projetor organiza essas características em múltiplas escalas. O modelo combina atenção global e atenção por janelas para equilibrar contexto e custo computacional.</a:t>
            </a:r>
          </a:p>
          <a:p>
            <a:r>
              <a:t>Por fim, as consultas de objetos são refinadas pelo decoder do DETR. A saída contém as classes e as caixas delimitadoras. Na versão RF-DETR-Seg, também são produzidas as máscaras dos objetos.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Este slide </a:t>
            </a:r>
            <a:r>
              <a:rPr dirty="0" err="1"/>
              <a:t>deixa</a:t>
            </a:r>
            <a:r>
              <a:rPr dirty="0"/>
              <a:t> </a:t>
            </a:r>
            <a:r>
              <a:rPr dirty="0" err="1"/>
              <a:t>explícita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das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mudanças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relação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LW-DETR. O CAEv2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substituído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DINOv2,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traz</a:t>
            </a:r>
            <a:r>
              <a:rPr dirty="0"/>
              <a:t> </a:t>
            </a:r>
            <a:r>
              <a:rPr dirty="0" err="1"/>
              <a:t>conhecimento</a:t>
            </a:r>
            <a:r>
              <a:rPr dirty="0"/>
              <a:t> visual </a:t>
            </a:r>
            <a:r>
              <a:rPr dirty="0" err="1"/>
              <a:t>obtido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pré-treinamento</a:t>
            </a:r>
            <a:r>
              <a:rPr dirty="0"/>
              <a:t> de grande </a:t>
            </a:r>
            <a:r>
              <a:rPr dirty="0" err="1"/>
              <a:t>escala</a:t>
            </a:r>
            <a:r>
              <a:rPr dirty="0"/>
              <a:t>. Na </a:t>
            </a:r>
            <a:r>
              <a:rPr dirty="0" err="1"/>
              <a:t>comparação</a:t>
            </a:r>
            <a:r>
              <a:rPr dirty="0"/>
              <a:t> da </a:t>
            </a:r>
            <a:r>
              <a:rPr dirty="0" err="1"/>
              <a:t>Tabela</a:t>
            </a:r>
            <a:r>
              <a:rPr dirty="0"/>
              <a:t> 6, o DINOv2-S </a:t>
            </a:r>
            <a:r>
              <a:rPr dirty="0" err="1"/>
              <a:t>alcança</a:t>
            </a:r>
            <a:r>
              <a:rPr dirty="0"/>
              <a:t> 54,3 AP, contra 52,3 do CAEv2, com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diferença</a:t>
            </a:r>
            <a:r>
              <a:rPr dirty="0"/>
              <a:t> </a:t>
            </a:r>
            <a:r>
              <a:rPr dirty="0" err="1"/>
              <a:t>pequena</a:t>
            </a:r>
            <a:r>
              <a:rPr dirty="0"/>
              <a:t> de </a:t>
            </a:r>
            <a:r>
              <a:rPr dirty="0" err="1"/>
              <a:t>latência</a:t>
            </a:r>
            <a:r>
              <a:rPr dirty="0"/>
              <a:t>: 4,7 contra 4,4 </a:t>
            </a:r>
            <a:r>
              <a:rPr dirty="0" err="1"/>
              <a:t>milissegundos</a:t>
            </a:r>
            <a:r>
              <a:rPr dirty="0"/>
              <a:t>. SigLIPv2 </a:t>
            </a:r>
            <a:r>
              <a:rPr dirty="0" err="1"/>
              <a:t>ficou</a:t>
            </a:r>
            <a:r>
              <a:rPr dirty="0"/>
              <a:t> </a:t>
            </a:r>
            <a:r>
              <a:rPr dirty="0" err="1"/>
              <a:t>abaixo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, e o SAM2 </a:t>
            </a:r>
            <a:r>
              <a:rPr dirty="0" err="1"/>
              <a:t>Hiera</a:t>
            </a:r>
            <a:r>
              <a:rPr dirty="0"/>
              <a:t>-S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consideravelmente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lento. Por </a:t>
            </a:r>
            <a:r>
              <a:rPr dirty="0" err="1"/>
              <a:t>isso</a:t>
            </a:r>
            <a:r>
              <a:rPr dirty="0"/>
              <a:t>, o DINOv2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escolhido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Este slide </a:t>
            </a:r>
            <a:r>
              <a:rPr dirty="0" err="1"/>
              <a:t>mostra</a:t>
            </a:r>
            <a:r>
              <a:rPr dirty="0"/>
              <a:t> a </a:t>
            </a:r>
            <a:r>
              <a:rPr dirty="0" err="1"/>
              <a:t>ablação</a:t>
            </a:r>
            <a:r>
              <a:rPr dirty="0"/>
              <a:t> </a:t>
            </a:r>
            <a:r>
              <a:rPr dirty="0" err="1"/>
              <a:t>acumulativa</a:t>
            </a:r>
            <a:r>
              <a:rPr dirty="0"/>
              <a:t> da </a:t>
            </a:r>
            <a:r>
              <a:rPr dirty="0" err="1"/>
              <a:t>evolução</a:t>
            </a:r>
            <a:r>
              <a:rPr dirty="0"/>
              <a:t> do LW-DETR para o RF-DETR. O </a:t>
            </a:r>
            <a:r>
              <a:rPr dirty="0" err="1"/>
              <a:t>ponto</a:t>
            </a:r>
            <a:r>
              <a:rPr dirty="0"/>
              <a:t> de </a:t>
            </a:r>
            <a:r>
              <a:rPr dirty="0" err="1"/>
              <a:t>partida</a:t>
            </a:r>
            <a:r>
              <a:rPr dirty="0"/>
              <a:t>, o LW-DETR Medium, </a:t>
            </a:r>
            <a:r>
              <a:rPr dirty="0" err="1"/>
              <a:t>obtém</a:t>
            </a:r>
            <a:r>
              <a:rPr dirty="0"/>
              <a:t> 52,6 AP com 4,4 </a:t>
            </a:r>
            <a:r>
              <a:rPr dirty="0" err="1"/>
              <a:t>milissegundos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hiperparâmetros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suaves</a:t>
            </a:r>
            <a:r>
              <a:rPr dirty="0"/>
              <a:t> </a:t>
            </a:r>
            <a:r>
              <a:rPr dirty="0" err="1"/>
              <a:t>diminuem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o </a:t>
            </a:r>
            <a:r>
              <a:rPr dirty="0" err="1"/>
              <a:t>resultado</a:t>
            </a:r>
            <a:r>
              <a:rPr dirty="0"/>
              <a:t> para 51,6 AP, mas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escolhidos</a:t>
            </a:r>
            <a:r>
              <a:rPr dirty="0"/>
              <a:t> para </a:t>
            </a:r>
            <a:r>
              <a:rPr dirty="0" err="1"/>
              <a:t>alterar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pesos </a:t>
            </a:r>
            <a:r>
              <a:rPr dirty="0" err="1"/>
              <a:t>pré-treinados</a:t>
            </a:r>
            <a:r>
              <a:rPr dirty="0"/>
              <a:t>. Ao </a:t>
            </a:r>
            <a:r>
              <a:rPr dirty="0" err="1"/>
              <a:t>substituir</a:t>
            </a:r>
            <a:r>
              <a:rPr dirty="0"/>
              <a:t> o backbone </a:t>
            </a:r>
            <a:r>
              <a:rPr dirty="0" err="1"/>
              <a:t>pelo</a:t>
            </a:r>
            <a:r>
              <a:rPr dirty="0"/>
              <a:t> DINOv2, o </a:t>
            </a:r>
            <a:r>
              <a:rPr dirty="0" err="1"/>
              <a:t>desempenho</a:t>
            </a:r>
            <a:r>
              <a:rPr dirty="0"/>
              <a:t> </a:t>
            </a:r>
            <a:r>
              <a:rPr dirty="0" err="1"/>
              <a:t>sobe</a:t>
            </a:r>
            <a:r>
              <a:rPr dirty="0"/>
              <a:t> para 53,6 AP. O </a:t>
            </a:r>
            <a:r>
              <a:rPr dirty="0" err="1"/>
              <a:t>pré-treinamento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 no Objects-365 </a:t>
            </a:r>
            <a:r>
              <a:rPr dirty="0" err="1"/>
              <a:t>eleva</a:t>
            </a:r>
            <a:r>
              <a:rPr dirty="0"/>
              <a:t> o </a:t>
            </a:r>
            <a:r>
              <a:rPr dirty="0" err="1"/>
              <a:t>resultado</a:t>
            </a:r>
            <a:r>
              <a:rPr dirty="0"/>
              <a:t> para 54,3 AP, e a NAS com pesos </a:t>
            </a:r>
            <a:r>
              <a:rPr dirty="0" err="1"/>
              <a:t>compartilhados</a:t>
            </a:r>
            <a:r>
              <a:rPr dirty="0"/>
              <a:t> </a:t>
            </a:r>
            <a:r>
              <a:rPr dirty="0" err="1"/>
              <a:t>chega</a:t>
            </a:r>
            <a:r>
              <a:rPr dirty="0"/>
              <a:t> a 54,6 AP. Assim, o </a:t>
            </a:r>
            <a:r>
              <a:rPr dirty="0" err="1"/>
              <a:t>ganho</a:t>
            </a:r>
            <a:r>
              <a:rPr dirty="0"/>
              <a:t> final é de 2 </a:t>
            </a:r>
            <a:r>
              <a:rPr dirty="0" err="1"/>
              <a:t>pontos</a:t>
            </a:r>
            <a:r>
              <a:rPr dirty="0"/>
              <a:t> de AP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relação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LW-DETR, com </a:t>
            </a:r>
            <a:r>
              <a:rPr dirty="0" err="1"/>
              <a:t>latência</a:t>
            </a:r>
            <a:r>
              <a:rPr dirty="0"/>
              <a:t> </a:t>
            </a:r>
            <a:r>
              <a:rPr dirty="0" err="1"/>
              <a:t>praticamente</a:t>
            </a:r>
            <a:r>
              <a:rPr dirty="0"/>
              <a:t> </a:t>
            </a:r>
            <a:r>
              <a:rPr dirty="0" err="1"/>
              <a:t>preservada</a:t>
            </a:r>
            <a:r>
              <a:rPr dirty="0"/>
              <a:t>: 4,7 contra 4,4 </a:t>
            </a:r>
            <a:r>
              <a:rPr dirty="0" err="1"/>
              <a:t>milissegundos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principal inovação técnica do artigo é a busca de arquitetura neural com compartilhamento de pesos.</a:t>
            </a:r>
          </a:p>
          <a:p>
            <a:r>
              <a:t>Em vez de treinar milhares de modelos separados, os autores treinam uma única super-rede.</a:t>
            </a:r>
          </a:p>
          <a:p>
            <a:r>
              <a:t>Em cada iteração, uma configuração é selecionada aleatoriamente. Essa sub-rede realiza uma predição, o erro é calculado e os pesos compartilhados são atualizados.</a:t>
            </a:r>
          </a:p>
          <a:p>
            <a:r>
              <a:t>Na iteração seguinte, outra configuração pode ser utilizada, mas ela aproveita os mesmos pesos.</a:t>
            </a:r>
          </a:p>
          <a:p>
            <a:r>
              <a:t>Depois do treinamento, as configurações são avaliadas para encontrar a fronteira de Pareto. Essa fronteira reúne os modelos para os quais não existe outra configuração simultaneamente mais rápida e mais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busca considera cinco controles principais.</a:t>
            </a:r>
          </a:p>
          <a:p>
            <a:r>
              <a:t>O primeiro é a resolução da imagem. Resoluções maiores ajudam na detecção de objetos pequenos, mas aumentam o custo.</a:t>
            </a:r>
          </a:p>
          <a:p>
            <a:r>
              <a:t>O segundo é o tamanho do patch. Patches menores preservam mais detalhes, porém produzem mais tokens.</a:t>
            </a:r>
          </a:p>
          <a:p>
            <a:r>
              <a:t>O terceiro é o número de camadas do decoder. Mais camadas refinam as previsões, mas também aumentam a latência.</a:t>
            </a:r>
          </a:p>
          <a:p>
            <a:r>
              <a:t>O quarto é a quantidade de consultas, que influencia o número máximo de objetos processados.</a:t>
            </a:r>
          </a:p>
          <a:p>
            <a:r>
              <a:t>O quinto é a quantidade de janelas nos blocos de atenção.</a:t>
            </a:r>
          </a:p>
          <a:p>
            <a:r>
              <a:t>Com esses controles, a NAS consegue selecionar uma configuração adequada ao hardware e às necessidades da aplicação.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NAS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um </a:t>
            </a:r>
            <a:r>
              <a:rPr dirty="0" err="1"/>
              <a:t>modelo</a:t>
            </a:r>
            <a:r>
              <a:rPr dirty="0"/>
              <a:t>: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identifica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configurações</a:t>
            </a:r>
            <a:r>
              <a:rPr dirty="0"/>
              <a:t> Pareto-</a:t>
            </a:r>
            <a:r>
              <a:rPr dirty="0" err="1"/>
              <a:t>ótimas</a:t>
            </a:r>
            <a:r>
              <a:rPr dirty="0"/>
              <a:t>. Nesta </a:t>
            </a:r>
            <a:r>
              <a:rPr dirty="0" err="1"/>
              <a:t>tabela</a:t>
            </a:r>
            <a:r>
              <a:rPr dirty="0"/>
              <a:t>, Res é a </a:t>
            </a:r>
            <a:r>
              <a:rPr dirty="0" err="1"/>
              <a:t>resolução</a:t>
            </a:r>
            <a:r>
              <a:rPr dirty="0"/>
              <a:t>, P é o </a:t>
            </a:r>
            <a:r>
              <a:rPr dirty="0" err="1"/>
              <a:t>tamanho</a:t>
            </a:r>
            <a:r>
              <a:rPr dirty="0"/>
              <a:t> do patch, J é a </a:t>
            </a:r>
            <a:r>
              <a:rPr dirty="0" err="1"/>
              <a:t>quantidade</a:t>
            </a:r>
            <a:r>
              <a:rPr dirty="0"/>
              <a:t> de </a:t>
            </a:r>
            <a:r>
              <a:rPr dirty="0" err="1"/>
              <a:t>janelas</a:t>
            </a:r>
            <a:r>
              <a:rPr dirty="0"/>
              <a:t>, Dec é o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camadas</a:t>
            </a:r>
            <a:r>
              <a:rPr dirty="0"/>
              <a:t> do decoder e Q é o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. O Nano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resolução</a:t>
            </a:r>
            <a:r>
              <a:rPr dirty="0"/>
              <a:t> 384, patch 16 e duas </a:t>
            </a:r>
            <a:r>
              <a:rPr dirty="0" err="1"/>
              <a:t>camadas</a:t>
            </a:r>
            <a:r>
              <a:rPr dirty="0"/>
              <a:t> de decoder. Conforme o </a:t>
            </a:r>
            <a:r>
              <a:rPr dirty="0" err="1"/>
              <a:t>orçamento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 </a:t>
            </a:r>
            <a:r>
              <a:rPr dirty="0" err="1"/>
              <a:t>cresce</a:t>
            </a:r>
            <a:r>
              <a:rPr dirty="0"/>
              <a:t>, a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principalmente</a:t>
            </a:r>
            <a:r>
              <a:rPr dirty="0"/>
              <a:t> a </a:t>
            </a:r>
            <a:r>
              <a:rPr dirty="0" err="1"/>
              <a:t>resolução</a:t>
            </a:r>
            <a:r>
              <a:rPr dirty="0"/>
              <a:t> e a </a:t>
            </a:r>
            <a:r>
              <a:rPr dirty="0" err="1"/>
              <a:t>profundidade</a:t>
            </a:r>
            <a:r>
              <a:rPr dirty="0"/>
              <a:t>. No 2XL, a </a:t>
            </a:r>
            <a:r>
              <a:rPr dirty="0" err="1"/>
              <a:t>configuração</a:t>
            </a:r>
            <a:r>
              <a:rPr dirty="0"/>
              <a:t> </a:t>
            </a:r>
            <a:r>
              <a:rPr dirty="0" err="1"/>
              <a:t>chega</a:t>
            </a:r>
            <a:r>
              <a:rPr dirty="0"/>
              <a:t> à </a:t>
            </a:r>
            <a:r>
              <a:rPr dirty="0" err="1"/>
              <a:t>resolução</a:t>
            </a:r>
            <a:r>
              <a:rPr dirty="0"/>
              <a:t> 880,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camadas</a:t>
            </a:r>
            <a:r>
              <a:rPr dirty="0"/>
              <a:t> e </a:t>
            </a:r>
            <a:r>
              <a:rPr dirty="0" err="1"/>
              <a:t>utiliza</a:t>
            </a:r>
            <a:r>
              <a:rPr dirty="0"/>
              <a:t> o backbone DINOv2-B. O </a:t>
            </a:r>
            <a:r>
              <a:rPr dirty="0" err="1"/>
              <a:t>ponto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é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essas</a:t>
            </a:r>
            <a:r>
              <a:rPr dirty="0"/>
              <a:t> </a:t>
            </a:r>
            <a:r>
              <a:rPr dirty="0" err="1"/>
              <a:t>variantes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obtidas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da </a:t>
            </a:r>
            <a:r>
              <a:rPr dirty="0" err="1"/>
              <a:t>mesma</a:t>
            </a:r>
            <a:r>
              <a:rPr dirty="0"/>
              <a:t> super-rede,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treinar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tamanho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o </a:t>
            </a:r>
            <a:r>
              <a:rPr dirty="0" err="1"/>
              <a:t>início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Ao </a:t>
            </a:r>
            <a:r>
              <a:rPr dirty="0" err="1"/>
              <a:t>analisar</a:t>
            </a:r>
            <a:r>
              <a:rPr dirty="0"/>
              <a:t> as </a:t>
            </a:r>
            <a:r>
              <a:rPr dirty="0" err="1"/>
              <a:t>arquiteturas</a:t>
            </a:r>
            <a:r>
              <a:rPr dirty="0"/>
              <a:t> </a:t>
            </a:r>
            <a:r>
              <a:rPr dirty="0" err="1"/>
              <a:t>selecionadas</a:t>
            </a:r>
            <a:r>
              <a:rPr dirty="0"/>
              <a:t>,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identificam</a:t>
            </a:r>
            <a:r>
              <a:rPr dirty="0"/>
              <a:t> </a:t>
            </a:r>
            <a:r>
              <a:rPr dirty="0" err="1"/>
              <a:t>comportamentos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tarefa</a:t>
            </a:r>
            <a:r>
              <a:rPr dirty="0"/>
              <a:t>. Na </a:t>
            </a:r>
            <a:r>
              <a:rPr dirty="0" err="1"/>
              <a:t>detecção</a:t>
            </a:r>
            <a:r>
              <a:rPr dirty="0"/>
              <a:t>, as </a:t>
            </a:r>
            <a:r>
              <a:rPr dirty="0" err="1"/>
              <a:t>configurações</a:t>
            </a:r>
            <a:r>
              <a:rPr dirty="0"/>
              <a:t> </a:t>
            </a:r>
            <a:r>
              <a:rPr dirty="0" err="1"/>
              <a:t>mantêm</a:t>
            </a:r>
            <a:r>
              <a:rPr dirty="0"/>
              <a:t> 300 </a:t>
            </a:r>
            <a:r>
              <a:rPr dirty="0" err="1"/>
              <a:t>consultas</a:t>
            </a:r>
            <a:r>
              <a:rPr dirty="0"/>
              <a:t> e </a:t>
            </a:r>
            <a:r>
              <a:rPr dirty="0" err="1"/>
              <a:t>aumentam</a:t>
            </a:r>
            <a:r>
              <a:rPr dirty="0"/>
              <a:t> </a:t>
            </a:r>
            <a:r>
              <a:rPr dirty="0" err="1"/>
              <a:t>principalmente</a:t>
            </a:r>
            <a:r>
              <a:rPr dirty="0"/>
              <a:t> o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camadas</a:t>
            </a:r>
            <a:r>
              <a:rPr dirty="0"/>
              <a:t> do decoder.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produz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estratégia</a:t>
            </a:r>
            <a:r>
              <a:rPr dirty="0"/>
              <a:t> </a:t>
            </a:r>
            <a:r>
              <a:rPr dirty="0" err="1"/>
              <a:t>relativamente</a:t>
            </a:r>
            <a:r>
              <a:rPr dirty="0"/>
              <a:t> </a:t>
            </a:r>
            <a:r>
              <a:rPr dirty="0" err="1"/>
              <a:t>larga</a:t>
            </a:r>
            <a:r>
              <a:rPr dirty="0"/>
              <a:t> e </a:t>
            </a:r>
            <a:r>
              <a:rPr dirty="0" err="1"/>
              <a:t>menos</a:t>
            </a:r>
            <a:r>
              <a:rPr dirty="0"/>
              <a:t> profunda. Na </a:t>
            </a:r>
            <a:r>
              <a:rPr dirty="0" err="1"/>
              <a:t>segmentação</a:t>
            </a:r>
            <a:r>
              <a:rPr dirty="0"/>
              <a:t>, o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cresce</a:t>
            </a:r>
            <a:r>
              <a:rPr dirty="0"/>
              <a:t> de 100 para 300 junto com a </a:t>
            </a:r>
            <a:r>
              <a:rPr dirty="0" err="1"/>
              <a:t>profundidade</a:t>
            </a:r>
            <a:r>
              <a:rPr dirty="0"/>
              <a:t>, </a:t>
            </a:r>
            <a:r>
              <a:rPr dirty="0" err="1"/>
              <a:t>formando</a:t>
            </a:r>
            <a:r>
              <a:rPr dirty="0"/>
              <a:t> </a:t>
            </a:r>
            <a:r>
              <a:rPr dirty="0" err="1"/>
              <a:t>arquiteturas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finas</a:t>
            </a:r>
            <a:r>
              <a:rPr dirty="0"/>
              <a:t> e </a:t>
            </a:r>
            <a:r>
              <a:rPr dirty="0" err="1"/>
              <a:t>profundas</a:t>
            </a:r>
            <a:r>
              <a:rPr dirty="0"/>
              <a:t>. A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tende</a:t>
            </a:r>
            <a:r>
              <a:rPr dirty="0"/>
              <a:t> a </a:t>
            </a:r>
            <a:r>
              <a:rPr dirty="0" err="1"/>
              <a:t>escolher</a:t>
            </a:r>
            <a:r>
              <a:rPr dirty="0"/>
              <a:t> patch 16 para DINOv2-S, patch 20 para DINOv2-B e patch 12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segmentação</a:t>
            </a:r>
            <a:r>
              <a:rPr dirty="0"/>
              <a:t>. Duas </a:t>
            </a:r>
            <a:r>
              <a:rPr dirty="0" err="1"/>
              <a:t>janelas</a:t>
            </a:r>
            <a:r>
              <a:rPr dirty="0"/>
              <a:t> </a:t>
            </a:r>
            <a:r>
              <a:rPr dirty="0" err="1"/>
              <a:t>aparecem</a:t>
            </a:r>
            <a:r>
              <a:rPr dirty="0"/>
              <a:t> com </a:t>
            </a:r>
            <a:r>
              <a:rPr dirty="0" err="1"/>
              <a:t>frequência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um </a:t>
            </a:r>
            <a:r>
              <a:rPr dirty="0" err="1"/>
              <a:t>bom</a:t>
            </a:r>
            <a:r>
              <a:rPr dirty="0"/>
              <a:t> </a:t>
            </a:r>
            <a:r>
              <a:rPr dirty="0" err="1"/>
              <a:t>equilíbrio</a:t>
            </a:r>
            <a:r>
              <a:rPr dirty="0"/>
              <a:t> entre </a:t>
            </a:r>
            <a:r>
              <a:rPr dirty="0" err="1"/>
              <a:t>contexto</a:t>
            </a:r>
            <a:r>
              <a:rPr dirty="0"/>
              <a:t> e </a:t>
            </a:r>
            <a:r>
              <a:rPr dirty="0" err="1"/>
              <a:t>latência</a:t>
            </a:r>
            <a:r>
              <a:rPr dirty="0"/>
              <a:t>. </a:t>
            </a:r>
            <a:r>
              <a:rPr dirty="0" err="1"/>
              <a:t>Portanto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escalonamento</a:t>
            </a:r>
            <a:r>
              <a:rPr dirty="0"/>
              <a:t>: a </a:t>
            </a:r>
            <a:r>
              <a:rPr dirty="0" err="1"/>
              <a:t>arquitetura</a:t>
            </a:r>
            <a:r>
              <a:rPr dirty="0"/>
              <a:t> ideal </a:t>
            </a:r>
            <a:r>
              <a:rPr dirty="0" err="1"/>
              <a:t>depende</a:t>
            </a:r>
            <a:r>
              <a:rPr dirty="0"/>
              <a:t> da </a:t>
            </a:r>
            <a:r>
              <a:rPr dirty="0" err="1"/>
              <a:t>tarefa</a:t>
            </a:r>
            <a:r>
              <a:rPr dirty="0"/>
              <a:t> e do </a:t>
            </a:r>
            <a:r>
              <a:rPr dirty="0" err="1"/>
              <a:t>orçamento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.</a:t>
            </a:r>
          </a:p>
          <a:p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artigo informa 60 épocas de pré-treinamento no Objects-365.</a:t>
            </a:r>
          </a:p>
          <a:p>
            <a:r>
              <a:t>É importante destacar que essas 60 épocas se referem ao pré-treinamento adicional e não a todo o processo de treinamento do RF-DETR.</a:t>
            </a:r>
          </a:p>
          <a:p>
            <a:r>
              <a:t>A taxa de aprendizado utilizada foi de 1 vezes 10 elevado a menos 4, com batch size de 128. Os autores também utilizaram gradient clipping de 0,1 e decaimento de 0,8 por camada.</a:t>
            </a:r>
          </a:p>
          <a:p>
            <a:r>
              <a:t>Essas configurações ajudam a preservar o conhecimento que o DINOv2 já possuía.</a:t>
            </a:r>
          </a:p>
          <a:p>
            <a:r>
              <a:t>Para os conjuntos-alvo, como COCO e RF100-VL, o artigo indica treinamento até a convergência. Em conjuntos pequenos, esse processo pode exigir mais de 100 épocas.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treinamento</a:t>
            </a:r>
            <a:r>
              <a:rPr dirty="0"/>
              <a:t> </a:t>
            </a:r>
            <a:r>
              <a:rPr dirty="0" err="1"/>
              <a:t>ocorre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. Primeiro,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dos pesos do DINOv2. </a:t>
            </a:r>
            <a:r>
              <a:rPr dirty="0" err="1"/>
              <a:t>Depois</a:t>
            </a:r>
            <a:r>
              <a:rPr dirty="0"/>
              <a:t>, as </a:t>
            </a:r>
            <a:r>
              <a:rPr dirty="0" err="1"/>
              <a:t>cabeças</a:t>
            </a:r>
            <a:r>
              <a:rPr dirty="0"/>
              <a:t> de </a:t>
            </a:r>
            <a:r>
              <a:rPr dirty="0" err="1"/>
              <a:t>detecção</a:t>
            </a:r>
            <a:r>
              <a:rPr dirty="0"/>
              <a:t> e </a:t>
            </a:r>
            <a:r>
              <a:rPr dirty="0" err="1"/>
              <a:t>segmentação</a:t>
            </a:r>
            <a:r>
              <a:rPr dirty="0"/>
              <a:t> </a:t>
            </a:r>
            <a:r>
              <a:rPr dirty="0" err="1"/>
              <a:t>passam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60 </a:t>
            </a:r>
            <a:r>
              <a:rPr dirty="0" err="1"/>
              <a:t>épocas</a:t>
            </a:r>
            <a:r>
              <a:rPr dirty="0"/>
              <a:t> de </a:t>
            </a:r>
            <a:r>
              <a:rPr dirty="0" err="1"/>
              <a:t>pré-treinamento</a:t>
            </a:r>
            <a:r>
              <a:rPr dirty="0"/>
              <a:t> no Objects-365; para </a:t>
            </a:r>
            <a:r>
              <a:rPr dirty="0" err="1"/>
              <a:t>segmentação</a:t>
            </a:r>
            <a:r>
              <a:rPr dirty="0"/>
              <a:t>,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usados</a:t>
            </a:r>
            <a:r>
              <a:rPr dirty="0"/>
              <a:t> </a:t>
            </a:r>
            <a:r>
              <a:rPr dirty="0" err="1"/>
              <a:t>pseudorrótulos</a:t>
            </a:r>
            <a:r>
              <a:rPr dirty="0"/>
              <a:t> do SAM2. Durante a NAS,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configuração</a:t>
            </a:r>
            <a:r>
              <a:rPr dirty="0"/>
              <a:t> </a:t>
            </a:r>
            <a:r>
              <a:rPr dirty="0" err="1"/>
              <a:t>diferente</a:t>
            </a:r>
            <a:r>
              <a:rPr dirty="0"/>
              <a:t> é </a:t>
            </a:r>
            <a:r>
              <a:rPr dirty="0" err="1"/>
              <a:t>amostrada</a:t>
            </a:r>
            <a:r>
              <a:rPr dirty="0"/>
              <a:t> 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iteração</a:t>
            </a:r>
            <a:r>
              <a:rPr dirty="0"/>
              <a:t> e </a:t>
            </a:r>
            <a:r>
              <a:rPr dirty="0" err="1"/>
              <a:t>os</a:t>
            </a:r>
            <a:r>
              <a:rPr dirty="0"/>
              <a:t> pesos </a:t>
            </a:r>
            <a:r>
              <a:rPr dirty="0" err="1"/>
              <a:t>compartilhados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atualizados</a:t>
            </a:r>
            <a:r>
              <a:rPr dirty="0"/>
              <a:t>. Em </a:t>
            </a:r>
            <a:r>
              <a:rPr dirty="0" err="1"/>
              <a:t>seguida</a:t>
            </a:r>
            <a:r>
              <a:rPr dirty="0"/>
              <a:t>, o </a:t>
            </a:r>
            <a:r>
              <a:rPr dirty="0" err="1"/>
              <a:t>modelo</a:t>
            </a:r>
            <a:r>
              <a:rPr dirty="0"/>
              <a:t> é </a:t>
            </a:r>
            <a:r>
              <a:rPr dirty="0" err="1"/>
              <a:t>treinado</a:t>
            </a:r>
            <a:r>
              <a:rPr dirty="0"/>
              <a:t> no conjunto-</a:t>
            </a:r>
            <a:r>
              <a:rPr dirty="0" err="1"/>
              <a:t>alvo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</a:t>
            </a:r>
            <a:r>
              <a:rPr dirty="0" err="1"/>
              <a:t>convergir</a:t>
            </a:r>
            <a:r>
              <a:rPr dirty="0"/>
              <a:t>. </a:t>
            </a:r>
            <a:r>
              <a:rPr dirty="0" err="1"/>
              <a:t>Finalmente</a:t>
            </a:r>
            <a:r>
              <a:rPr dirty="0"/>
              <a:t>, as </a:t>
            </a:r>
            <a:r>
              <a:rPr dirty="0" err="1"/>
              <a:t>configurações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medidas</a:t>
            </a:r>
            <a:r>
              <a:rPr dirty="0"/>
              <a:t> e </a:t>
            </a:r>
            <a:r>
              <a:rPr dirty="0" err="1"/>
              <a:t>selecionadas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fronteira</a:t>
            </a:r>
            <a:r>
              <a:rPr dirty="0"/>
              <a:t> de Pareto entre </a:t>
            </a:r>
            <a:r>
              <a:rPr dirty="0" err="1"/>
              <a:t>precisão</a:t>
            </a:r>
            <a:r>
              <a:rPr dirty="0"/>
              <a:t> e </a:t>
            </a:r>
            <a:r>
              <a:rPr dirty="0" err="1"/>
              <a:t>latência</a:t>
            </a:r>
            <a:endParaRPr dirty="0" err="1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RF-DETR-Seg é a versão destinada à segmentação de instâncias.</a:t>
            </a:r>
          </a:p>
          <a:p>
            <a:r>
              <a:t>Além de identificar a classe e a caixa do objeto, essa versão determina quais pixels pertencem a cada instância.</a:t>
            </a:r>
          </a:p>
          <a:p>
            <a:r>
              <a:t>Para isso, o modelo utiliza um cabeçalho leve que transforma o mapa de características em embeddings de pixels. Esses embeddings são comparados com as consultas produzidas pelo decoder para gerar as máscaras.</a:t>
            </a:r>
          </a:p>
          <a:p>
            <a:r>
              <a:t>O cabeçalho reutiliza um mapa de baixa resolução para manter a baixa latência.</a:t>
            </a:r>
          </a:p>
          <a:p>
            <a:r>
              <a:t>Como o Objects-365 não possui todas as máscaras necessárias, os autores utilizaram o SAM2 para gerar pseudorrótulos durante o pré-treinamento.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principal </a:t>
            </a:r>
            <a:r>
              <a:rPr dirty="0" err="1"/>
              <a:t>métrica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 é o AP de 50 a 95, </a:t>
            </a:r>
            <a:r>
              <a:rPr dirty="0" err="1"/>
              <a:t>calculado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pycocotools</a:t>
            </a:r>
            <a:r>
              <a:rPr dirty="0"/>
              <a:t>. Ele resume a </a:t>
            </a:r>
            <a:r>
              <a:rPr dirty="0" err="1"/>
              <a:t>precisão</a:t>
            </a:r>
            <a:r>
              <a:rPr dirty="0"/>
              <a:t> </a:t>
            </a: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níveis</a:t>
            </a:r>
            <a:r>
              <a:rPr dirty="0"/>
              <a:t> de </a:t>
            </a:r>
            <a:r>
              <a:rPr dirty="0" err="1"/>
              <a:t>sobreposição</a:t>
            </a:r>
            <a:r>
              <a:rPr dirty="0"/>
              <a:t> entre a </a:t>
            </a:r>
            <a:r>
              <a:rPr dirty="0" err="1"/>
              <a:t>predição</a:t>
            </a:r>
            <a:r>
              <a:rPr dirty="0"/>
              <a:t> e o </a:t>
            </a:r>
            <a:r>
              <a:rPr dirty="0" err="1"/>
              <a:t>rótulo</a:t>
            </a:r>
            <a:r>
              <a:rPr dirty="0"/>
              <a:t> real. O </a:t>
            </a:r>
            <a:r>
              <a:rPr dirty="0" err="1"/>
              <a:t>artigo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reporta</a:t>
            </a:r>
            <a:r>
              <a:rPr dirty="0"/>
              <a:t> AP50, AP75 e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tamanho</a:t>
            </a:r>
            <a:r>
              <a:rPr dirty="0"/>
              <a:t> do </a:t>
            </a:r>
            <a:r>
              <a:rPr dirty="0" err="1"/>
              <a:t>objeto</a:t>
            </a:r>
            <a:r>
              <a:rPr dirty="0"/>
              <a:t>. Para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eficiência</a:t>
            </a:r>
            <a:r>
              <a:rPr dirty="0"/>
              <a:t>, </a:t>
            </a:r>
            <a:r>
              <a:rPr dirty="0" err="1"/>
              <a:t>utiliza</a:t>
            </a:r>
            <a:r>
              <a:rPr dirty="0"/>
              <a:t> </a:t>
            </a:r>
            <a:r>
              <a:rPr dirty="0" err="1"/>
              <a:t>quantidade</a:t>
            </a:r>
            <a:r>
              <a:rPr dirty="0"/>
              <a:t> de </a:t>
            </a:r>
            <a:r>
              <a:rPr dirty="0" err="1"/>
              <a:t>parâmetros</a:t>
            </a:r>
            <a:r>
              <a:rPr dirty="0"/>
              <a:t>, GFLOPs e </a:t>
            </a:r>
            <a:r>
              <a:rPr dirty="0" err="1"/>
              <a:t>latência</a:t>
            </a:r>
            <a:r>
              <a:rPr dirty="0"/>
              <a:t>. A </a:t>
            </a:r>
            <a:r>
              <a:rPr dirty="0" err="1"/>
              <a:t>latência</a:t>
            </a:r>
            <a:r>
              <a:rPr dirty="0"/>
              <a:t> é </a:t>
            </a:r>
            <a:r>
              <a:rPr dirty="0" err="1"/>
              <a:t>medida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NVIDIA T4 com </a:t>
            </a:r>
            <a:r>
              <a:rPr dirty="0" err="1"/>
              <a:t>TensorRT</a:t>
            </a:r>
            <a:r>
              <a:rPr dirty="0"/>
              <a:t> 10.4 e CUDA 12.4.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</a:t>
            </a:r>
            <a:r>
              <a:rPr dirty="0" err="1"/>
              <a:t>inserem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pausa de 200 </a:t>
            </a:r>
            <a:r>
              <a:rPr dirty="0" err="1"/>
              <a:t>milissegundos</a:t>
            </a:r>
            <a:r>
              <a:rPr dirty="0"/>
              <a:t> entre </a:t>
            </a:r>
            <a:r>
              <a:rPr dirty="0" err="1"/>
              <a:t>inferências</a:t>
            </a:r>
            <a:r>
              <a:rPr dirty="0"/>
              <a:t> para </a:t>
            </a:r>
            <a:r>
              <a:rPr dirty="0" err="1"/>
              <a:t>reduzir</a:t>
            </a:r>
            <a:r>
              <a:rPr dirty="0"/>
              <a:t> </a:t>
            </a:r>
            <a:r>
              <a:rPr dirty="0" err="1"/>
              <a:t>aquecimento</a:t>
            </a:r>
            <a:r>
              <a:rPr dirty="0"/>
              <a:t> e </a:t>
            </a:r>
            <a:r>
              <a:rPr dirty="0" err="1"/>
              <a:t>limitação</a:t>
            </a:r>
            <a:r>
              <a:rPr dirty="0"/>
              <a:t> de </a:t>
            </a:r>
            <a:r>
              <a:rPr dirty="0" err="1"/>
              <a:t>potência</a:t>
            </a:r>
            <a:r>
              <a:rPr dirty="0"/>
              <a:t>, </a:t>
            </a:r>
            <a:r>
              <a:rPr dirty="0" err="1"/>
              <a:t>além</a:t>
            </a:r>
            <a:r>
              <a:rPr dirty="0"/>
              <a:t> de </a:t>
            </a:r>
            <a:r>
              <a:rPr dirty="0" err="1"/>
              <a:t>exigir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 e </a:t>
            </a:r>
            <a:r>
              <a:rPr dirty="0" err="1"/>
              <a:t>latência</a:t>
            </a:r>
            <a:r>
              <a:rPr dirty="0"/>
              <a:t> </a:t>
            </a:r>
            <a:r>
              <a:rPr dirty="0" err="1"/>
              <a:t>sejam</a:t>
            </a:r>
            <a:r>
              <a:rPr dirty="0"/>
              <a:t> </a:t>
            </a:r>
            <a:r>
              <a:rPr dirty="0" err="1"/>
              <a:t>medidas</a:t>
            </a:r>
            <a:r>
              <a:rPr dirty="0"/>
              <a:t> com 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artefato</a:t>
            </a:r>
            <a:r>
              <a:rPr dirty="0"/>
              <a:t> do </a:t>
            </a:r>
            <a:r>
              <a:rPr dirty="0" err="1"/>
              <a:t>modelo</a:t>
            </a:r>
            <a:endParaRPr dirty="0" err="1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Na </a:t>
            </a:r>
            <a:r>
              <a:rPr dirty="0" err="1"/>
              <a:t>detecção</a:t>
            </a:r>
            <a:r>
              <a:rPr dirty="0"/>
              <a:t> do COCO, o RF-DETR </a:t>
            </a:r>
            <a:r>
              <a:rPr dirty="0" err="1"/>
              <a:t>oferece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pontos</a:t>
            </a:r>
            <a:r>
              <a:rPr dirty="0"/>
              <a:t> de </a:t>
            </a:r>
            <a:r>
              <a:rPr dirty="0" err="1"/>
              <a:t>operação</a:t>
            </a:r>
            <a:r>
              <a:rPr dirty="0"/>
              <a:t>. O Nano </a:t>
            </a:r>
            <a:r>
              <a:rPr dirty="0" err="1"/>
              <a:t>alcança</a:t>
            </a:r>
            <a:r>
              <a:rPr dirty="0"/>
              <a:t> 48,0 AP </a:t>
            </a:r>
            <a:r>
              <a:rPr dirty="0" err="1"/>
              <a:t>em</a:t>
            </a:r>
            <a:r>
              <a:rPr dirty="0"/>
              <a:t> 2,3 </a:t>
            </a:r>
            <a:r>
              <a:rPr dirty="0" err="1"/>
              <a:t>milissegundos</a:t>
            </a:r>
            <a:r>
              <a:rPr dirty="0"/>
              <a:t>; o Small, 52,9 AP </a:t>
            </a:r>
            <a:r>
              <a:rPr dirty="0" err="1"/>
              <a:t>em</a:t>
            </a:r>
            <a:r>
              <a:rPr dirty="0"/>
              <a:t> 3,5; o Medium, 54,7 AP </a:t>
            </a:r>
            <a:r>
              <a:rPr dirty="0" err="1"/>
              <a:t>em</a:t>
            </a:r>
            <a:r>
              <a:rPr dirty="0"/>
              <a:t> 4,4; e o 2XL, 60,1 AP </a:t>
            </a:r>
            <a:r>
              <a:rPr dirty="0" err="1"/>
              <a:t>em</a:t>
            </a:r>
            <a:r>
              <a:rPr dirty="0"/>
              <a:t> 17,2 </a:t>
            </a:r>
            <a:r>
              <a:rPr dirty="0" err="1"/>
              <a:t>milissegundos</a:t>
            </a:r>
            <a:r>
              <a:rPr dirty="0"/>
              <a:t>. </a:t>
            </a:r>
            <a:r>
              <a:rPr dirty="0" err="1"/>
              <a:t>Comparado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D-FINE Nano, o RF-DETR Nano </a:t>
            </a:r>
            <a:r>
              <a:rPr dirty="0" err="1"/>
              <a:t>ganha</a:t>
            </a:r>
            <a:r>
              <a:rPr dirty="0"/>
              <a:t> 5,3 </a:t>
            </a:r>
            <a:r>
              <a:rPr dirty="0" err="1"/>
              <a:t>pontos</a:t>
            </a:r>
            <a:r>
              <a:rPr dirty="0"/>
              <a:t> de AP com </a:t>
            </a:r>
            <a:r>
              <a:rPr dirty="0" err="1"/>
              <a:t>latência</a:t>
            </a:r>
            <a:r>
              <a:rPr dirty="0"/>
              <a:t> </a:t>
            </a:r>
            <a:r>
              <a:rPr dirty="0" err="1"/>
              <a:t>semelhante</a:t>
            </a:r>
            <a:r>
              <a:rPr dirty="0"/>
              <a:t>. Segundo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, o 2XL </a:t>
            </a:r>
            <a:r>
              <a:rPr dirty="0" err="1"/>
              <a:t>foi</a:t>
            </a:r>
            <a:r>
              <a:rPr dirty="0"/>
              <a:t> o </a:t>
            </a:r>
            <a:r>
              <a:rPr dirty="0" err="1"/>
              <a:t>primeiro</a:t>
            </a:r>
            <a:r>
              <a:rPr dirty="0"/>
              <a:t> detector </a:t>
            </a:r>
            <a:r>
              <a:rPr dirty="0" err="1"/>
              <a:t>em</a:t>
            </a:r>
            <a:r>
              <a:rPr dirty="0"/>
              <a:t> tempo real a </a:t>
            </a:r>
            <a:r>
              <a:rPr dirty="0" err="1"/>
              <a:t>ultrapassar</a:t>
            </a:r>
            <a:r>
              <a:rPr dirty="0"/>
              <a:t> 60 AP no COCO.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Na </a:t>
            </a:r>
            <a:r>
              <a:rPr dirty="0" err="1"/>
              <a:t>segmentação</a:t>
            </a:r>
            <a:r>
              <a:rPr dirty="0"/>
              <a:t> de </a:t>
            </a:r>
            <a:r>
              <a:rPr dirty="0" err="1"/>
              <a:t>instâncias</a:t>
            </a:r>
            <a:r>
              <a:rPr dirty="0"/>
              <a:t> do COCO, o RF-DETR-Seg Nano </a:t>
            </a:r>
            <a:r>
              <a:rPr dirty="0" err="1"/>
              <a:t>alcança</a:t>
            </a:r>
            <a:r>
              <a:rPr dirty="0"/>
              <a:t> 40,3 AP </a:t>
            </a:r>
            <a:r>
              <a:rPr dirty="0" err="1"/>
              <a:t>em</a:t>
            </a:r>
            <a:r>
              <a:rPr dirty="0"/>
              <a:t> 3,4 </a:t>
            </a:r>
            <a:r>
              <a:rPr dirty="0" err="1"/>
              <a:t>milissegundos</a:t>
            </a:r>
            <a:r>
              <a:rPr dirty="0"/>
              <a:t>. O Small </a:t>
            </a:r>
            <a:r>
              <a:rPr dirty="0" err="1"/>
              <a:t>chega</a:t>
            </a:r>
            <a:r>
              <a:rPr dirty="0"/>
              <a:t> a 43,1 AP, o Medium a 45,3 e o 2XL a 49,9. Um </a:t>
            </a:r>
            <a:r>
              <a:rPr dirty="0" err="1"/>
              <a:t>destaque</a:t>
            </a:r>
            <a:r>
              <a:rPr dirty="0"/>
              <a:t> é </a:t>
            </a:r>
            <a:r>
              <a:rPr dirty="0" err="1"/>
              <a:t>que</a:t>
            </a:r>
            <a:r>
              <a:rPr dirty="0"/>
              <a:t> o Nano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supera</a:t>
            </a:r>
            <a:r>
              <a:rPr dirty="0"/>
              <a:t> o YOLOv11-Seg Medium,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obtém</a:t>
            </a:r>
            <a:r>
              <a:rPr dirty="0"/>
              <a:t> 38,5 AP </a:t>
            </a:r>
            <a:r>
              <a:rPr dirty="0" err="1"/>
              <a:t>em</a:t>
            </a:r>
            <a:r>
              <a:rPr dirty="0"/>
              <a:t> 6,9 </a:t>
            </a:r>
            <a:r>
              <a:rPr dirty="0" err="1"/>
              <a:t>milissegundos</a:t>
            </a:r>
            <a:r>
              <a:rPr dirty="0"/>
              <a:t>. </a:t>
            </a:r>
            <a:r>
              <a:rPr dirty="0" err="1"/>
              <a:t>Portanto</a:t>
            </a:r>
            <a:r>
              <a:rPr dirty="0"/>
              <a:t>, o RF-DETR-Seg Nano </a:t>
            </a:r>
            <a:r>
              <a:rPr dirty="0" err="1"/>
              <a:t>apresenta</a:t>
            </a:r>
            <a:r>
              <a:rPr dirty="0"/>
              <a:t> 1,8 </a:t>
            </a:r>
            <a:r>
              <a:rPr dirty="0" err="1"/>
              <a:t>ponto</a:t>
            </a:r>
            <a:r>
              <a:rPr dirty="0"/>
              <a:t> a </a:t>
            </a:r>
            <a:r>
              <a:rPr dirty="0" err="1"/>
              <a:t>mais</a:t>
            </a:r>
            <a:r>
              <a:rPr dirty="0"/>
              <a:t> de AP com </a:t>
            </a:r>
            <a:r>
              <a:rPr dirty="0" err="1"/>
              <a:t>aproximadamente</a:t>
            </a:r>
            <a:r>
              <a:rPr dirty="0"/>
              <a:t> </a:t>
            </a:r>
            <a:r>
              <a:rPr dirty="0" err="1"/>
              <a:t>metade</a:t>
            </a:r>
            <a:r>
              <a:rPr dirty="0"/>
              <a:t> da </a:t>
            </a:r>
            <a:r>
              <a:rPr dirty="0" err="1"/>
              <a:t>latência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autores também avaliaram o modelo no RF100-VL, que reúne 100 conjuntos de dados diferentes.</a:t>
            </a:r>
          </a:p>
          <a:p>
            <a:r>
              <a:t>Esse benchmark é importante porque representa melhor aplicações reais e permite avaliar a capacidade de transferência do modelo.</a:t>
            </a:r>
          </a:p>
          <a:p>
            <a:r>
              <a:t>O RF-DETR 2XL ajustado alcançou 63,5 AP, superando o GroundingDINO Tiny. Além disso, apresentou latência de 15,6 milissegundos, sendo aproximadamente 20 vezes mais rápido.</a:t>
            </a:r>
          </a:p>
          <a:p>
            <a:r>
              <a:t>Na segmentação do COCO, o RF-DETR-Seg Nano alcançou 40,3 AP com latência de apenas 3,4 milissegundos.</a:t>
            </a:r>
          </a:p>
          <a:p>
            <a:r>
              <a:t>Portanto, o desempenho do modelo não ficou limitado ao benchmark tradicional de detecção.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Apesar dos resultados positivos, o trabalho possui algumas limitações.</a:t>
            </a:r>
          </a:p>
          <a:p>
            <a:r>
              <a:t>A busca completa de arquiteturas exige um custo computacional elevado. A medição de latência também pode variar conforme o artefato, a quantização e as condições da GPU.</a:t>
            </a:r>
          </a:p>
          <a:p>
            <a:r>
              <a:t>Outra limitação é que o artigo não informa claramente um número único de épocas para todos os conjuntos-alvo. Além disso, o ajuste fino depois da NAS pode remover parte da regularização e causar sobreajuste.</a:t>
            </a:r>
          </a:p>
          <a:p>
            <a:r>
              <a:t>Mesmo assim, a principal conclusão é que a combinação de DINOv2, DETR e NAS permite obter precisão, velocidade e flexibilidade.</a:t>
            </a:r>
          </a:p>
          <a:p>
            <a:r>
              <a:t>Um único treinamento pode gerar diferentes configurações sem a necessidade de treinar cada variante separadamente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Para concluir, o RF-DETR apresenta uma abordagem flexível para detecção e segmentação de objetos em tempo real.</a:t>
            </a:r>
            <a:endParaRPr>
              <a:solidFill>
                <a:srgbClr val="444444"/>
              </a:solidFill>
            </a:endParaRPr>
          </a:p>
          <a:p>
            <a:r>
              <a:rPr>
                <a:solidFill>
                  <a:srgbClr val="000000"/>
                </a:solidFill>
              </a:rPr>
              <a:t>Seu principal diferencial é permitir a escolha de diferentes pontos entre precisão e velocidade a partir de uma super-rede com pesos compartilhados.</a:t>
            </a:r>
            <a:endParaRPr>
              <a:solidFill>
                <a:srgbClr val="444444"/>
              </a:solidFill>
            </a:endParaRPr>
          </a:p>
          <a:p>
            <a:r>
              <a:rPr>
                <a:solidFill>
                  <a:srgbClr val="000000"/>
                </a:solidFill>
              </a:rPr>
              <a:t>Dessa forma, o modelo pode ser adaptado para diferentes hardwares e aplicações.</a:t>
            </a:r>
            <a:endParaRPr>
              <a:solidFill>
                <a:srgbClr val="444444"/>
              </a:solidFill>
            </a:endParaRPr>
          </a:p>
          <a:p>
            <a:r>
              <a:rPr>
                <a:solidFill>
                  <a:srgbClr val="000000"/>
                </a:solidFill>
              </a:rPr>
              <a:t>Obrigado pela atenção. Agora fico à disposição para dúvidas.</a:t>
            </a:r>
            <a:endParaRPr>
              <a:solidFill>
                <a:srgbClr val="444444"/>
              </a:solidFill>
            </a:endParaRP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A123A-7E8D-47FF-9D41-1C0352CD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027" y="1828799"/>
            <a:ext cx="9758566" cy="3048001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marL="0">
              <a:buNone/>
              <a:defRPr sz="4400">
                <a:solidFill>
                  <a:srgbClr val="CBCBCB"/>
                </a:solidFill>
              </a:defRPr>
            </a:lvl1pPr>
          </a:lstStyle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478B52-ACCA-48F8-9546-889F8117A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285" y="5029200"/>
            <a:ext cx="9749307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82789C-65B0-46E6-84A8-AB1C6B8B37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Adicionar um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D5035B-91A2-4D55-B29F-2CD7B180C9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2894448B-5AE4-4A52-87B1-0ED7AA1BF8E1}" type="datetime1">
              <a:t>17/08/2026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6FF557F-E4C7-4E95-8C54-2DD94764B0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8AC67-DC7F-4E2E-8AFD-3E883FC4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B92670-F110-45E4-9184-EB9ACCE3D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/>
            </a:lvl6pPr>
            <a:lvl7pPr>
              <a:buNone/>
              <a:defRPr baseline="0"/>
            </a:lvl7pPr>
            <a:lvl8pPr>
              <a:buNone/>
              <a:defRPr baseline="0"/>
            </a:lvl8pPr>
            <a:lvl9pPr>
              <a:buNone/>
              <a:defRPr baseline="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9163FC-5005-459A-9C2A-45FA50BDB8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93CA4C-DE77-4341-819E-C66B9D029D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68AFF84-C7CF-4DC0-B5A1-C5E5A9B75282}" type="datetime1">
              <a:t>17/08/2026</a:t>
            </a:fld>
            <a:endParaRPr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56A1D4-0850-4A9E-9868-6E410AF235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FFACB-8B82-4CA0-AD9D-C7CCD984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219391-25FA-4234-8F2A-2E0FE8178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27" y="1828800"/>
            <a:ext cx="5049338" cy="4343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600"/>
            </a:lvl6pPr>
            <a:lvl7pPr>
              <a:buNone/>
              <a:defRPr sz="1600" baseline="0"/>
            </a:lvl7pPr>
            <a:lvl8pPr>
              <a:buNone/>
              <a:defRPr sz="1600" baseline="0"/>
            </a:lvl8pPr>
            <a:lvl9pPr>
              <a:buNone/>
              <a:defRPr sz="1600" baseline="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6AACA9-8648-496F-93E2-E7AD513668F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78389" y="1828800"/>
            <a:ext cx="4464496" cy="4343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7C381E-4796-4090-966D-FC430B4441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12CEF3-CC57-4545-9447-742158504B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6BEDDED-DAF7-46A3-87E6-F4FD3172A0A9}" type="datetime1">
              <a:t>17/08/2026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ED7B867B-EB4B-48EC-B855-0CEFC50E84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C8ACD-7CC2-4412-A4B2-4C95223F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DDD2A8-0EA1-481C-A228-4FDA1C1D2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26" y="1828800"/>
            <a:ext cx="5625401" cy="4343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600"/>
            </a:lvl6pPr>
            <a:lvl7pPr>
              <a:buNone/>
              <a:defRPr sz="1600" baseline="0"/>
            </a:lvl7pPr>
            <a:lvl8pPr>
              <a:buNone/>
              <a:defRPr sz="1600" baseline="0"/>
            </a:lvl8pPr>
            <a:lvl9pPr>
              <a:buNone/>
              <a:defRPr sz="1600" baseline="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E5A9BA-1800-4989-86E0-E6BD42E534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B789A1-480A-477B-BB6A-6BFC954088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6BEDDED-DAF7-46A3-87E6-F4FD3172A0A9}" type="datetime1">
              <a:t>17/08/2026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0BF2DD2-60A1-4985-98F0-ED1F2851BA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3E327DE-279C-4309-BC78-7BD177839F5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742484" y="908721"/>
            <a:ext cx="3628654" cy="5328568"/>
          </a:xfrm>
        </p:spPr>
        <p:txBody>
          <a:bodyPr anchor="ctr">
            <a:normAutofit/>
          </a:bodyPr>
          <a:lstStyle>
            <a:lvl1pPr marL="4572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C52DB-3E30-4C5A-AE15-D22BC988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9B7A40-3D66-4E4A-BC68-1CF7E9C3E5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B93A3B-D1A0-4903-928E-B54BDD0109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6BEDDED-DAF7-46A3-87E6-F4FD3172A0A9}" type="datetime1">
              <a:t>17/08/2026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C3F94DC-EFC5-4B34-BA2A-196042E11E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EDC9449-21F9-496E-8B53-F301DAA9A00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2673" y="191611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BFA114BB-A60F-42E9-A78D-E68276371D4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096732" y="192178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/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2CBD0BB1-4192-43A3-97EA-9A13AB98560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590684" y="191611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3AAB4EFC-8951-41BA-999F-BA1E7BEA778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02671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8" name="Espaço Reservado para Texto 16">
            <a:extLst>
              <a:ext uri="{FF2B5EF4-FFF2-40B4-BE49-F238E27FC236}">
                <a16:creationId xmlns:a16="http://schemas.microsoft.com/office/drawing/2014/main" id="{EA22126E-886E-4CB7-82E3-C51C7B3671B6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096668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9" name="Espaço Reservado para Texto 16">
            <a:extLst>
              <a:ext uri="{FF2B5EF4-FFF2-40B4-BE49-F238E27FC236}">
                <a16:creationId xmlns:a16="http://schemas.microsoft.com/office/drawing/2014/main" id="{543EBA4E-38C3-445A-BE2C-AFFE1952412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590356" y="386466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20" name="Espaço Reservado para Imagem 14">
            <a:extLst>
              <a:ext uri="{FF2B5EF4-FFF2-40B4-BE49-F238E27FC236}">
                <a16:creationId xmlns:a16="http://schemas.microsoft.com/office/drawing/2014/main" id="{CE86D088-5B0B-4298-BEB1-8ECFC81F87B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8084327" y="191225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/>
          </a:p>
        </p:txBody>
      </p:sp>
      <p:sp>
        <p:nvSpPr>
          <p:cNvPr id="21" name="Espaço Reservado para Texto 16">
            <a:extLst>
              <a:ext uri="{FF2B5EF4-FFF2-40B4-BE49-F238E27FC236}">
                <a16:creationId xmlns:a16="http://schemas.microsoft.com/office/drawing/2014/main" id="{ECF3EFEA-E7BD-4894-A064-438DC32B06F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083999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20371-B20C-474C-B97B-56377C5F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11423004" cy="1325562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4AD13E-5756-4215-8D7B-7499FD429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3026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EF1E5C-1E43-4C86-A3E8-9F301EDFAC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3026" y="2743200"/>
            <a:ext cx="4709160" cy="3428999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6BA66A-5DEA-469B-9FC5-44001EC9D44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657466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F5399E-C28D-4F5F-8EA7-2060FD6C09C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657466" y="2743200"/>
            <a:ext cx="4709160" cy="3428999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 baseline="0"/>
            </a:lvl8pPr>
            <a:lvl9pPr>
              <a:buNone/>
              <a:defRPr sz="1400" baseline="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C3D27DF-168E-4316-967A-8E5E5FF131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C2A6099-A208-43BB-9499-EE1A7C5D7B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31E21C03-1418-4791-8E80-1AB8ADDC5309}" type="datetime1">
              <a:t>17/08/2026</a:t>
            </a:fld>
            <a:endParaRPr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6D72918B-7C06-484B-9227-4285119D0E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46E35-5723-40F6-A8CA-166FAE64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692AB7-7EE7-4AD8-B338-ADDE50C442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FBA07D8-BC1C-4DD9-B12B-097F2FC25B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916D8CC-B21A-495D-8E3A-7327C849E219}" type="datetime1">
              <a:t>17/08/2026</a:t>
            </a:fld>
            <a:endParaRPr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4C81AD2-A997-4F33-B233-F50E4CB7F4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4695C56-969D-4FCB-B073-C87F285E73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1BFF3F-0343-4F40-AF75-63750B1BAA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61909410-498E-4526-95B1-75B98C9EB916}" type="datetime1">
              <a:t>17/08/2026</a:t>
            </a:fld>
            <a:endParaRPr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9F65E34-80F8-4CF5-9020-2CE77CCDF3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E6B2FCF-75F5-43E7-A836-AA441CA8AD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00E21E-8BB0-4186-8D7E-7A9879AD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algn="l">
              <a:buNone/>
              <a:defRPr sz="4000" b="1">
                <a:solidFill>
                  <a:srgbClr val="CBCBCB"/>
                </a:solidFill>
              </a:defRPr>
            </a:lvl1pPr>
          </a:lstStyle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09D82B-C721-4F3B-8353-88CB54160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348" y="685800"/>
            <a:ext cx="4853245" cy="5486400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AC4B49-AE6B-4378-B564-64D1F2014A8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com legenda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C5E3DA0-2027-40B0-8C29-A817571F13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4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9C2678-3819-46C7-B14F-D5427B18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348" y="1988840"/>
            <a:ext cx="4853245" cy="4536504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FDFEB08C-B66D-4F1D-B0B0-E42D3340FEE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5180013" cy="6858000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F2CF90C0-AD82-4B3E-86C1-BB2DA502F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348" y="274638"/>
            <a:ext cx="4853246" cy="1570186"/>
          </a:xfrm>
          <a:prstGeom prst="rect">
            <a:avLst/>
          </a:prstGeom>
          <a:noFill/>
        </p:spPr>
        <p:txBody>
          <a:bodyPr anchor="b"/>
          <a:lstStyle>
            <a:lvl1pPr marL="0">
              <a:buNone/>
              <a:defRPr>
                <a:solidFill>
                  <a:srgbClr val="CBCBCB"/>
                </a:solidFill>
              </a:defRPr>
            </a:lvl1pPr>
          </a:lstStyle>
          <a:p>
            <a:r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com legenda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32BC9D7-EE84-4682-8F5B-1A8CDF1EA0B1}"/>
              </a:ext>
            </a:extLst>
          </p:cNvPr>
          <p:cNvSpPr>
            <a:spLocks noGrp="1"/>
          </p:cNvSpPr>
          <p:nvPr/>
        </p:nvSpPr>
        <p:spPr>
          <a:xfrm>
            <a:off x="5950396" y="0"/>
            <a:ext cx="5040560" cy="6857999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4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306AA7-5973-463F-B949-2753C90AB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88" y="1988840"/>
            <a:ext cx="4464497" cy="4550296"/>
          </a:xfrm>
        </p:spPr>
        <p:txBody>
          <a:bodyPr>
            <a:normAutofit/>
          </a:bodyPr>
          <a:lstStyle>
            <a:lvl1pPr marL="45720" indent="0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274320" indent="0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2pPr>
            <a:lvl3pPr marL="502920" indent="0"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3pPr>
            <a:lvl4pPr marL="7315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4pPr>
            <a:lvl5pPr marL="9601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895CB0B5-6730-447F-8E42-A39AA23ED8A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374332" y="274638"/>
            <a:ext cx="1964702" cy="3047348"/>
          </a:xfrm>
          <a:prstGeom prst="rect">
            <a:avLst/>
          </a:prstGeom>
          <a:ln>
            <a:solidFill>
              <a:srgbClr val="CBCBCB"/>
            </a:solidFill>
          </a:ln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B7395C-67B5-4A6A-8800-FCB5A529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87" y="274638"/>
            <a:ext cx="4464497" cy="1570186"/>
          </a:xfrm>
          <a:prstGeom prst="rect">
            <a:avLst/>
          </a:prstGeom>
          <a:noFill/>
        </p:spPr>
        <p:txBody>
          <a:bodyPr anchor="b"/>
          <a:lstStyle>
            <a:lvl1pPr marL="0">
              <a:buNone/>
              <a:defRPr>
                <a:solidFill>
                  <a:srgbClr val="CBCBCB"/>
                </a:solidFill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9" name="Espaço Reservado para Imagem 10">
            <a:extLst>
              <a:ext uri="{FF2B5EF4-FFF2-40B4-BE49-F238E27FC236}">
                <a16:creationId xmlns:a16="http://schemas.microsoft.com/office/drawing/2014/main" id="{43EB7749-8B84-48BB-9D6F-6D775924C9E8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374332" y="3491788"/>
            <a:ext cx="1964702" cy="3047348"/>
          </a:xfrm>
          <a:prstGeom prst="rect">
            <a:avLst/>
          </a:prstGeom>
          <a:ln>
            <a:solidFill>
              <a:srgbClr val="CBCBCB"/>
            </a:solidFill>
          </a:ln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4DFA2C23-7A08-45FE-8405-3A8E4DD4A9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462565" y="274638"/>
            <a:ext cx="3096343" cy="3047348"/>
          </a:xfrm>
        </p:spPr>
        <p:txBody>
          <a:bodyPr anchor="ctr">
            <a:normAutofit/>
          </a:bodyPr>
          <a:lstStyle>
            <a:lvl1pPr marL="457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  <a:lvl2pPr marL="560070" indent="-285750"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2pPr>
            <a:lvl3pPr marL="674370" indent="-171450">
              <a:buClr>
                <a:schemeClr val="bg1"/>
              </a:buClr>
              <a:buFont typeface="Arial"/>
              <a:buChar char="•"/>
              <a:defRPr sz="1200">
                <a:solidFill>
                  <a:schemeClr val="bg1"/>
                </a:solidFill>
              </a:defRPr>
            </a:lvl3pPr>
            <a:lvl4pPr marL="902970" indent="-171450">
              <a:buClr>
                <a:schemeClr val="bg1"/>
              </a:buClr>
              <a:buFont typeface="Arial"/>
              <a:buChar char="•"/>
              <a:defRPr sz="1100">
                <a:solidFill>
                  <a:schemeClr val="bg1"/>
                </a:solidFill>
              </a:defRPr>
            </a:lvl4pPr>
            <a:lvl5pPr marL="1131570" indent="-171450">
              <a:buClr>
                <a:schemeClr val="bg1"/>
              </a:buClr>
              <a:buFont typeface="Arial"/>
              <a:buChar char="•"/>
              <a:defRPr sz="11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A4C99E34-E585-42C7-B0C4-491DBF6AD548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470525" y="3491788"/>
            <a:ext cx="3096343" cy="3047348"/>
          </a:xfrm>
        </p:spPr>
        <p:txBody>
          <a:bodyPr anchor="ctr">
            <a:normAutofit/>
          </a:bodyPr>
          <a:lstStyle>
            <a:lvl1pPr marL="457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  <a:lvl2pPr marL="560070" indent="-285750"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2pPr>
            <a:lvl3pPr marL="674370" indent="-171450">
              <a:buClr>
                <a:schemeClr val="bg1"/>
              </a:buClr>
              <a:buFont typeface="Arial"/>
              <a:buChar char="•"/>
              <a:defRPr sz="1200">
                <a:solidFill>
                  <a:schemeClr val="bg1"/>
                </a:solidFill>
              </a:defRPr>
            </a:lvl3pPr>
            <a:lvl4pPr marL="902970" indent="-171450">
              <a:buClr>
                <a:schemeClr val="bg1"/>
              </a:buClr>
              <a:buFont typeface="Arial"/>
              <a:buChar char="•"/>
              <a:defRPr sz="1100">
                <a:solidFill>
                  <a:schemeClr val="bg1"/>
                </a:solidFill>
              </a:defRPr>
            </a:lvl4pPr>
            <a:lvl5pPr marL="1131570" indent="-171450">
              <a:buClr>
                <a:schemeClr val="bg1"/>
              </a:buClr>
              <a:buFont typeface="Arial"/>
              <a:buChar char="•"/>
              <a:defRPr sz="11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BB23DD-5F8C-431D-B837-BD6D491E7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04" y="1828800"/>
            <a:ext cx="5544616" cy="4480520"/>
          </a:xfrm>
        </p:spPr>
        <p:txBody>
          <a:bodyPr anchor="b">
            <a:normAutofit/>
          </a:bodyPr>
          <a:lstStyle>
            <a:lvl1pPr marL="388620" indent="-342900">
              <a:buClr>
                <a:schemeClr val="bg1"/>
              </a:buClr>
              <a:buFont typeface="Arial"/>
              <a:buChar char="•"/>
              <a:defRPr sz="2000">
                <a:solidFill>
                  <a:schemeClr val="bg1"/>
                </a:solidFill>
              </a:defRPr>
            </a:lvl1pPr>
            <a:lvl2pPr marL="2743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029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 marL="7315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 marL="9601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  <a:lvl6pPr>
              <a:buNone/>
              <a:defRPr/>
            </a:lvl6pPr>
            <a:lvl7pPr>
              <a:buNone/>
              <a:defRPr baseline="0"/>
            </a:lvl7pPr>
            <a:lvl8pPr>
              <a:buNone/>
              <a:defRPr baseline="0"/>
            </a:lvl8pPr>
            <a:lvl9pPr>
              <a:buNone/>
              <a:defRPr baseline="0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953F13D-088C-48C9-BF08-E62FE70C6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11423004" cy="1325562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/>
          <a:p>
            <a:pPr>
              <a:buNone/>
            </a:pPr>
            <a:r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B339F5-F36B-431B-AFCF-10030A8C4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804" y="1828800"/>
            <a:ext cx="9721080" cy="43434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1C5EC-8234-4FB7-9E76-5842FC51ABA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13026" y="6448427"/>
            <a:ext cx="6616043" cy="18097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Adicionar um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1BEBFE-88BD-4BDD-8177-CBC4E1B0F2C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556003" y="6448427"/>
            <a:ext cx="1391604" cy="18097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8EB16A4D-B1E0-4F33-84EC-EFA959A70698}" type="datetime1">
              <a:t>17/08/2026</a:t>
            </a:fld>
            <a:endParaRPr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074998D-7334-4357-A887-F65D729163C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9232403" y="6448427"/>
            <a:ext cx="1139190" cy="18097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540000" algn="l" defTabSz="914400">
        <a:lnSpc>
          <a:spcPct val="90000"/>
        </a:lnSpc>
        <a:spcBef>
          <a:spcPct val="0"/>
        </a:spcBef>
        <a:buNone/>
        <a:defRPr sz="4000" b="1" kern="1200" cap="all" baseline="0">
          <a:solidFill>
            <a:srgbClr val="000953"/>
          </a:solidFill>
          <a:latin typeface="+mj-lt"/>
          <a:ea typeface="+mj-lt"/>
          <a:cs typeface="+mj-lt"/>
        </a:defRPr>
      </a:lvl1pPr>
    </p:titleStyle>
    <p:bodyStyle>
      <a:lvl1pPr marL="274320" indent="-228600" algn="l" defTabSz="914400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02920" indent="-228600" algn="l" defTabSz="914400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731520" indent="-228600" algn="l" defTabSz="914400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960120" indent="-228600" algn="l" defTabSz="914400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188720" indent="-228600" algn="l" defTabSz="914400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417320" indent="-228600" algn="l" defTabSz="914400"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645920" indent="-228600" algn="l" defTabSz="914400"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874520" indent="-228600" algn="l" defTabSz="914400"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1874520" indent="0" algn="l" defTabSz="914400"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None/>
        <a:defRPr sz="1600" kern="1200" baseline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6A93FB7-6ECB-4250-BDE7-D0320746FC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RF-DETR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9D72258B-648F-49D7-900D-1A522BFC48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Busca de arquitetura neural para detecção em tempo real
Robinson et al. (2025)</a:t>
            </a:r>
          </a:p>
        </p:txBody>
      </p:sp>
    </p:spTree>
    <p:extLst>
      <p:ext uri="{BB962C8B-B14F-4D97-AF65-F5344CB8AC3E}">
        <p14:creationId xmlns:p14="http://schemas.microsoft.com/office/powerpoint/2010/main" val="28870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199136F5-7C67-B276-7D79-02F6BD106729}"/>
              </a:ext>
            </a:extLst>
          </p:cNvPr>
          <p:cNvSpPr>
            <a:spLocks noGrp="1"/>
          </p:cNvSpPr>
          <p:nvPr/>
        </p:nvSpPr>
        <p:spPr>
          <a:xfrm>
            <a:off x="385979" y="-2932"/>
            <a:ext cx="10976081" cy="1325562"/>
          </a:xfrm>
          <a:prstGeom prst="rect">
            <a:avLst/>
          </a:prstGeom>
          <a:noFill/>
        </p:spPr>
        <p:txBody>
          <a:bodyPr vert="horz" lIns="91440" tIns="45720" rIns="91440" bIns="45720" anchor="b">
            <a:normAutofit/>
          </a:bodyPr>
          <a:lstStyle>
            <a:lvl1pPr marL="0"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rgbClr val="CBCBCB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44A3C4D-4D0A-6BF7-9F5B-EB5375052216}"/>
              </a:ext>
            </a:extLst>
          </p:cNvPr>
          <p:cNvSpPr>
            <a:spLocks noGrp="1"/>
          </p:cNvSpPr>
          <p:nvPr/>
        </p:nvSpPr>
        <p:spPr>
          <a:xfrm>
            <a:off x="386093" y="1527502"/>
            <a:ext cx="10640042" cy="4104861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20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dirty="0" err="1"/>
              <a:t>Problema</a:t>
            </a:r>
            <a:r>
              <a:rPr dirty="0"/>
              <a:t> e </a:t>
            </a:r>
            <a:r>
              <a:rPr dirty="0" err="1"/>
              <a:t>arquitetura</a:t>
            </a:r>
            <a:endParaRPr lang="pt-BR" dirty="0" err="1"/>
          </a:p>
          <a:p>
            <a:pPr>
              <a:lnSpc>
                <a:spcPct val="150000"/>
              </a:lnSpc>
            </a:pPr>
            <a:r>
              <a:rPr dirty="0"/>
              <a:t>Backbone e </a:t>
            </a:r>
            <a:r>
              <a:rPr dirty="0" err="1"/>
              <a:t>ablações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NAS e </a:t>
            </a:r>
            <a:r>
              <a:rPr dirty="0" err="1"/>
              <a:t>arquiteturas</a:t>
            </a:r>
            <a:r>
              <a:rPr dirty="0"/>
              <a:t> </a:t>
            </a:r>
            <a:r>
              <a:rPr dirty="0" err="1"/>
              <a:t>descobertas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Treinamento</a:t>
            </a:r>
            <a:r>
              <a:rPr dirty="0"/>
              <a:t> e </a:t>
            </a:r>
            <a:r>
              <a:rPr dirty="0" err="1"/>
              <a:t>métricas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Resultados</a:t>
            </a:r>
            <a:r>
              <a:rPr dirty="0"/>
              <a:t> e </a:t>
            </a:r>
            <a:r>
              <a:rPr dirty="0" err="1"/>
              <a:t>conclusões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56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O PROBLEMA: PRECISÃO OU VELOCIDADE?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0226D6-3A15-093C-3DE1-64FF7EC7C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Modelos de vocabulário aberto têm boa transferência, mas são pesados e lentos.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Detectores especializados são rápidos, porém podem ficar excessivamente ajustados ao COCO.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O desafio é combinar precisão, latência e generalização.</a:t>
            </a:r>
            <a:endParaRPr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D0E11FF-2718-43B5-80A5-0D842F08F973}"/>
              </a:ext>
            </a:extLst>
          </p:cNvPr>
          <p:cNvSpPr>
            <a:spLocks noGrp="1"/>
          </p:cNvSpPr>
          <p:nvPr/>
        </p:nvSpPr>
        <p:spPr>
          <a:xfrm>
            <a:off x="6715125" y="2524125"/>
            <a:ext cx="1714500" cy="1000125"/>
          </a:xfrm>
          <a:prstGeom prst="roundRect">
            <a:avLst>
              <a:gd name="adj" fmla="val 11429"/>
            </a:avLst>
          </a:prstGeom>
          <a:solidFill>
            <a:srgbClr val="EEF0FF"/>
          </a:solidFill>
          <a:ln w="19050">
            <a:solidFill>
              <a:srgbClr val="071B5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71B5B"/>
                </a:solidFill>
              </a:defRPr>
            </a:pPr>
            <a:r>
              <a:rPr sz="1500" b="1">
                <a:solidFill>
                  <a:srgbClr val="071B5B"/>
                </a:solidFill>
              </a:rPr>
              <a:t>VLMs</a:t>
            </a:r>
          </a:p>
          <a:p>
            <a:pPr algn="ctr">
              <a:buNone/>
              <a:defRPr sz="1500" b="1">
                <a:solidFill>
                  <a:srgbClr val="071B5B"/>
                </a:solidFill>
              </a:defRPr>
            </a:pPr>
            <a:r>
              <a:rPr sz="1500" b="1">
                <a:solidFill>
                  <a:srgbClr val="071B5B"/>
                </a:solidFill>
              </a:rPr>
              <a:t>mais gerais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2614479-08A0-423C-96F5-9399E221FE04}"/>
              </a:ext>
            </a:extLst>
          </p:cNvPr>
          <p:cNvSpPr>
            <a:spLocks noGrp="1"/>
          </p:cNvSpPr>
          <p:nvPr/>
        </p:nvSpPr>
        <p:spPr>
          <a:xfrm>
            <a:off x="9048750" y="2524125"/>
            <a:ext cx="1714500" cy="1000125"/>
          </a:xfrm>
          <a:prstGeom prst="roundRect">
            <a:avLst>
              <a:gd name="adj" fmla="val 11429"/>
            </a:avLst>
          </a:prstGeom>
          <a:solidFill>
            <a:srgbClr val="E8F7FF"/>
          </a:solidFill>
          <a:ln w="19050">
            <a:solidFill>
              <a:srgbClr val="18A0F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71B5B"/>
                </a:solidFill>
              </a:defRPr>
            </a:pPr>
            <a:r>
              <a:rPr sz="1500" b="1">
                <a:solidFill>
                  <a:srgbClr val="071B5B"/>
                </a:solidFill>
              </a:rPr>
              <a:t>Detectores</a:t>
            </a:r>
          </a:p>
          <a:p>
            <a:pPr algn="ctr">
              <a:buNone/>
              <a:defRPr sz="1500" b="1">
                <a:solidFill>
                  <a:srgbClr val="071B5B"/>
                </a:solidFill>
              </a:defRPr>
            </a:pPr>
            <a:r>
              <a:rPr sz="1500" b="1">
                <a:solidFill>
                  <a:srgbClr val="071B5B"/>
                </a:solidFill>
              </a:rPr>
              <a:t>mais rápidos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96D8252-AD5C-4B28-8B62-7734C4465C57}"/>
              </a:ext>
            </a:extLst>
          </p:cNvPr>
          <p:cNvSpPr>
            <a:spLocks noGrp="1"/>
          </p:cNvSpPr>
          <p:nvPr/>
        </p:nvSpPr>
        <p:spPr>
          <a:xfrm>
            <a:off x="6715125" y="3714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ALTA PRECISÃO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3E53A13-EF67-49A3-AC43-BFE6CBFEA905}"/>
              </a:ext>
            </a:extLst>
          </p:cNvPr>
          <p:cNvSpPr>
            <a:spLocks noGrp="1"/>
          </p:cNvSpPr>
          <p:nvPr/>
        </p:nvSpPr>
        <p:spPr>
          <a:xfrm>
            <a:off x="9048750" y="3714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57B8"/>
                </a:solidFill>
              </a:defRPr>
            </a:pPr>
            <a:r>
              <a:rPr sz="1200" b="1">
                <a:solidFill>
                  <a:srgbClr val="0057B8"/>
                </a:solidFill>
              </a:rPr>
              <a:t>BAIXA LATÊNCIA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CA70837-50FA-484D-B061-5E037DB8B814}"/>
              </a:ext>
            </a:extLst>
          </p:cNvPr>
          <p:cNvSpPr>
            <a:spLocks noGrp="1"/>
          </p:cNvSpPr>
          <p:nvPr/>
        </p:nvSpPr>
        <p:spPr>
          <a:xfrm>
            <a:off x="7572375" y="4476750"/>
            <a:ext cx="2381250" cy="904875"/>
          </a:xfrm>
          <a:prstGeom prst="roundRect">
            <a:avLst>
              <a:gd name="adj" fmla="val 12632"/>
            </a:avLst>
          </a:prstGeom>
          <a:solidFill>
            <a:srgbClr val="F8FAE8"/>
          </a:solidFill>
          <a:ln w="19050">
            <a:solidFill>
              <a:srgbClr val="C6D9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71B5B"/>
                </a:solidFill>
              </a:defRPr>
            </a:pPr>
            <a:r>
              <a:rPr sz="1500" b="1">
                <a:solidFill>
                  <a:srgbClr val="071B5B"/>
                </a:solidFill>
              </a:rPr>
              <a:t>RF-DETR</a:t>
            </a:r>
          </a:p>
          <a:p>
            <a:pPr algn="ctr">
              <a:buNone/>
              <a:defRPr sz="1500" b="1">
                <a:solidFill>
                  <a:srgbClr val="071B5B"/>
                </a:solidFill>
              </a:defRPr>
            </a:pPr>
            <a:r>
              <a:rPr sz="1500" b="1">
                <a:solidFill>
                  <a:srgbClr val="071B5B"/>
                </a:solidFill>
              </a:rPr>
              <a:t>une os dois objetivos</a:t>
            </a:r>
          </a:p>
        </p:txBody>
      </p:sp>
      <p:cxnSp>
        <p:nvCxnSpPr>
          <p:cNvPr id="65" name="Conector de Seta Reta 28"/>
          <p:cNvCxnSpPr>
            <a:stCxn id="15" idx="2"/>
            <a:endCxn id="19" idx="1"/>
          </p:cNvCxnSpPr>
          <p:nvPr/>
        </p:nvCxnSpPr>
        <p:spPr>
          <a:xfrm>
            <a:off x="7572375" y="3524250"/>
            <a:ext cx="0" cy="1404938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66" name="Conector de Seta Reta 29"/>
          <p:cNvCxnSpPr>
            <a:stCxn id="16" idx="2"/>
            <a:endCxn id="19" idx="3"/>
          </p:cNvCxnSpPr>
          <p:nvPr/>
        </p:nvCxnSpPr>
        <p:spPr>
          <a:xfrm>
            <a:off x="9906000" y="3524250"/>
            <a:ext cx="47625" cy="1404938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7148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C9A733B6-04BE-71EB-0839-EAE5CAC59A28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A PROPOSTA DO RF-DETR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2FF579-5328-3E69-7886-FFC920410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O modelo moderniza o LW-DETR e combina três ideias: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Conhecimento visual do DINOv2;</a:t>
            </a:r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Detecção end-to-end sem NMS;</a:t>
            </a:r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NAS para escolher o melhor ponto entre precisão e latência.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Uma única super-rede origina várias configurações.</a:t>
            </a:r>
            <a:endParaRPr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A7DACD7-55C8-4CBB-A49C-DAB32BB3B8DF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5E6B7A"/>
                </a:solidFill>
              </a:defRPr>
            </a:pPr>
            <a:r>
              <a:rPr sz="1200" b="1">
                <a:solidFill>
                  <a:srgbClr val="5E6B7A"/>
                </a:solidFill>
              </a:rPr>
              <a:t>TRÊS CONTRIBUIÇÕES CENTRAIS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B6BCCB5-E00B-4BBF-96B8-7D14446E5953}"/>
              </a:ext>
            </a:extLst>
          </p:cNvPr>
          <p:cNvSpPr>
            <a:spLocks noGrp="1"/>
          </p:cNvSpPr>
          <p:nvPr/>
        </p:nvSpPr>
        <p:spPr>
          <a:xfrm>
            <a:off x="6619875" y="2714625"/>
            <a:ext cx="1285875" cy="1714500"/>
          </a:xfrm>
          <a:prstGeom prst="roundRect">
            <a:avLst>
              <a:gd name="adj" fmla="val 8889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1</a:t>
            </a:r>
          </a:p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RF-DETR e</a:t>
            </a:r>
          </a:p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RF-DETR-Seg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0E4A521-E9C1-4309-BBDE-BFF1D438569A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1285875" cy="1714500"/>
          </a:xfrm>
          <a:prstGeom prst="roundRect">
            <a:avLst>
              <a:gd name="adj" fmla="val 8889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071B5B"/>
                </a:solidFill>
              </a:defRPr>
            </a:pPr>
            <a:r>
              <a:rPr sz="975" b="1">
                <a:solidFill>
                  <a:srgbClr val="071B5B"/>
                </a:solidFill>
              </a:rPr>
              <a:t>2</a:t>
            </a:r>
          </a:p>
          <a:p>
            <a:pPr algn="ctr">
              <a:buNone/>
              <a:defRPr sz="975" b="1">
                <a:solidFill>
                  <a:srgbClr val="071B5B"/>
                </a:solidFill>
              </a:defRPr>
            </a:pPr>
            <a:r>
              <a:rPr sz="975" b="1">
                <a:solidFill>
                  <a:srgbClr val="071B5B"/>
                </a:solidFill>
              </a:rPr>
              <a:t>NAS com</a:t>
            </a:r>
          </a:p>
          <a:p>
            <a:pPr algn="ctr">
              <a:buNone/>
              <a:defRPr sz="975" b="1">
                <a:solidFill>
                  <a:srgbClr val="071B5B"/>
                </a:solidFill>
              </a:defRPr>
            </a:pPr>
            <a:r>
              <a:rPr sz="975" b="1">
                <a:solidFill>
                  <a:srgbClr val="071B5B"/>
                </a:solidFill>
              </a:rPr>
              <a:t>pesos</a:t>
            </a:r>
          </a:p>
          <a:p>
            <a:pPr algn="ctr">
              <a:buNone/>
              <a:defRPr sz="975" b="1">
                <a:solidFill>
                  <a:srgbClr val="071B5B"/>
                </a:solidFill>
              </a:defRPr>
            </a:pPr>
            <a:r>
              <a:rPr sz="975" b="1">
                <a:solidFill>
                  <a:srgbClr val="071B5B"/>
                </a:solidFill>
              </a:rPr>
              <a:t>compartilhados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7E7B867-3C83-4917-BAF2-6AD1F0B6A31E}"/>
              </a:ext>
            </a:extLst>
          </p:cNvPr>
          <p:cNvSpPr>
            <a:spLocks noGrp="1"/>
          </p:cNvSpPr>
          <p:nvPr/>
        </p:nvSpPr>
        <p:spPr>
          <a:xfrm>
            <a:off x="9572625" y="2714625"/>
            <a:ext cx="1285875" cy="1714500"/>
          </a:xfrm>
          <a:prstGeom prst="roundRect">
            <a:avLst>
              <a:gd name="adj" fmla="val 8889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3</a:t>
            </a:r>
          </a:p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Protocolo de</a:t>
            </a:r>
          </a:p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latência</a:t>
            </a:r>
          </a:p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reprodutível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51F3683-861D-4164-BE0A-F289B379AEFA}"/>
              </a:ext>
            </a:extLst>
          </p:cNvPr>
          <p:cNvSpPr>
            <a:spLocks noGrp="1"/>
          </p:cNvSpPr>
          <p:nvPr/>
        </p:nvSpPr>
        <p:spPr>
          <a:xfrm>
            <a:off x="6667500" y="4714875"/>
            <a:ext cx="4143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Detecção e segmentação em tempo real</a:t>
            </a:r>
          </a:p>
        </p:txBody>
      </p:sp>
    </p:spTree>
    <p:extLst>
      <p:ext uri="{BB962C8B-B14F-4D97-AF65-F5344CB8AC3E}">
        <p14:creationId xmlns:p14="http://schemas.microsoft.com/office/powerpoint/2010/main" val="294090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ARQUITETURA: DO PIXEL À PREDIÇÃO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O DINOv2 extrai características visuais robustas.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O projetor produz mapas em múltiplas escalas.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Atenção global e por janelas equilibram contexto e custo.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Queries e decoder produzem classes, caixas e, opcionalmente, máscaras.</a:t>
            </a:r>
            <a:endParaRPr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8B44D71-D982-4F35-BDE1-3674ED5ACF80}"/>
              </a:ext>
            </a:extLst>
          </p:cNvPr>
          <p:cNvSpPr>
            <a:spLocks noGrp="1"/>
          </p:cNvSpPr>
          <p:nvPr/>
        </p:nvSpPr>
        <p:spPr>
          <a:xfrm>
            <a:off x="6572250" y="2952750"/>
            <a:ext cx="87630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Imagem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A7143CD-A90B-412B-BBAC-A0260E553511}"/>
              </a:ext>
            </a:extLst>
          </p:cNvPr>
          <p:cNvSpPr>
            <a:spLocks noGrp="1"/>
          </p:cNvSpPr>
          <p:nvPr/>
        </p:nvSpPr>
        <p:spPr>
          <a:xfrm>
            <a:off x="7639050" y="2952750"/>
            <a:ext cx="95250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DINOv2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22759FB-3F26-48D2-9064-6AD94212A969}"/>
              </a:ext>
            </a:extLst>
          </p:cNvPr>
          <p:cNvSpPr>
            <a:spLocks noGrp="1"/>
          </p:cNvSpPr>
          <p:nvPr/>
        </p:nvSpPr>
        <p:spPr>
          <a:xfrm>
            <a:off x="8782050" y="2952750"/>
            <a:ext cx="104775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071B5B"/>
                </a:solidFill>
              </a:defRPr>
            </a:pPr>
            <a:r>
              <a:rPr sz="1125" b="1">
                <a:solidFill>
                  <a:srgbClr val="071B5B"/>
                </a:solidFill>
              </a:rPr>
              <a:t>Projetor</a:t>
            </a:r>
          </a:p>
          <a:p>
            <a:pPr algn="ctr">
              <a:buNone/>
              <a:defRPr sz="1125" b="1">
                <a:solidFill>
                  <a:srgbClr val="071B5B"/>
                </a:solidFill>
              </a:defRPr>
            </a:pPr>
            <a:r>
              <a:rPr sz="1125" b="1">
                <a:solidFill>
                  <a:srgbClr val="071B5B"/>
                </a:solidFill>
              </a:rPr>
              <a:t>multiescala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200258F-EBF2-4C4D-94C2-B3880164F828}"/>
              </a:ext>
            </a:extLst>
          </p:cNvPr>
          <p:cNvSpPr>
            <a:spLocks noGrp="1"/>
          </p:cNvSpPr>
          <p:nvPr/>
        </p:nvSpPr>
        <p:spPr>
          <a:xfrm>
            <a:off x="10001250" y="2952750"/>
            <a:ext cx="904875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071B5B"/>
                </a:solidFill>
              </a:defRPr>
            </a:pPr>
            <a:r>
              <a:rPr sz="1125" b="1">
                <a:solidFill>
                  <a:srgbClr val="071B5B"/>
                </a:solidFill>
              </a:rPr>
              <a:t>Decoder</a:t>
            </a:r>
          </a:p>
          <a:p>
            <a:pPr algn="ctr">
              <a:buNone/>
              <a:defRPr sz="1125" b="1">
                <a:solidFill>
                  <a:srgbClr val="071B5B"/>
                </a:solidFill>
              </a:defRPr>
            </a:pPr>
            <a:r>
              <a:rPr sz="1125" b="1">
                <a:solidFill>
                  <a:srgbClr val="071B5B"/>
                </a:solidFill>
              </a:rPr>
              <a:t>DETR</a:t>
            </a:r>
          </a:p>
        </p:txBody>
      </p:sp>
      <p:cxnSp>
        <p:nvCxnSpPr>
          <p:cNvPr id="84" name="Conector de Seta Reta 31"/>
          <p:cNvCxnSpPr>
            <a:stCxn id="15" idx="3"/>
            <a:endCxn id="16" idx="1"/>
          </p:cNvCxnSpPr>
          <p:nvPr/>
        </p:nvCxnSpPr>
        <p:spPr>
          <a:xfrm>
            <a:off x="7448550" y="3343275"/>
            <a:ext cx="190500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85" name="Conector de Seta Reta 32"/>
          <p:cNvCxnSpPr>
            <a:stCxn id="16" idx="3"/>
            <a:endCxn id="17" idx="1"/>
          </p:cNvCxnSpPr>
          <p:nvPr/>
        </p:nvCxnSpPr>
        <p:spPr>
          <a:xfrm>
            <a:off x="8591550" y="3343275"/>
            <a:ext cx="190500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86" name="Conector de Seta Reta 33"/>
          <p:cNvCxnSpPr>
            <a:stCxn id="17" idx="3"/>
            <a:endCxn id="18" idx="1"/>
          </p:cNvCxnSpPr>
          <p:nvPr/>
        </p:nvCxnSpPr>
        <p:spPr>
          <a:xfrm>
            <a:off x="9829800" y="3343275"/>
            <a:ext cx="171450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6CBEEE1-E7DC-4366-A6C5-76357E41D89B}"/>
              </a:ext>
            </a:extLst>
          </p:cNvPr>
          <p:cNvSpPr>
            <a:spLocks noGrp="1"/>
          </p:cNvSpPr>
          <p:nvPr/>
        </p:nvSpPr>
        <p:spPr>
          <a:xfrm>
            <a:off x="7143750" y="4524375"/>
            <a:ext cx="1571625" cy="704850"/>
          </a:xfrm>
          <a:prstGeom prst="roundRect">
            <a:avLst>
              <a:gd name="adj" fmla="val 16216"/>
            </a:avLst>
          </a:prstGeom>
          <a:solidFill>
            <a:srgbClr val="F8FAE8"/>
          </a:solidFill>
          <a:ln w="19050">
            <a:solidFill>
              <a:srgbClr val="C6D9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Classes + caixas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2CB8ADD-FC38-40D4-B126-5A880A61407E}"/>
              </a:ext>
            </a:extLst>
          </p:cNvPr>
          <p:cNvSpPr>
            <a:spLocks noGrp="1"/>
          </p:cNvSpPr>
          <p:nvPr/>
        </p:nvSpPr>
        <p:spPr>
          <a:xfrm>
            <a:off x="9191625" y="4524375"/>
            <a:ext cx="1571625" cy="704850"/>
          </a:xfrm>
          <a:prstGeom prst="roundRect">
            <a:avLst>
              <a:gd name="adj" fmla="val 16216"/>
            </a:avLst>
          </a:prstGeom>
          <a:solidFill>
            <a:srgbClr val="F8FAE8"/>
          </a:solidFill>
          <a:ln w="19050">
            <a:solidFill>
              <a:srgbClr val="C6D9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Máscaras</a:t>
            </a:r>
          </a:p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(RF-DETR-Seg)</a:t>
            </a:r>
          </a:p>
        </p:txBody>
      </p:sp>
      <p:cxnSp>
        <p:nvCxnSpPr>
          <p:cNvPr id="89" name="Conector de Seta Reta 36"/>
          <p:cNvCxnSpPr>
            <a:stCxn id="18" idx="2"/>
            <a:endCxn id="22" idx="0"/>
          </p:cNvCxnSpPr>
          <p:nvPr/>
        </p:nvCxnSpPr>
        <p:spPr>
          <a:xfrm flipH="1">
            <a:off x="7929563" y="3733800"/>
            <a:ext cx="2524125" cy="790575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90" name="Conector de Seta Reta 37"/>
          <p:cNvCxnSpPr>
            <a:stCxn id="18" idx="2"/>
            <a:endCxn id="23" idx="0"/>
          </p:cNvCxnSpPr>
          <p:nvPr/>
        </p:nvCxnSpPr>
        <p:spPr>
          <a:xfrm flipH="1">
            <a:off x="9977438" y="3733800"/>
            <a:ext cx="476250" cy="790575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POR QUE TROCAR CAEv2 POR DINOv2?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RF-DETR substitui o CAEv2 do LW-DETR pelo DINOv2.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pré-treinamento em grande escala fornece características mais robustas, sobretudo em bases pequenas.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Na ablação, o DINOv2-S obteve o maior AP com latência próxima à do CAEv2.</a:t>
            </a:r>
            <a:endParaRPr/>
          </a:p>
        </p:txBody>
      </p:sp>
      <p:graphicFrame>
        <p:nvGraphicFramePr>
          <p:cNvPr id="18" name="Tabela 17"/>
          <p:cNvGraphicFramePr/>
          <p:nvPr/>
        </p:nvGraphicFramePr>
        <p:xfrm>
          <a:off x="6667500" y="2143125"/>
          <a:ext cx="4095750" cy="3192234"/>
        </p:xfrm>
        <a:graphic>
          <a:graphicData uri="http://schemas.openxmlformats.org/drawingml/2006/table">
            <a:tbl>
              <a:tblPr firstRow="1" bandRow="1"/>
              <a:tblGrid>
                <a:gridCol w="2578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8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Backbone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 · GFLOPs · ms · AP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CAEv2 S-16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28,3M · 83,7 · 4,4 · 52,3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DINOv2-S/14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32,3M · 78,2 · 4,7 · 54,3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SigLIPv2-B/32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105,1M · 81,6 · 4,8 · 50,4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SAM2 Hiera-S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44,0M · 109,1 · 11,2 · 53,6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Ganho vs. CAEv2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+2,0 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Escolha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DINOv2: melhor 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COMO O LW-DETR EVOLUIU PARA O RF-DETR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A ablação separa o efeito de cada decisão técnica.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Os hiperparâmetros mais suaves reduzem inicialmente o AP, mas ajudam a preservar o conhecimento do DINOv2.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Com DINOv2, pré-treino adicional e NAS, o modelo chega a 54,6 AP.</a:t>
            </a:r>
            <a:endParaRPr/>
          </a:p>
        </p:txBody>
      </p:sp>
      <p:graphicFrame>
        <p:nvGraphicFramePr>
          <p:cNvPr id="18" name="Tabela 17"/>
          <p:cNvGraphicFramePr/>
          <p:nvPr/>
        </p:nvGraphicFramePr>
        <p:xfrm>
          <a:off x="6667500" y="2143125"/>
          <a:ext cx="4095750" cy="3192234"/>
        </p:xfrm>
        <a:graphic>
          <a:graphicData uri="http://schemas.openxmlformats.org/drawingml/2006/table">
            <a:tbl>
              <a:tblPr firstRow="1" bandRow="1"/>
              <a:tblGrid>
                <a:gridCol w="2578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8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 · GFLOPs · ms · AP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LW-DETR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28,2M · 83,7 · 4,4 · 52,6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+ Hiperparâmetros suaves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28,2M · 83,7 · 4,4 · 51,6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+ DINOv2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32,3M · 78,2 · 4,7 · 53,6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+ Pré-treino O365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32,3M · 78,2 · 4,7 · 54,3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+ NAS compartilhada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32,3M · 78,2 · 4,7 · 54,6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Ganho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+2,0 AP vs. LW-DETR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NAS COM PESOS COMPARTILHADOS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0226D6-3A15-093C-3DE1-64FF7EC7C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Em cada iteração: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1. Uma configuração é amostrada;</a:t>
            </a:r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2. A sub-rede realiza a predição;</a:t>
            </a:r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3. A perda é calculada;</a:t>
            </a:r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4. Os pesos compartilhados são atualizados.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Depois, a busca seleciona as configurações na fronteira de Pareto.</a:t>
            </a:r>
            <a:endParaRPr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993EE68-DFF1-4B0C-A98C-EE1C2A029315}"/>
              </a:ext>
            </a:extLst>
          </p:cNvPr>
          <p:cNvSpPr>
            <a:spLocks noGrp="1"/>
          </p:cNvSpPr>
          <p:nvPr/>
        </p:nvSpPr>
        <p:spPr>
          <a:xfrm>
            <a:off x="6762750" y="2333625"/>
            <a:ext cx="161925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Amostra uma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configuração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FE36CE1-0368-4C31-A9C7-DE7C536E5578}"/>
              </a:ext>
            </a:extLst>
          </p:cNvPr>
          <p:cNvSpPr>
            <a:spLocks noGrp="1"/>
          </p:cNvSpPr>
          <p:nvPr/>
        </p:nvSpPr>
        <p:spPr>
          <a:xfrm>
            <a:off x="9096375" y="2333625"/>
            <a:ext cx="152400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Executa a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sub-rede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F6E1301-1DFB-4E32-B509-7AE31DE6D796}"/>
              </a:ext>
            </a:extLst>
          </p:cNvPr>
          <p:cNvSpPr>
            <a:spLocks noGrp="1"/>
          </p:cNvSpPr>
          <p:nvPr/>
        </p:nvSpPr>
        <p:spPr>
          <a:xfrm>
            <a:off x="9096375" y="4238625"/>
            <a:ext cx="152400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Calcula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a perda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B810155-1CF0-4157-A821-120A15ED87A0}"/>
              </a:ext>
            </a:extLst>
          </p:cNvPr>
          <p:cNvSpPr>
            <a:spLocks noGrp="1"/>
          </p:cNvSpPr>
          <p:nvPr/>
        </p:nvSpPr>
        <p:spPr>
          <a:xfrm>
            <a:off x="6762750" y="4238625"/>
            <a:ext cx="1619250" cy="781050"/>
          </a:xfrm>
          <a:prstGeom prst="roundRect">
            <a:avLst>
              <a:gd name="adj" fmla="val 14634"/>
            </a:avLst>
          </a:prstGeom>
          <a:solidFill>
            <a:srgbClr val="F8FAE8"/>
          </a:solidFill>
          <a:ln w="19050">
            <a:solidFill>
              <a:srgbClr val="C6D9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Atualiza os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pesos comuns</a:t>
            </a:r>
          </a:p>
        </p:txBody>
      </p:sp>
      <p:cxnSp>
        <p:nvCxnSpPr>
          <p:cNvPr id="70" name="Conector de Seta Reta 29"/>
          <p:cNvCxnSpPr>
            <a:stCxn id="15" idx="3"/>
            <a:endCxn id="16" idx="1"/>
          </p:cNvCxnSpPr>
          <p:nvPr/>
        </p:nvCxnSpPr>
        <p:spPr>
          <a:xfrm>
            <a:off x="8382000" y="2724150"/>
            <a:ext cx="714375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71" name="Conector de Seta Reta 30"/>
          <p:cNvCxnSpPr>
            <a:stCxn id="16" idx="2"/>
            <a:endCxn id="17" idx="0"/>
          </p:cNvCxnSpPr>
          <p:nvPr/>
        </p:nvCxnSpPr>
        <p:spPr>
          <a:xfrm>
            <a:off x="9858375" y="3114675"/>
            <a:ext cx="0" cy="112395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72" name="Conector de Seta Reta 31"/>
          <p:cNvCxnSpPr>
            <a:stCxn id="17" idx="1"/>
            <a:endCxn id="18" idx="3"/>
          </p:cNvCxnSpPr>
          <p:nvPr/>
        </p:nvCxnSpPr>
        <p:spPr>
          <a:xfrm flipH="1">
            <a:off x="8382000" y="4629150"/>
            <a:ext cx="714375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73" name="Conector de Seta Reta 32"/>
          <p:cNvCxnSpPr>
            <a:stCxn id="18" idx="0"/>
            <a:endCxn id="15" idx="2"/>
          </p:cNvCxnSpPr>
          <p:nvPr/>
        </p:nvCxnSpPr>
        <p:spPr>
          <a:xfrm flipV="1">
            <a:off x="7572375" y="3114675"/>
            <a:ext cx="0" cy="112395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251F7AC2-4F07-4BA2-A5CD-1EE2DD0B8E34}"/>
              </a:ext>
            </a:extLst>
          </p:cNvPr>
          <p:cNvSpPr>
            <a:spLocks noGrp="1"/>
          </p:cNvSpPr>
          <p:nvPr/>
        </p:nvSpPr>
        <p:spPr>
          <a:xfrm>
            <a:off x="8096250" y="3286125"/>
            <a:ext cx="123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PESOS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COMPARTILHADOS</a:t>
            </a:r>
          </a:p>
        </p:txBody>
      </p:sp>
    </p:spTree>
    <p:extLst>
      <p:ext uri="{BB962C8B-B14F-4D97-AF65-F5344CB8AC3E}">
        <p14:creationId xmlns:p14="http://schemas.microsoft.com/office/powerpoint/2010/main" val="127148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C9A733B6-04BE-71EB-0839-EAE5CAC59A28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CINCO CONTROLES DEFINEM O MODELO FINAL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2FF579-5328-3E69-7886-FFC920410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Cada controle altera o equilíbrio entre velocidade e precisão: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• Mais resolução e patches menores preservam detalhes;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• Mais camadas refinam as previsões;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• Mais queries permitem detectar mais objetos;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• Mais contexto de atenção aumenta o custo.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A NAS escolhe o ponto adequado ao hardware.</a:t>
            </a:r>
            <a:endParaRPr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58C307E-5AE4-473C-B261-CE8945B39661}"/>
              </a:ext>
            </a:extLst>
          </p:cNvPr>
          <p:cNvSpPr>
            <a:spLocks noGrp="1"/>
          </p:cNvSpPr>
          <p:nvPr/>
        </p:nvSpPr>
        <p:spPr>
          <a:xfrm>
            <a:off x="6715125" y="21717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01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E735129-937B-4D13-BCEF-18DD2D568847}"/>
              </a:ext>
            </a:extLst>
          </p:cNvPr>
          <p:cNvSpPr>
            <a:spLocks noGrp="1"/>
          </p:cNvSpPr>
          <p:nvPr/>
        </p:nvSpPr>
        <p:spPr>
          <a:xfrm>
            <a:off x="7286625" y="21717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Resolução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E252070-DB45-4E50-A90F-B2B09078E79F}"/>
              </a:ext>
            </a:extLst>
          </p:cNvPr>
          <p:cNvSpPr>
            <a:spLocks noGrp="1"/>
          </p:cNvSpPr>
          <p:nvPr/>
        </p:nvSpPr>
        <p:spPr>
          <a:xfrm>
            <a:off x="8763000" y="21717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detalhe × custo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2C4D2620-3F8F-44B3-8036-054C0901EC3B}"/>
              </a:ext>
            </a:extLst>
          </p:cNvPr>
          <p:cNvSpPr>
            <a:spLocks noGrp="1"/>
          </p:cNvSpPr>
          <p:nvPr/>
        </p:nvSpPr>
        <p:spPr>
          <a:xfrm>
            <a:off x="6715125" y="268605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93BE533-BD6A-4A19-B1F5-D99CBE13F433}"/>
              </a:ext>
            </a:extLst>
          </p:cNvPr>
          <p:cNvSpPr>
            <a:spLocks noGrp="1"/>
          </p:cNvSpPr>
          <p:nvPr/>
        </p:nvSpPr>
        <p:spPr>
          <a:xfrm>
            <a:off x="6715125" y="283845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02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8A18A4B-6C00-4502-815C-D9EFA6E4F758}"/>
              </a:ext>
            </a:extLst>
          </p:cNvPr>
          <p:cNvSpPr>
            <a:spLocks noGrp="1"/>
          </p:cNvSpPr>
          <p:nvPr/>
        </p:nvSpPr>
        <p:spPr>
          <a:xfrm>
            <a:off x="7286625" y="28384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Patch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A850783-65B2-4A1E-A73A-34475C51743B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tokens × detalhe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A224F817-3237-4C69-BC87-A1DAFA91B4E8}"/>
              </a:ext>
            </a:extLst>
          </p:cNvPr>
          <p:cNvSpPr>
            <a:spLocks noGrp="1"/>
          </p:cNvSpPr>
          <p:nvPr/>
        </p:nvSpPr>
        <p:spPr>
          <a:xfrm>
            <a:off x="6715125" y="335280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6DDD75D-FA7B-494F-BC5C-B081F9BB6CFD}"/>
              </a:ext>
            </a:extLst>
          </p:cNvPr>
          <p:cNvSpPr>
            <a:spLocks noGrp="1"/>
          </p:cNvSpPr>
          <p:nvPr/>
        </p:nvSpPr>
        <p:spPr>
          <a:xfrm>
            <a:off x="6715125" y="35052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03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FB7B43C-9DF0-4983-9D15-71C3F47B7FF2}"/>
              </a:ext>
            </a:extLst>
          </p:cNvPr>
          <p:cNvSpPr>
            <a:spLocks noGrp="1"/>
          </p:cNvSpPr>
          <p:nvPr/>
        </p:nvSpPr>
        <p:spPr>
          <a:xfrm>
            <a:off x="7286625" y="35052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Decoder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34EB9B1-A53B-48CA-AF75-C362FD49E6D7}"/>
              </a:ext>
            </a:extLst>
          </p:cNvPr>
          <p:cNvSpPr>
            <a:spLocks noGrp="1"/>
          </p:cNvSpPr>
          <p:nvPr/>
        </p:nvSpPr>
        <p:spPr>
          <a:xfrm>
            <a:off x="8763000" y="35052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0 a 6 camadas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30F3F8DA-FFC0-4973-8685-794792CA58CC}"/>
              </a:ext>
            </a:extLst>
          </p:cNvPr>
          <p:cNvSpPr>
            <a:spLocks noGrp="1"/>
          </p:cNvSpPr>
          <p:nvPr/>
        </p:nvSpPr>
        <p:spPr>
          <a:xfrm>
            <a:off x="6715125" y="401955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49690DF-BE14-4698-8396-B9EE4ED334BF}"/>
              </a:ext>
            </a:extLst>
          </p:cNvPr>
          <p:cNvSpPr>
            <a:spLocks noGrp="1"/>
          </p:cNvSpPr>
          <p:nvPr/>
        </p:nvSpPr>
        <p:spPr>
          <a:xfrm>
            <a:off x="6715125" y="417195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04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8327E55-511B-4CD7-B700-BC169C6A0A8A}"/>
              </a:ext>
            </a:extLst>
          </p:cNvPr>
          <p:cNvSpPr>
            <a:spLocks noGrp="1"/>
          </p:cNvSpPr>
          <p:nvPr/>
        </p:nvSpPr>
        <p:spPr>
          <a:xfrm>
            <a:off x="7286625" y="41719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Queries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272DEB2-C4DF-4140-8A60-BD071DBD3DD5}"/>
              </a:ext>
            </a:extLst>
          </p:cNvPr>
          <p:cNvSpPr>
            <a:spLocks noGrp="1"/>
          </p:cNvSpPr>
          <p:nvPr/>
        </p:nvSpPr>
        <p:spPr>
          <a:xfrm>
            <a:off x="8763000" y="41719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limite de objetos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02EEE8F5-371C-41A9-85D8-D09653770C62}"/>
              </a:ext>
            </a:extLst>
          </p:cNvPr>
          <p:cNvSpPr>
            <a:spLocks noGrp="1"/>
          </p:cNvSpPr>
          <p:nvPr/>
        </p:nvSpPr>
        <p:spPr>
          <a:xfrm>
            <a:off x="6715125" y="468630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C286EAF-8DB3-40EE-BBE7-0157A8C4EBEB}"/>
              </a:ext>
            </a:extLst>
          </p:cNvPr>
          <p:cNvSpPr>
            <a:spLocks noGrp="1"/>
          </p:cNvSpPr>
          <p:nvPr/>
        </p:nvSpPr>
        <p:spPr>
          <a:xfrm>
            <a:off x="6715125" y="48387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05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590FD84-AC6A-4134-A0F9-7D69C93E5DC1}"/>
              </a:ext>
            </a:extLst>
          </p:cNvPr>
          <p:cNvSpPr>
            <a:spLocks noGrp="1"/>
          </p:cNvSpPr>
          <p:nvPr/>
        </p:nvSpPr>
        <p:spPr>
          <a:xfrm>
            <a:off x="7286625" y="48387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Janelas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B1F2575-8169-48C1-931F-085BE2B7E08B}"/>
              </a:ext>
            </a:extLst>
          </p:cNvPr>
          <p:cNvSpPr>
            <a:spLocks noGrp="1"/>
          </p:cNvSpPr>
          <p:nvPr/>
        </p:nvSpPr>
        <p:spPr>
          <a:xfrm>
            <a:off x="8763000" y="48387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contexto × latência</a:t>
            </a:r>
          </a:p>
        </p:txBody>
      </p:sp>
    </p:spTree>
    <p:extLst>
      <p:ext uri="{BB962C8B-B14F-4D97-AF65-F5344CB8AC3E}">
        <p14:creationId xmlns:p14="http://schemas.microsoft.com/office/powerpoint/2010/main" val="2940901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CONFIGURAÇÕES ENCONTRADAS PELA NAS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Cada tamanho corresponde a uma configuração Pareto-ótima.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A resolução e o número de camadas crescem conforme aumenta o orçamento de latência.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Os modelos maiores também passam do DINOv2-S para o DINOv2-B.</a:t>
            </a:r>
            <a:endParaRPr/>
          </a:p>
        </p:txBody>
      </p:sp>
      <p:graphicFrame>
        <p:nvGraphicFramePr>
          <p:cNvPr id="18" name="Tabela 17"/>
          <p:cNvGraphicFramePr/>
          <p:nvPr/>
        </p:nvGraphicFramePr>
        <p:xfrm>
          <a:off x="6667500" y="2143125"/>
          <a:ext cx="4095750" cy="3342185"/>
        </p:xfrm>
        <a:graphic>
          <a:graphicData uri="http://schemas.openxmlformats.org/drawingml/2006/table">
            <a:tbl>
              <a:tblPr firstRow="1" bandRow="1"/>
              <a:tblGrid>
                <a:gridCol w="2578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8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 · P · J · Dec · Q · Backbone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384 · 16 · 2 · 2 · 300 · DINOv2-S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512 · 16 · 2 · 3 · 300 · DINOv2-S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576 · 16 · 2 · 4 · 300 · DINOv2-S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704 · 16 · 2 · 4 · 300 · DINOv2-S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2XL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880 · 20 · 2 · 5 · 300 · DINOv2-B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Mais latência → resolução + profundidade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C9A733B6-04BE-71EB-0839-EAE5CAC59A28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O QUE A NAS DESCOBRIU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2FF579-5328-3E69-7886-FFC920410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A busca revelou estratégias diferentes para detecção e segmentação.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Na detecção, as 300 queries são mantidas e a profundidade cresce.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Na segmentação, queries e camadas aumentam juntas.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endParaRPr/>
          </a:p>
          <a:p>
            <a:r>
              <a:t>O melhor escalonamento depende da tarefa.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58C307E-5AE4-473C-B261-CE8945B39661}"/>
              </a:ext>
            </a:extLst>
          </p:cNvPr>
          <p:cNvSpPr>
            <a:spLocks noGrp="1"/>
          </p:cNvSpPr>
          <p:nvPr/>
        </p:nvSpPr>
        <p:spPr>
          <a:xfrm>
            <a:off x="6715125" y="21717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01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E735129-937B-4D13-BCEF-18DD2D568847}"/>
              </a:ext>
            </a:extLst>
          </p:cNvPr>
          <p:cNvSpPr>
            <a:spLocks noGrp="1"/>
          </p:cNvSpPr>
          <p:nvPr/>
        </p:nvSpPr>
        <p:spPr>
          <a:xfrm>
            <a:off x="7286625" y="21717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Detecção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E252070-DB45-4E50-A90F-B2B09078E79F}"/>
              </a:ext>
            </a:extLst>
          </p:cNvPr>
          <p:cNvSpPr>
            <a:spLocks noGrp="1"/>
          </p:cNvSpPr>
          <p:nvPr/>
        </p:nvSpPr>
        <p:spPr>
          <a:xfrm>
            <a:off x="8763000" y="21717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decoder largo e raso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2C4D2620-3F8F-44B3-8036-054C0901EC3B}"/>
              </a:ext>
            </a:extLst>
          </p:cNvPr>
          <p:cNvSpPr>
            <a:spLocks noGrp="1"/>
          </p:cNvSpPr>
          <p:nvPr/>
        </p:nvSpPr>
        <p:spPr>
          <a:xfrm>
            <a:off x="6715125" y="268605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93BE533-BD6A-4A19-B1F5-D99CBE13F433}"/>
              </a:ext>
            </a:extLst>
          </p:cNvPr>
          <p:cNvSpPr>
            <a:spLocks noGrp="1"/>
          </p:cNvSpPr>
          <p:nvPr/>
        </p:nvSpPr>
        <p:spPr>
          <a:xfrm>
            <a:off x="6715125" y="283845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02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8A18A4B-6C00-4502-815C-D9EFA6E4F758}"/>
              </a:ext>
            </a:extLst>
          </p:cNvPr>
          <p:cNvSpPr>
            <a:spLocks noGrp="1"/>
          </p:cNvSpPr>
          <p:nvPr/>
        </p:nvSpPr>
        <p:spPr>
          <a:xfrm>
            <a:off x="7286625" y="28384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Segmentação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A850783-65B2-4A1E-A73A-34475C51743B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decoder fino e profundo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A224F817-3237-4C69-BC87-A1DAFA91B4E8}"/>
              </a:ext>
            </a:extLst>
          </p:cNvPr>
          <p:cNvSpPr>
            <a:spLocks noGrp="1"/>
          </p:cNvSpPr>
          <p:nvPr/>
        </p:nvSpPr>
        <p:spPr>
          <a:xfrm>
            <a:off x="6715125" y="335280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6DDD75D-FA7B-494F-BC5C-B081F9BB6CFD}"/>
              </a:ext>
            </a:extLst>
          </p:cNvPr>
          <p:cNvSpPr>
            <a:spLocks noGrp="1"/>
          </p:cNvSpPr>
          <p:nvPr/>
        </p:nvSpPr>
        <p:spPr>
          <a:xfrm>
            <a:off x="6715125" y="35052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03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FB7B43C-9DF0-4983-9D15-71C3F47B7FF2}"/>
              </a:ext>
            </a:extLst>
          </p:cNvPr>
          <p:cNvSpPr>
            <a:spLocks noGrp="1"/>
          </p:cNvSpPr>
          <p:nvPr/>
        </p:nvSpPr>
        <p:spPr>
          <a:xfrm>
            <a:off x="7286625" y="35052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Patch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34EB9B1-A53B-48CA-AF75-C362FD49E6D7}"/>
              </a:ext>
            </a:extLst>
          </p:cNvPr>
          <p:cNvSpPr>
            <a:spLocks noGrp="1"/>
          </p:cNvSpPr>
          <p:nvPr/>
        </p:nvSpPr>
        <p:spPr>
          <a:xfrm>
            <a:off x="8763000" y="35052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16 no S · 20 no B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30F3F8DA-FFC0-4973-8685-794792CA58CC}"/>
              </a:ext>
            </a:extLst>
          </p:cNvPr>
          <p:cNvSpPr>
            <a:spLocks noGrp="1"/>
          </p:cNvSpPr>
          <p:nvPr/>
        </p:nvSpPr>
        <p:spPr>
          <a:xfrm>
            <a:off x="6715125" y="401955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49690DF-BE14-4698-8396-B9EE4ED334BF}"/>
              </a:ext>
            </a:extLst>
          </p:cNvPr>
          <p:cNvSpPr>
            <a:spLocks noGrp="1"/>
          </p:cNvSpPr>
          <p:nvPr/>
        </p:nvSpPr>
        <p:spPr>
          <a:xfrm>
            <a:off x="6715125" y="417195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04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8327E55-511B-4CD7-B700-BC169C6A0A8A}"/>
              </a:ext>
            </a:extLst>
          </p:cNvPr>
          <p:cNvSpPr>
            <a:spLocks noGrp="1"/>
          </p:cNvSpPr>
          <p:nvPr/>
        </p:nvSpPr>
        <p:spPr>
          <a:xfrm>
            <a:off x="7286625" y="41719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Máscaras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272DEB2-C4DF-4140-8A60-BD071DBD3DD5}"/>
              </a:ext>
            </a:extLst>
          </p:cNvPr>
          <p:cNvSpPr>
            <a:spLocks noGrp="1"/>
          </p:cNvSpPr>
          <p:nvPr/>
        </p:nvSpPr>
        <p:spPr>
          <a:xfrm>
            <a:off x="8763000" y="41719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patch 12 · Q 100→300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02EEE8F5-371C-41A9-85D8-D09653770C62}"/>
              </a:ext>
            </a:extLst>
          </p:cNvPr>
          <p:cNvSpPr>
            <a:spLocks noGrp="1"/>
          </p:cNvSpPr>
          <p:nvPr/>
        </p:nvSpPr>
        <p:spPr>
          <a:xfrm>
            <a:off x="6715125" y="468630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C286EAF-8DB3-40EE-BBE7-0157A8C4EBEB}"/>
              </a:ext>
            </a:extLst>
          </p:cNvPr>
          <p:cNvSpPr>
            <a:spLocks noGrp="1"/>
          </p:cNvSpPr>
          <p:nvPr/>
        </p:nvSpPr>
        <p:spPr>
          <a:xfrm>
            <a:off x="6715125" y="48387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05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590FD84-AC6A-4134-A0F9-7D69C93E5DC1}"/>
              </a:ext>
            </a:extLst>
          </p:cNvPr>
          <p:cNvSpPr>
            <a:spLocks noGrp="1"/>
          </p:cNvSpPr>
          <p:nvPr/>
        </p:nvSpPr>
        <p:spPr>
          <a:xfrm>
            <a:off x="7286625" y="48387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Janelas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B1F2575-8169-48C1-931F-085BE2B7E08B}"/>
              </a:ext>
            </a:extLst>
          </p:cNvPr>
          <p:cNvSpPr>
            <a:spLocks noGrp="1"/>
          </p:cNvSpPr>
          <p:nvPr/>
        </p:nvSpPr>
        <p:spPr>
          <a:xfrm>
            <a:off x="8763000" y="48387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2 geralmente é o ideal</a:t>
            </a:r>
          </a:p>
        </p:txBody>
      </p:sp>
    </p:spTree>
    <p:extLst>
      <p:ext uri="{BB962C8B-B14F-4D97-AF65-F5344CB8AC3E}">
        <p14:creationId xmlns:p14="http://schemas.microsoft.com/office/powerpoint/2010/main" val="2940901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TREINAMENTO E HIPERPARÂMETROS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artigo informa 60 épocas de pré-treinamento no Objects-365.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A taxa menor, o decaimento por camada e o gradient clipping reduzem alterações bruscas no backbone.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Nos conjuntos-alvo, o treinamento segue até a convergência; bases pequenas podem exigir mais de 100 épocas.</a:t>
            </a:r>
            <a:endParaRPr/>
          </a:p>
        </p:txBody>
      </p:sp>
      <p:graphicFrame>
        <p:nvGraphicFramePr>
          <p:cNvPr id="18" name="Tabela 17"/>
          <p:cNvGraphicFramePr/>
          <p:nvPr/>
        </p:nvGraphicFramePr>
        <p:xfrm>
          <a:off x="6667500" y="2143125"/>
          <a:ext cx="4095750" cy="3190873"/>
        </p:xfrm>
        <a:graphic>
          <a:graphicData uri="http://schemas.openxmlformats.org/drawingml/2006/table">
            <a:tbl>
              <a:tblPr firstRow="1" bandRow="1"/>
              <a:tblGrid>
                <a:gridCol w="2578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8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Hiperparâmetro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Valor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Pré-treino O365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60 épocas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1 × 10⁻⁴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Gradient clipping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0,1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Decaimento/camada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0,8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Warm-up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DO PRÉ-TREINO AO MODELO PARETO-ÓTIMO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O DINOv2 fornece os pesos visuais iniciais.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Detecção e segmentação são pré-treinadas por 60 épocas no Objects-365.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A cada iteração, a NAS amostra uma sub-rede e atualiza os pesos compartilhados.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No conjunto-alvo, o treinamento segue até a convergência.</a:t>
            </a:r>
            <a:endParaRPr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8B44D71-D982-4F35-BDE1-3674ED5ACF80}"/>
              </a:ext>
            </a:extLst>
          </p:cNvPr>
          <p:cNvSpPr>
            <a:spLocks noGrp="1"/>
          </p:cNvSpPr>
          <p:nvPr/>
        </p:nvSpPr>
        <p:spPr>
          <a:xfrm>
            <a:off x="6572250" y="2952750"/>
            <a:ext cx="87630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DINOv2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pré-treinado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A7143CD-A90B-412B-BBAC-A0260E553511}"/>
              </a:ext>
            </a:extLst>
          </p:cNvPr>
          <p:cNvSpPr>
            <a:spLocks noGrp="1"/>
          </p:cNvSpPr>
          <p:nvPr/>
        </p:nvSpPr>
        <p:spPr>
          <a:xfrm>
            <a:off x="7639050" y="2952750"/>
            <a:ext cx="95250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Objects-365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60 épocas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22759FB-3F26-48D2-9064-6AD94212A969}"/>
              </a:ext>
            </a:extLst>
          </p:cNvPr>
          <p:cNvSpPr>
            <a:spLocks noGrp="1"/>
          </p:cNvSpPr>
          <p:nvPr/>
        </p:nvSpPr>
        <p:spPr>
          <a:xfrm>
            <a:off x="8782050" y="2952750"/>
            <a:ext cx="1047750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071B5B"/>
                </a:solidFill>
              </a:defRPr>
            </a:pPr>
            <a:r>
              <a:rPr sz="1125" b="1">
                <a:solidFill>
                  <a:srgbClr val="071B5B"/>
                </a:solidFill>
              </a:rPr>
              <a:t>NAS</a:t>
            </a:r>
          </a:p>
          <a:p>
            <a:pPr algn="ctr">
              <a:buNone/>
              <a:defRPr sz="1125" b="1">
                <a:solidFill>
                  <a:srgbClr val="071B5B"/>
                </a:solidFill>
              </a:defRPr>
            </a:pPr>
            <a:r>
              <a:rPr sz="1125" b="1">
                <a:solidFill>
                  <a:srgbClr val="071B5B"/>
                </a:solidFill>
              </a:rPr>
              <a:t>sub-rede aleatória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200258F-EBF2-4C4D-94C2-B3880164F828}"/>
              </a:ext>
            </a:extLst>
          </p:cNvPr>
          <p:cNvSpPr>
            <a:spLocks noGrp="1"/>
          </p:cNvSpPr>
          <p:nvPr/>
        </p:nvSpPr>
        <p:spPr>
          <a:xfrm>
            <a:off x="10001250" y="2952750"/>
            <a:ext cx="904875" cy="781050"/>
          </a:xfrm>
          <a:prstGeom prst="roundRect">
            <a:avLst>
              <a:gd name="adj" fmla="val 14634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071B5B"/>
                </a:solidFill>
              </a:defRPr>
            </a:pPr>
            <a:r>
              <a:rPr sz="1125" b="1">
                <a:solidFill>
                  <a:srgbClr val="071B5B"/>
                </a:solidFill>
              </a:rPr>
              <a:t>COCO/RF100</a:t>
            </a:r>
          </a:p>
          <a:p>
            <a:pPr algn="ctr">
              <a:buNone/>
              <a:defRPr sz="1125" b="1">
                <a:solidFill>
                  <a:srgbClr val="071B5B"/>
                </a:solidFill>
              </a:defRPr>
            </a:pPr>
            <a:r>
              <a:rPr sz="1125" b="1">
                <a:solidFill>
                  <a:srgbClr val="071B5B"/>
                </a:solidFill>
              </a:rPr>
              <a:t>até convergir</a:t>
            </a:r>
          </a:p>
        </p:txBody>
      </p:sp>
      <p:cxnSp>
        <p:nvCxnSpPr>
          <p:cNvPr id="84" name="Conector de Seta Reta 31"/>
          <p:cNvCxnSpPr>
            <a:stCxn id="15" idx="3"/>
            <a:endCxn id="16" idx="1"/>
          </p:cNvCxnSpPr>
          <p:nvPr/>
        </p:nvCxnSpPr>
        <p:spPr>
          <a:xfrm>
            <a:off x="7448550" y="3343275"/>
            <a:ext cx="190500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85" name="Conector de Seta Reta 32"/>
          <p:cNvCxnSpPr>
            <a:stCxn id="16" idx="3"/>
            <a:endCxn id="17" idx="1"/>
          </p:cNvCxnSpPr>
          <p:nvPr/>
        </p:nvCxnSpPr>
        <p:spPr>
          <a:xfrm>
            <a:off x="8591550" y="3343275"/>
            <a:ext cx="190500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86" name="Conector de Seta Reta 33"/>
          <p:cNvCxnSpPr>
            <a:stCxn id="17" idx="3"/>
            <a:endCxn id="18" idx="1"/>
          </p:cNvCxnSpPr>
          <p:nvPr/>
        </p:nvCxnSpPr>
        <p:spPr>
          <a:xfrm>
            <a:off x="9829800" y="3343275"/>
            <a:ext cx="171450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6CBEEE1-E7DC-4366-A6C5-76357E41D89B}"/>
              </a:ext>
            </a:extLst>
          </p:cNvPr>
          <p:cNvSpPr>
            <a:spLocks noGrp="1"/>
          </p:cNvSpPr>
          <p:nvPr/>
        </p:nvSpPr>
        <p:spPr>
          <a:xfrm>
            <a:off x="7143750" y="4524375"/>
            <a:ext cx="1571625" cy="704850"/>
          </a:xfrm>
          <a:prstGeom prst="roundRect">
            <a:avLst>
              <a:gd name="adj" fmla="val 16216"/>
            </a:avLst>
          </a:prstGeom>
          <a:solidFill>
            <a:srgbClr val="F8FAE8"/>
          </a:solidFill>
          <a:ln w="19050">
            <a:solidFill>
              <a:srgbClr val="C6D9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Fronteira de Pareto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2CB8ADD-FC38-40D4-B126-5A880A61407E}"/>
              </a:ext>
            </a:extLst>
          </p:cNvPr>
          <p:cNvSpPr>
            <a:spLocks noGrp="1"/>
          </p:cNvSpPr>
          <p:nvPr/>
        </p:nvSpPr>
        <p:spPr>
          <a:xfrm>
            <a:off x="9191625" y="4524375"/>
            <a:ext cx="1571625" cy="704850"/>
          </a:xfrm>
          <a:prstGeom prst="roundRect">
            <a:avLst>
              <a:gd name="adj" fmla="val 16216"/>
            </a:avLst>
          </a:prstGeom>
          <a:solidFill>
            <a:srgbClr val="F8FAE8"/>
          </a:solidFill>
          <a:ln w="19050">
            <a:solidFill>
              <a:srgbClr val="C6D9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Configuração</a:t>
            </a:r>
          </a:p>
          <a:p>
            <a:pPr algn="ctr">
              <a:buNone/>
              <a:defRPr sz="1200" b="1">
                <a:solidFill>
                  <a:srgbClr val="071B5B"/>
                </a:solidFill>
              </a:defRPr>
            </a:pPr>
            <a:r>
              <a:rPr sz="1200" b="1">
                <a:solidFill>
                  <a:srgbClr val="071B5B"/>
                </a:solidFill>
              </a:rPr>
              <a:t>selecionada</a:t>
            </a:r>
          </a:p>
        </p:txBody>
      </p:sp>
      <p:cxnSp>
        <p:nvCxnSpPr>
          <p:cNvPr id="89" name="Conector de Seta Reta 36"/>
          <p:cNvCxnSpPr>
            <a:stCxn id="18" idx="2"/>
            <a:endCxn id="22" idx="0"/>
          </p:cNvCxnSpPr>
          <p:nvPr/>
        </p:nvCxnSpPr>
        <p:spPr>
          <a:xfrm flipH="1">
            <a:off x="7929563" y="3733800"/>
            <a:ext cx="2524125" cy="790575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90" name="Conector de Seta Reta 37"/>
          <p:cNvCxnSpPr>
            <a:stCxn id="18" idx="2"/>
            <a:endCxn id="23" idx="0"/>
          </p:cNvCxnSpPr>
          <p:nvPr/>
        </p:nvCxnSpPr>
        <p:spPr>
          <a:xfrm flipH="1">
            <a:off x="9977438" y="3733800"/>
            <a:ext cx="476250" cy="790575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SEGMENTAÇÃO COM RF-DETR-SEG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0226D6-3A15-093C-3DE1-64FF7EC7C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Um cabeçalho leve gera embeddings de pixels.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O produto entre embeddings de queries e pixels produz as máscaras.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O modelo reutiliza um mapa de baixa resolução para limitar a latência.</a:t>
            </a:r>
            <a:endParaRPr/>
          </a:p>
          <a:p>
            <a:endParaRPr/>
          </a:p>
          <a:p>
            <a:pPr algn="l">
              <a:buNone/>
              <a:defRPr sz="1575">
                <a:solidFill>
                  <a:srgbClr val="071B5B"/>
                </a:solidFill>
              </a:defRPr>
            </a:pPr>
            <a:r>
              <a:rPr sz="1575">
                <a:solidFill>
                  <a:srgbClr val="071B5B"/>
                </a:solidFill>
              </a:rPr>
              <a:t>• O SAM2 gera pseudorrótulos de máscara para o Objects-365.</a:t>
            </a:r>
            <a:endParaRPr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CAEE362-9932-4EC3-BAC4-D0B9A6AA9A9C}"/>
              </a:ext>
            </a:extLst>
          </p:cNvPr>
          <p:cNvSpPr>
            <a:spLocks noGrp="1"/>
          </p:cNvSpPr>
          <p:nvPr/>
        </p:nvSpPr>
        <p:spPr>
          <a:xfrm>
            <a:off x="6667500" y="2619375"/>
            <a:ext cx="1476375" cy="857250"/>
          </a:xfrm>
          <a:prstGeom prst="roundRect">
            <a:avLst>
              <a:gd name="adj" fmla="val 13333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Mapa de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características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CEEBCF3-B2E9-4CA8-A0BA-0169368EB5B4}"/>
              </a:ext>
            </a:extLst>
          </p:cNvPr>
          <p:cNvSpPr>
            <a:spLocks noGrp="1"/>
          </p:cNvSpPr>
          <p:nvPr/>
        </p:nvSpPr>
        <p:spPr>
          <a:xfrm>
            <a:off x="9239250" y="2619375"/>
            <a:ext cx="1476375" cy="857250"/>
          </a:xfrm>
          <a:prstGeom prst="roundRect">
            <a:avLst>
              <a:gd name="adj" fmla="val 13333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Embedding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de pixels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DF68356-8D54-45C2-9415-9092F4CB1A4F}"/>
              </a:ext>
            </a:extLst>
          </p:cNvPr>
          <p:cNvSpPr>
            <a:spLocks noGrp="1"/>
          </p:cNvSpPr>
          <p:nvPr/>
        </p:nvSpPr>
        <p:spPr>
          <a:xfrm>
            <a:off x="6667500" y="4333875"/>
            <a:ext cx="1476375" cy="857250"/>
          </a:xfrm>
          <a:prstGeom prst="roundRect">
            <a:avLst>
              <a:gd name="adj" fmla="val 13333"/>
            </a:avLst>
          </a:prstGeom>
          <a:solidFill>
            <a:srgbClr val="EDF4FF"/>
          </a:solidFill>
          <a:ln w="19050">
            <a:solidFill>
              <a:srgbClr val="0057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Queries do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decoder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A5F9DDC-433D-47CD-9C48-B5EE9FEA3A91}"/>
              </a:ext>
            </a:extLst>
          </p:cNvPr>
          <p:cNvSpPr>
            <a:spLocks noGrp="1"/>
          </p:cNvSpPr>
          <p:nvPr/>
        </p:nvSpPr>
        <p:spPr>
          <a:xfrm>
            <a:off x="9239250" y="4333875"/>
            <a:ext cx="1476375" cy="857250"/>
          </a:xfrm>
          <a:prstGeom prst="roundRect">
            <a:avLst>
              <a:gd name="adj" fmla="val 13333"/>
            </a:avLst>
          </a:prstGeom>
          <a:solidFill>
            <a:srgbClr val="F8FAE8"/>
          </a:solidFill>
          <a:ln w="19050">
            <a:solidFill>
              <a:srgbClr val="C6D9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Máscaras por</a:t>
            </a:r>
          </a:p>
          <a:p>
            <a:pPr algn="ctr">
              <a:buNone/>
              <a:defRPr sz="1275" b="1">
                <a:solidFill>
                  <a:srgbClr val="071B5B"/>
                </a:solidFill>
              </a:defRPr>
            </a:pPr>
            <a:r>
              <a:rPr sz="1275" b="1">
                <a:solidFill>
                  <a:srgbClr val="071B5B"/>
                </a:solidFill>
              </a:rPr>
              <a:t>instância</a:t>
            </a:r>
          </a:p>
        </p:txBody>
      </p:sp>
      <p:cxnSp>
        <p:nvCxnSpPr>
          <p:cNvPr id="65" name="Conector de Seta Reta 28"/>
          <p:cNvCxnSpPr>
            <a:stCxn id="15" idx="3"/>
            <a:endCxn id="16" idx="1"/>
          </p:cNvCxnSpPr>
          <p:nvPr/>
        </p:nvCxnSpPr>
        <p:spPr>
          <a:xfrm>
            <a:off x="8143875" y="3048000"/>
            <a:ext cx="1095375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66" name="Conector de Seta Reta 29"/>
          <p:cNvCxnSpPr>
            <a:stCxn id="16" idx="2"/>
            <a:endCxn id="18" idx="0"/>
          </p:cNvCxnSpPr>
          <p:nvPr/>
        </p:nvCxnSpPr>
        <p:spPr>
          <a:xfrm>
            <a:off x="9977438" y="3476625"/>
            <a:ext cx="0" cy="85725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cxnSp>
        <p:nvCxnSpPr>
          <p:cNvPr id="67" name="Conector de Seta Reta 30"/>
          <p:cNvCxnSpPr>
            <a:stCxn id="17" idx="3"/>
            <a:endCxn id="18" idx="1"/>
          </p:cNvCxnSpPr>
          <p:nvPr/>
        </p:nvCxnSpPr>
        <p:spPr>
          <a:xfrm>
            <a:off x="8143875" y="4762500"/>
            <a:ext cx="1095375" cy="0"/>
          </a:xfrm>
          <a:prstGeom prst="straightConnector1">
            <a:avLst/>
          </a:prstGeom>
          <a:ln w="19050">
            <a:solidFill>
              <a:srgbClr val="0057B8"/>
            </a:solidFill>
            <a:prstDash val="solid"/>
            <a:tailEnd type="triangle" w="sm" len="sm"/>
          </a:ln>
        </p:spPr>
      </p:cxnSp>
      <p:sp>
        <p:nvSpPr>
          <p:cNvPr id="22" name="Retângulo 21">
            <a:extLst>
              <a:ext uri="{FF2B5EF4-FFF2-40B4-BE49-F238E27FC236}">
                <a16:creationId xmlns:a16="http://schemas.microsoft.com/office/drawing/2014/main" id="{3F2FFCC0-8E15-41FF-8778-208D6D5503F0}"/>
              </a:ext>
            </a:extLst>
          </p:cNvPr>
          <p:cNvSpPr>
            <a:spLocks noGrp="1"/>
          </p:cNvSpPr>
          <p:nvPr/>
        </p:nvSpPr>
        <p:spPr>
          <a:xfrm>
            <a:off x="8143875" y="3876675"/>
            <a:ext cx="114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E6B7A"/>
                </a:solidFill>
              </a:defRPr>
            </a:pPr>
            <a:r>
              <a:rPr sz="1125" b="1">
                <a:solidFill>
                  <a:srgbClr val="5E6B7A"/>
                </a:solidFill>
              </a:rPr>
              <a:t>produto escalar</a:t>
            </a:r>
          </a:p>
        </p:txBody>
      </p:sp>
    </p:spTree>
    <p:extLst>
      <p:ext uri="{BB962C8B-B14F-4D97-AF65-F5344CB8AC3E}">
        <p14:creationId xmlns:p14="http://schemas.microsoft.com/office/powerpoint/2010/main" val="127148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C9A733B6-04BE-71EB-0839-EAE5CAC59A28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COMO O ARTIGO MEDE DESEMPENHO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2FF579-5328-3E69-7886-FFC920410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A métrica principal é AP₅₀:₉₅, média da precisão em vários limiares de IoU.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artigo também separa objetos pequenos, médios e grandes.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Para eficiência, mede parâmetros, GFLOPs e latência.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endParaRPr/>
          </a:p>
          <a:p>
            <a:r>
              <a:t>A latência usa NVIDIA T4, TensorRT 10.4, pausa de 200 ms e o mesmo artefato para precisão e velocidade.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58C307E-5AE4-473C-B261-CE8945B39661}"/>
              </a:ext>
            </a:extLst>
          </p:cNvPr>
          <p:cNvSpPr>
            <a:spLocks noGrp="1"/>
          </p:cNvSpPr>
          <p:nvPr/>
        </p:nvSpPr>
        <p:spPr>
          <a:xfrm>
            <a:off x="6715125" y="21717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01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E735129-937B-4D13-BCEF-18DD2D568847}"/>
              </a:ext>
            </a:extLst>
          </p:cNvPr>
          <p:cNvSpPr>
            <a:spLocks noGrp="1"/>
          </p:cNvSpPr>
          <p:nvPr/>
        </p:nvSpPr>
        <p:spPr>
          <a:xfrm>
            <a:off x="7286625" y="21717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AP₅₀:₉₅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E252070-DB45-4E50-A90F-B2B09078E79F}"/>
              </a:ext>
            </a:extLst>
          </p:cNvPr>
          <p:cNvSpPr>
            <a:spLocks noGrp="1"/>
          </p:cNvSpPr>
          <p:nvPr/>
        </p:nvSpPr>
        <p:spPr>
          <a:xfrm>
            <a:off x="8763000" y="21717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métrica principal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2C4D2620-3F8F-44B3-8036-054C0901EC3B}"/>
              </a:ext>
            </a:extLst>
          </p:cNvPr>
          <p:cNvSpPr>
            <a:spLocks noGrp="1"/>
          </p:cNvSpPr>
          <p:nvPr/>
        </p:nvSpPr>
        <p:spPr>
          <a:xfrm>
            <a:off x="6715125" y="268605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93BE533-BD6A-4A19-B1F5-D99CBE13F433}"/>
              </a:ext>
            </a:extLst>
          </p:cNvPr>
          <p:cNvSpPr>
            <a:spLocks noGrp="1"/>
          </p:cNvSpPr>
          <p:nvPr/>
        </p:nvSpPr>
        <p:spPr>
          <a:xfrm>
            <a:off x="6715125" y="283845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02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8A18A4B-6C00-4502-815C-D9EFA6E4F758}"/>
              </a:ext>
            </a:extLst>
          </p:cNvPr>
          <p:cNvSpPr>
            <a:spLocks noGrp="1"/>
          </p:cNvSpPr>
          <p:nvPr/>
        </p:nvSpPr>
        <p:spPr>
          <a:xfrm>
            <a:off x="7286625" y="28384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AP₅₀ / AP₇₅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A850783-65B2-4A1E-A73A-34475C51743B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IoU flexível × rigoroso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A224F817-3237-4C69-BC87-A1DAFA91B4E8}"/>
              </a:ext>
            </a:extLst>
          </p:cNvPr>
          <p:cNvSpPr>
            <a:spLocks noGrp="1"/>
          </p:cNvSpPr>
          <p:nvPr/>
        </p:nvSpPr>
        <p:spPr>
          <a:xfrm>
            <a:off x="6715125" y="335280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6DDD75D-FA7B-494F-BC5C-B081F9BB6CFD}"/>
              </a:ext>
            </a:extLst>
          </p:cNvPr>
          <p:cNvSpPr>
            <a:spLocks noGrp="1"/>
          </p:cNvSpPr>
          <p:nvPr/>
        </p:nvSpPr>
        <p:spPr>
          <a:xfrm>
            <a:off x="6715125" y="35052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03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FB7B43C-9DF0-4983-9D15-71C3F47B7FF2}"/>
              </a:ext>
            </a:extLst>
          </p:cNvPr>
          <p:cNvSpPr>
            <a:spLocks noGrp="1"/>
          </p:cNvSpPr>
          <p:nvPr/>
        </p:nvSpPr>
        <p:spPr>
          <a:xfrm>
            <a:off x="7286625" y="35052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AP S / M / L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34EB9B1-A53B-48CA-AF75-C362FD49E6D7}"/>
              </a:ext>
            </a:extLst>
          </p:cNvPr>
          <p:cNvSpPr>
            <a:spLocks noGrp="1"/>
          </p:cNvSpPr>
          <p:nvPr/>
        </p:nvSpPr>
        <p:spPr>
          <a:xfrm>
            <a:off x="8763000" y="35052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porte dos objetos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30F3F8DA-FFC0-4973-8685-794792CA58CC}"/>
              </a:ext>
            </a:extLst>
          </p:cNvPr>
          <p:cNvSpPr>
            <a:spLocks noGrp="1"/>
          </p:cNvSpPr>
          <p:nvPr/>
        </p:nvSpPr>
        <p:spPr>
          <a:xfrm>
            <a:off x="6715125" y="401955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49690DF-BE14-4698-8396-B9EE4ED334BF}"/>
              </a:ext>
            </a:extLst>
          </p:cNvPr>
          <p:cNvSpPr>
            <a:spLocks noGrp="1"/>
          </p:cNvSpPr>
          <p:nvPr/>
        </p:nvSpPr>
        <p:spPr>
          <a:xfrm>
            <a:off x="6715125" y="417195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04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8327E55-511B-4CD7-B700-BC169C6A0A8A}"/>
              </a:ext>
            </a:extLst>
          </p:cNvPr>
          <p:cNvSpPr>
            <a:spLocks noGrp="1"/>
          </p:cNvSpPr>
          <p:nvPr/>
        </p:nvSpPr>
        <p:spPr>
          <a:xfrm>
            <a:off x="7286625" y="41719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GFLOPs + params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272DEB2-C4DF-4140-8A60-BD071DBD3DD5}"/>
              </a:ext>
            </a:extLst>
          </p:cNvPr>
          <p:cNvSpPr>
            <a:spLocks noGrp="1"/>
          </p:cNvSpPr>
          <p:nvPr/>
        </p:nvSpPr>
        <p:spPr>
          <a:xfrm>
            <a:off x="8763000" y="41719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custo do modelo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02EEE8F5-371C-41A9-85D8-D09653770C62}"/>
              </a:ext>
            </a:extLst>
          </p:cNvPr>
          <p:cNvSpPr>
            <a:spLocks noGrp="1"/>
          </p:cNvSpPr>
          <p:nvPr/>
        </p:nvSpPr>
        <p:spPr>
          <a:xfrm>
            <a:off x="6715125" y="4686300"/>
            <a:ext cx="4048125" cy="0"/>
          </a:xfrm>
          <a:prstGeom prst="line">
            <a:avLst/>
          </a:prstGeom>
          <a:noFill/>
          <a:ln w="9525">
            <a:solidFill>
              <a:srgbClr val="D8E2F0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C286EAF-8DB3-40EE-BBE7-0157A8C4EBEB}"/>
              </a:ext>
            </a:extLst>
          </p:cNvPr>
          <p:cNvSpPr>
            <a:spLocks noGrp="1"/>
          </p:cNvSpPr>
          <p:nvPr/>
        </p:nvSpPr>
        <p:spPr>
          <a:xfrm>
            <a:off x="6715125" y="4838700"/>
            <a:ext cx="428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057B8"/>
                </a:solidFill>
              </a:defRPr>
            </a:pPr>
            <a:r>
              <a:rPr sz="1500" b="1">
                <a:solidFill>
                  <a:srgbClr val="0057B8"/>
                </a:solidFill>
              </a:rPr>
              <a:t>05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590FD84-AC6A-4134-A0F9-7D69C93E5DC1}"/>
              </a:ext>
            </a:extLst>
          </p:cNvPr>
          <p:cNvSpPr>
            <a:spLocks noGrp="1"/>
          </p:cNvSpPr>
          <p:nvPr/>
        </p:nvSpPr>
        <p:spPr>
          <a:xfrm>
            <a:off x="7286625" y="48387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71B5B"/>
                </a:solidFill>
              </a:defRPr>
            </a:pPr>
            <a:r>
              <a:rPr sz="1425" b="1">
                <a:solidFill>
                  <a:srgbClr val="071B5B"/>
                </a:solidFill>
              </a:rPr>
              <a:t>Latência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B1F2575-8169-48C1-931F-085BE2B7E08B}"/>
              </a:ext>
            </a:extLst>
          </p:cNvPr>
          <p:cNvSpPr>
            <a:spLocks noGrp="1"/>
          </p:cNvSpPr>
          <p:nvPr/>
        </p:nvSpPr>
        <p:spPr>
          <a:xfrm>
            <a:off x="8763000" y="48387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T4 · TensorRT · 200 ms</a:t>
            </a:r>
          </a:p>
        </p:txBody>
      </p:sp>
    </p:spTree>
    <p:extLst>
      <p:ext uri="{BB962C8B-B14F-4D97-AF65-F5344CB8AC3E}">
        <p14:creationId xmlns:p14="http://schemas.microsoft.com/office/powerpoint/2010/main" val="2940901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RESULTADOS DE DETECÇÃO NO COCO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A família aumenta a precisão conforme cresce o orçamento de latência.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Nano alcança 48,0 AP em 2,3 ms e supera o D-FINE Nano em 5,3 AP.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2XL chega a 60,1 AP e é apresentado como o primeiro detector em tempo real acima de 60 AP no COCO.</a:t>
            </a:r>
            <a:endParaRPr/>
          </a:p>
        </p:txBody>
      </p:sp>
      <p:graphicFrame>
        <p:nvGraphicFramePr>
          <p:cNvPr id="18" name="Tabela 17"/>
          <p:cNvGraphicFramePr/>
          <p:nvPr/>
        </p:nvGraphicFramePr>
        <p:xfrm>
          <a:off x="6667500" y="2143125"/>
          <a:ext cx="4095750" cy="3192234"/>
        </p:xfrm>
        <a:graphic>
          <a:graphicData uri="http://schemas.openxmlformats.org/drawingml/2006/table">
            <a:tbl>
              <a:tblPr firstRow="1" bandRow="1"/>
              <a:tblGrid>
                <a:gridCol w="2578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8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 · GFLOPs · ms · AP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RF-DETR 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30,5M · 31,9 · 2,3 · 48,0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RF-DETR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32,1M · 59,8 · 3,5 · 52,9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RF-DETR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33,7M · 78,8 · 4,4 · 54,7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RF-DETR 2XL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126,9M · 438,4 · 17,2 · 60,1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D-FINE 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3,8M · 7,3 · 2,1 · 42,7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Ganho do 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+5,3 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RESULTADOS DE SEGMENTAÇÃO NO COCO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RF-DETR-Seg mantém a detecção ponta a ponta e acrescenta máscaras por instância.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Nano atinge 40,3 AP em 3,4 ms.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Mesmo o Nano supera o YOLOv11-Seg Medium em AP, com aproximadamente metade da latência.</a:t>
            </a:r>
            <a:endParaRPr/>
          </a:p>
        </p:txBody>
      </p:sp>
      <p:graphicFrame>
        <p:nvGraphicFramePr>
          <p:cNvPr id="18" name="Tabela 17"/>
          <p:cNvGraphicFramePr/>
          <p:nvPr/>
        </p:nvGraphicFramePr>
        <p:xfrm>
          <a:off x="6667500" y="2143125"/>
          <a:ext cx="4095750" cy="3192234"/>
        </p:xfrm>
        <a:graphic>
          <a:graphicData uri="http://schemas.openxmlformats.org/drawingml/2006/table">
            <a:tbl>
              <a:tblPr firstRow="1" bandRow="1"/>
              <a:tblGrid>
                <a:gridCol w="2578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8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 · GFLOPs · ms · AP</a:t>
                      </a:r>
                    </a:p>
                  </a:txBody>
                  <a:tcPr>
                    <a:solidFill>
                      <a:srgbClr val="071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RF-DETR-Seg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33,6M · 50,0 · 3,4 · 40,3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RF-DETR-Seg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33,7M · 70,6 · 4,4 · 43,1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RF-DETR-Seg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35,7M · 102,0 · 5,9 · 45,3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RF-DETR-Seg 2XL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38,6M · 435,3 · 21,8 · 49,9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YOLOv11-Seg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22,4M · 123,3 · 6,9 · 38,5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125"/>
                        <a:t>Nano vs YOLO-M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/>
                        <a:t>+1,8 AP · ~2× mais rápido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A VANTAGEM CONTINUA FORA DO COCO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1AB49-C58B-CA67-E243-E4DD12EF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RF100-VL reúne 100 conjuntos de dados e mede melhor a transferência para aplicações reais.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O RF-DETR 2XL ajustado alcança 63,5 AP, acima do GroundingDINO Tiny, e executa aproximadamente 20 vezes mais rápido.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Na segmentação COCO, o RF-DETR-Seg Nano chega a 40,3 AP em 3,4 ms.</a:t>
            </a:r>
            <a:endParaRPr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919A3E6-A9FC-4807-A9A0-229B858224AA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E6B7A"/>
                </a:solidFill>
              </a:defRPr>
            </a:pPr>
            <a:r>
              <a:rPr sz="1350" b="1">
                <a:solidFill>
                  <a:srgbClr val="5E6B7A"/>
                </a:solidFill>
              </a:rPr>
              <a:t>RF100-VL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E0157E7-2115-43CD-9060-629B9BB2812C}"/>
              </a:ext>
            </a:extLst>
          </p:cNvPr>
          <p:cNvSpPr>
            <a:spLocks noGrp="1"/>
          </p:cNvSpPr>
          <p:nvPr/>
        </p:nvSpPr>
        <p:spPr>
          <a:xfrm>
            <a:off x="6958654" y="2571750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550" b="1">
                <a:solidFill>
                  <a:srgbClr val="0057B8"/>
                </a:solidFill>
              </a:defRPr>
            </a:pPr>
            <a:r>
              <a:rPr sz="2550" b="1">
                <a:solidFill>
                  <a:srgbClr val="0057B8"/>
                </a:solidFill>
              </a:rPr>
              <a:t>63,5 AP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A4DC5FD-B638-4399-98A2-1C2090389525}"/>
              </a:ext>
            </a:extLst>
          </p:cNvPr>
          <p:cNvSpPr>
            <a:spLocks noGrp="1"/>
          </p:cNvSpPr>
          <p:nvPr/>
        </p:nvSpPr>
        <p:spPr>
          <a:xfrm>
            <a:off x="8858250" y="2571750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550" b="1">
                <a:solidFill>
                  <a:srgbClr val="071B5B"/>
                </a:solidFill>
              </a:defRPr>
            </a:pPr>
            <a:r>
              <a:rPr sz="2550" b="1">
                <a:solidFill>
                  <a:srgbClr val="071B5B"/>
                </a:solidFill>
              </a:rPr>
              <a:t>15,6 ms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29C79E4-07C5-4824-9C4F-0F0F35C5CCEE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RF-DETR 2XL ajustado</a:t>
            </a:r>
          </a:p>
        </p:txBody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0C4503CB-23B7-4E7D-BB24-499358857A34}"/>
              </a:ext>
            </a:extLst>
          </p:cNvPr>
          <p:cNvSpPr>
            <a:spLocks noGrp="1"/>
          </p:cNvSpPr>
          <p:nvPr/>
        </p:nvSpPr>
        <p:spPr>
          <a:xfrm>
            <a:off x="6858000" y="3714750"/>
            <a:ext cx="3714750" cy="0"/>
          </a:xfrm>
          <a:prstGeom prst="line">
            <a:avLst/>
          </a:prstGeom>
          <a:noFill/>
          <a:ln w="19050">
            <a:solidFill>
              <a:srgbClr val="D8E2F0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C7B8CBA-FFCE-4D7F-BA40-2D3935390446}"/>
              </a:ext>
            </a:extLst>
          </p:cNvPr>
          <p:cNvSpPr>
            <a:spLocks noGrp="1"/>
          </p:cNvSpPr>
          <p:nvPr/>
        </p:nvSpPr>
        <p:spPr>
          <a:xfrm>
            <a:off x="6667500" y="40005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E6B7A"/>
                </a:solidFill>
              </a:defRPr>
            </a:pPr>
            <a:r>
              <a:rPr sz="1350" b="1">
                <a:solidFill>
                  <a:srgbClr val="5E6B7A"/>
                </a:solidFill>
              </a:rPr>
              <a:t>SEGMENTAÇÃO COCO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CBE6D22-3F86-4E07-A8CE-6FA11461C883}"/>
              </a:ext>
            </a:extLst>
          </p:cNvPr>
          <p:cNvSpPr>
            <a:spLocks noGrp="1"/>
          </p:cNvSpPr>
          <p:nvPr/>
        </p:nvSpPr>
        <p:spPr>
          <a:xfrm>
            <a:off x="6667500" y="4364016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75" b="1">
                <a:solidFill>
                  <a:srgbClr val="071B5B"/>
                </a:solidFill>
              </a:defRPr>
            </a:pPr>
            <a:r>
              <a:rPr sz="2175" b="1">
                <a:solidFill>
                  <a:srgbClr val="071B5B"/>
                </a:solidFill>
              </a:rPr>
              <a:t>40,3 AP  •  3,4 ms</a:t>
            </a:r>
          </a:p>
        </p:txBody>
      </p:sp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CONCLUSÕES E LIMITAÇÕES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0226D6-3A15-093C-3DE1-64FF7EC7C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Principais limitações:</a:t>
            </a:r>
            <a:endParaRPr/>
          </a:p>
          <a:p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• A busca completa exige alto custo computacional;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• A latência depende do artefato e do protocolo de medição;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• O número de épocas nos conjuntos-alvo não é sempre explicitado;</a:t>
            </a:r>
            <a:endParaRPr/>
          </a:p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1500">
                <a:solidFill>
                  <a:srgbClr val="071B5B"/>
                </a:solidFill>
              </a:rPr>
              <a:t>• O ajuste fino pode reduzir a regularização e causar sobreajuste.</a:t>
            </a:r>
            <a:endParaRPr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23A63F3-D9C9-4E96-9168-879996C1347A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057B8"/>
                </a:solidFill>
              </a:defRPr>
            </a:pPr>
            <a:r>
              <a:rPr sz="1350" b="1">
                <a:solidFill>
                  <a:srgbClr val="0057B8"/>
                </a:solidFill>
              </a:rPr>
              <a:t>TAKEAWAY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77A59A4-929E-427B-AEF3-F48390E46AA2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1B5B"/>
                </a:solidFill>
              </a:defRPr>
            </a:pPr>
            <a:r>
              <a:rPr sz="1650" b="1">
                <a:solidFill>
                  <a:srgbClr val="071B5B"/>
                </a:solidFill>
              </a:rPr>
              <a:t>DINOv2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BA363B1-44CF-40FF-A50C-B0FABA49CD47}"/>
              </a:ext>
            </a:extLst>
          </p:cNvPr>
          <p:cNvSpPr>
            <a:spLocks noGrp="1"/>
          </p:cNvSpPr>
          <p:nvPr/>
        </p:nvSpPr>
        <p:spPr>
          <a:xfrm>
            <a:off x="7953375" y="3000375"/>
            <a:ext cx="428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C6D900"/>
                </a:solidFill>
              </a:defRPr>
            </a:pPr>
            <a:r>
              <a:rPr sz="2100" b="1">
                <a:solidFill>
                  <a:srgbClr val="C6D900"/>
                </a:solidFill>
              </a:rPr>
              <a:t>+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B402357-2F11-4B02-A037-03E195A55036}"/>
              </a:ext>
            </a:extLst>
          </p:cNvPr>
          <p:cNvSpPr>
            <a:spLocks noGrp="1"/>
          </p:cNvSpPr>
          <p:nvPr/>
        </p:nvSpPr>
        <p:spPr>
          <a:xfrm>
            <a:off x="8477250" y="3000375"/>
            <a:ext cx="95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1B5B"/>
                </a:solidFill>
              </a:defRPr>
            </a:pPr>
            <a:r>
              <a:rPr sz="1650" b="1">
                <a:solidFill>
                  <a:srgbClr val="071B5B"/>
                </a:solidFill>
              </a:rPr>
              <a:t>DETR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F1BE356-5A8F-4350-A603-8FC0D5EA8F8A}"/>
              </a:ext>
            </a:extLst>
          </p:cNvPr>
          <p:cNvSpPr>
            <a:spLocks noGrp="1"/>
          </p:cNvSpPr>
          <p:nvPr/>
        </p:nvSpPr>
        <p:spPr>
          <a:xfrm>
            <a:off x="9525000" y="3000375"/>
            <a:ext cx="428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C6D900"/>
                </a:solidFill>
              </a:defRPr>
            </a:pPr>
            <a:r>
              <a:rPr sz="2100" b="1">
                <a:solidFill>
                  <a:srgbClr val="C6D900"/>
                </a:solidFill>
              </a:rPr>
              <a:t>+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AB823D9-EB07-459A-A1CE-CE98F8C2F6AF}"/>
              </a:ext>
            </a:extLst>
          </p:cNvPr>
          <p:cNvSpPr>
            <a:spLocks noGrp="1"/>
          </p:cNvSpPr>
          <p:nvPr/>
        </p:nvSpPr>
        <p:spPr>
          <a:xfrm>
            <a:off x="10001250" y="3000375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1B5B"/>
                </a:solidFill>
              </a:defRPr>
            </a:pPr>
            <a:r>
              <a:rPr sz="1650" b="1">
                <a:solidFill>
                  <a:srgbClr val="071B5B"/>
                </a:solidFill>
              </a:rPr>
              <a:t>NAS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E924319-971E-4738-AB95-123477CAB683}"/>
              </a:ext>
            </a:extLst>
          </p:cNvPr>
          <p:cNvSpPr>
            <a:spLocks noGrp="1"/>
          </p:cNvSpPr>
          <p:nvPr/>
        </p:nvSpPr>
        <p:spPr>
          <a:xfrm>
            <a:off x="7000875" y="4000500"/>
            <a:ext cx="3429000" cy="1095375"/>
          </a:xfrm>
          <a:prstGeom prst="roundRect">
            <a:avLst>
              <a:gd name="adj" fmla="val 10435"/>
            </a:avLst>
          </a:prstGeom>
          <a:solidFill>
            <a:srgbClr val="F8FAE8"/>
          </a:solidFill>
          <a:ln w="19050">
            <a:solidFill>
              <a:srgbClr val="C6D9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71B5B"/>
                </a:solidFill>
              </a:defRPr>
            </a:pPr>
            <a:r>
              <a:rPr sz="1500" b="1">
                <a:solidFill>
                  <a:srgbClr val="071B5B"/>
                </a:solidFill>
              </a:rPr>
              <a:t>Precisão, velocidade e flexibilidade</a:t>
            </a:r>
          </a:p>
          <a:p>
            <a:pPr algn="ctr">
              <a:buNone/>
              <a:defRPr sz="1500" b="1">
                <a:solidFill>
                  <a:srgbClr val="071B5B"/>
                </a:solidFill>
              </a:defRPr>
            </a:pPr>
            <a:r>
              <a:rPr sz="1500" b="1">
                <a:solidFill>
                  <a:srgbClr val="071B5B"/>
                </a:solidFill>
              </a:rPr>
              <a:t>sem retreinar cada variante</a:t>
            </a:r>
          </a:p>
        </p:txBody>
      </p:sp>
    </p:spTree>
    <p:extLst>
      <p:ext uri="{BB962C8B-B14F-4D97-AF65-F5344CB8AC3E}">
        <p14:creationId xmlns:p14="http://schemas.microsoft.com/office/powerpoint/2010/main" val="1271481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0D415230-BF79-E955-73F5-685E30F8DB61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r>
              <a:rPr sz="3600" b="0"/>
              <a:t>Obrigado a todos! </a:t>
            </a:r>
            <a:endParaRPr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64A46E-11A0-9145-F988-0518ACA3B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376" y="1828800"/>
            <a:ext cx="5625401" cy="4343400"/>
          </a:xfrm>
        </p:spPr>
        <p:txBody>
          <a:bodyPr anchor="t">
            <a:normAutofit/>
          </a:bodyPr>
          <a:lstStyle/>
          <a:p>
            <a:pPr algn="l">
              <a:buNone/>
              <a:defRPr sz="1500">
                <a:solidFill>
                  <a:srgbClr val="071B5B"/>
                </a:solidFill>
              </a:defRPr>
            </a:pPr>
            <a:r>
              <a:rPr sz="2400">
                <a:solidFill>
                  <a:srgbClr val="071B5B"/>
                </a:solidFill>
              </a:rPr>
              <a:t>Dúvidas??</a:t>
            </a:r>
            <a:endParaRPr sz="2400"/>
          </a:p>
        </p:txBody>
      </p:sp>
      <p:pic>
        <p:nvPicPr>
          <p:cNvPr id="19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717" y="2913597"/>
            <a:ext cx="2526183" cy="260856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99D2F73-C9FB-81A5-76A5-C62D7843CF0B}"/>
              </a:ext>
            </a:extLst>
          </p:cNvPr>
          <p:cNvSpPr>
            <a:spLocks noGrp="1"/>
          </p:cNvSpPr>
          <p:nvPr/>
        </p:nvSpPr>
        <p:spPr>
          <a:xfrm>
            <a:off x="2661112" y="2539138"/>
            <a:ext cx="100815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l">
              <a:buNone/>
            </a:pPr>
            <a:r>
              <a:t>GITHUB</a:t>
            </a:r>
          </a:p>
        </p:txBody>
      </p:sp>
      <p:pic>
        <p:nvPicPr>
          <p:cNvPr id="21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205" y="2913598"/>
            <a:ext cx="2620914" cy="259804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CB2B603-0F37-BCED-0119-794196FD65FF}"/>
              </a:ext>
            </a:extLst>
          </p:cNvPr>
          <p:cNvSpPr>
            <a:spLocks noGrp="1"/>
          </p:cNvSpPr>
          <p:nvPr/>
        </p:nvSpPr>
        <p:spPr>
          <a:xfrm>
            <a:off x="7385215" y="2539137"/>
            <a:ext cx="100815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l">
              <a:buNone/>
            </a:pPr>
            <a:r>
              <a:t>FORMS</a:t>
            </a:r>
          </a:p>
        </p:txBody>
      </p:sp>
    </p:spTree>
    <p:extLst>
      <p:ext uri="{BB962C8B-B14F-4D97-AF65-F5344CB8AC3E}">
        <p14:creationId xmlns:p14="http://schemas.microsoft.com/office/powerpoint/2010/main" val="3163522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A3BD98-7445-4CDF-B47D-EDA2DACCB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RF-DETR
Dúvidas?</a:t>
            </a:r>
          </a:p>
        </p:txBody>
      </p:sp>
    </p:spTree>
    <p:extLst>
      <p:ext uri="{BB962C8B-B14F-4D97-AF65-F5344CB8AC3E}">
        <p14:creationId xmlns:p14="http://schemas.microsoft.com/office/powerpoint/2010/main" val="283815630"/>
      </p:ext>
    </p:extLst>
  </p:cSld>
  <p:clrMapOvr>
    <a:masterClrMapping/>
  </p:clrMapOvr>
</p:sld>
</file>

<file path=ppt/theme/theme1.xml><?xml version="1.0" encoding="utf-8"?>
<a:theme xmlns:a="http://schemas.openxmlformats.org/drawingml/2006/main" name="Apresentação de relatório mundial de país">
  <a:themeElements>
    <a:clrScheme name="Personalizada 8">
      <a:dk1>
        <a:sysClr val="windowText" lastClr="000000"/>
      </a:dk1>
      <a:lt1>
        <a:sysClr val="window" lastClr="FFFFFF"/>
      </a:lt1>
      <a:dk2>
        <a:srgbClr val="002459"/>
      </a:dk2>
      <a:lt2>
        <a:srgbClr val="DBEFF9"/>
      </a:lt2>
      <a:accent1>
        <a:srgbClr val="0053D7"/>
      </a:accent1>
      <a:accent2>
        <a:srgbClr val="FF00E2"/>
      </a:accent2>
      <a:accent3>
        <a:srgbClr val="9DFF00"/>
      </a:accent3>
      <a:accent4>
        <a:srgbClr val="FF2900"/>
      </a:accent4>
      <a:accent5>
        <a:srgbClr val="00B0F0"/>
      </a:accent5>
      <a:accent6>
        <a:srgbClr val="BE32DA"/>
      </a:accent6>
      <a:hlink>
        <a:srgbClr val="FE811A"/>
      </a:hlink>
      <a:folHlink>
        <a:srgbClr val="10CF9B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a 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presentação de relatório mundial de país">
  <a:themeElements>
    <a:clrScheme name="Personalizada 8">
      <a:dk1>
        <a:sysClr val="windowText" lastClr="000000"/>
      </a:dk1>
      <a:lt1>
        <a:sysClr val="window" lastClr="FFFFFF"/>
      </a:lt1>
      <a:dk2>
        <a:srgbClr val="002459"/>
      </a:dk2>
      <a:lt2>
        <a:srgbClr val="DBEFF9"/>
      </a:lt2>
      <a:accent1>
        <a:srgbClr val="0053D7"/>
      </a:accent1>
      <a:accent2>
        <a:srgbClr val="FF00E2"/>
      </a:accent2>
      <a:accent3>
        <a:srgbClr val="9DFF00"/>
      </a:accent3>
      <a:accent4>
        <a:srgbClr val="FF2900"/>
      </a:accent4>
      <a:accent5>
        <a:srgbClr val="00B0F0"/>
      </a:accent5>
      <a:accent6>
        <a:srgbClr val="BE32DA"/>
      </a:accent6>
      <a:hlink>
        <a:srgbClr val="FE811A"/>
      </a:hlink>
      <a:folHlink>
        <a:srgbClr val="10CF9B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a 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Personalizar</PresentationFormat>
  <Slides>21</Slides>
  <Notes>21</Notes>
  <HiddenSlides>2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Apresentação de relatório mundial de país</vt:lpstr>
      <vt:lpstr>RF-DETR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38</cp:revision>
  <dcterms:created xsi:type="dcterms:W3CDTF">2026-08-17T21:55:57Z</dcterms:created>
  <dcterms:modified xsi:type="dcterms:W3CDTF">2026-08-17T23:47:24Z</dcterms:modified>
</cp:coreProperties>
</file>