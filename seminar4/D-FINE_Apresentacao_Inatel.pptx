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5"/>
  </p:notesMasterIdLst>
  <p:handoutMasterIdLst>
    <p:handoutMasterId r:id="rId36"/>
  </p:handoutMasterIdLst>
  <p:sldIdLst>
    <p:sldId id="270" r:id="rId2"/>
    <p:sldId id="269" r:id="rId3"/>
    <p:sldId id="279" r:id="rId4"/>
    <p:sldId id="383" r:id="rId5"/>
    <p:sldId id="397" r:id="rId6"/>
    <p:sldId id="398" r:id="rId7"/>
    <p:sldId id="399" r:id="rId8"/>
    <p:sldId id="400" r:id="rId9"/>
    <p:sldId id="401" r:id="rId10"/>
    <p:sldId id="402" r:id="rId11"/>
    <p:sldId id="403" r:id="rId12"/>
    <p:sldId id="404" r:id="rId13"/>
    <p:sldId id="405" r:id="rId14"/>
    <p:sldId id="406" r:id="rId15"/>
    <p:sldId id="407" r:id="rId16"/>
    <p:sldId id="408" r:id="rId17"/>
    <p:sldId id="409" r:id="rId18"/>
    <p:sldId id="410" r:id="rId19"/>
    <p:sldId id="420" r:id="rId20"/>
    <p:sldId id="411" r:id="rId21"/>
    <p:sldId id="412" r:id="rId22"/>
    <p:sldId id="413" r:id="rId23"/>
    <p:sldId id="414" r:id="rId24"/>
    <p:sldId id="415" r:id="rId25"/>
    <p:sldId id="416" r:id="rId26"/>
    <p:sldId id="421" r:id="rId27"/>
    <p:sldId id="417" r:id="rId28"/>
    <p:sldId id="418" r:id="rId29"/>
    <p:sldId id="419" r:id="rId30"/>
    <p:sldId id="274" r:id="rId31"/>
    <p:sldId id="424" r:id="rId32"/>
    <p:sldId id="422" r:id="rId33"/>
    <p:sldId id="423" r:id="rId34"/>
  </p:sldIdLst>
  <p:sldSz cx="12188825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1152">
          <p15:clr>
            <a:srgbClr val="A4A3A4"/>
          </p15:clr>
        </p15:guide>
        <p15:guide id="4" orient="horz" pos="3888">
          <p15:clr>
            <a:srgbClr val="A4A3A4"/>
          </p15:clr>
        </p15:guide>
        <p15:guide id="5" orient="horz" pos="3072">
          <p15:clr>
            <a:srgbClr val="A4A3A4"/>
          </p15:clr>
        </p15:guide>
        <p15:guide id="6" orient="horz" pos="432">
          <p15:clr>
            <a:srgbClr val="A4A3A4"/>
          </p15:clr>
        </p15:guide>
        <p15:guide id="7" orient="horz" pos="3648">
          <p15:clr>
            <a:srgbClr val="A4A3A4"/>
          </p15:clr>
        </p15:guide>
        <p15:guide id="8" pos="3839">
          <p15:clr>
            <a:srgbClr val="A4A3A4"/>
          </p15:clr>
        </p15:guide>
        <p15:guide id="9" pos="767">
          <p15:clr>
            <a:srgbClr val="A4A3A4"/>
          </p15:clr>
        </p15:guide>
        <p15:guide id="10" pos="6911">
          <p15:clr>
            <a:srgbClr val="A4A3A4"/>
          </p15:clr>
        </p15:guide>
        <p15:guide id="11" pos="5711">
          <p15:clr>
            <a:srgbClr val="A4A3A4"/>
          </p15:clr>
        </p15:guide>
        <p15:guide id="12" pos="7247">
          <p15:clr>
            <a:srgbClr val="A4A3A4"/>
          </p15:clr>
        </p15:guide>
        <p15:guide id="13" pos="3695">
          <p15:clr>
            <a:srgbClr val="A4A3A4"/>
          </p15:clr>
        </p15:guide>
        <p15:guide id="14" pos="431">
          <p15:clr>
            <a:srgbClr val="A4A3A4"/>
          </p15:clr>
        </p15:guide>
        <p15:guide id="15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953"/>
    <a:srgbClr val="F1FAE8"/>
    <a:srgbClr val="E8FFCF"/>
    <a:srgbClr val="8080FF"/>
    <a:srgbClr val="CBCBCB"/>
    <a:srgbClr val="9DFF00"/>
    <a:srgbClr val="0058FF"/>
    <a:srgbClr val="FF00E2"/>
    <a:srgbClr val="FF2900"/>
    <a:srgbClr val="91ED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E400C0-0E17-C0E6-B0BF-1AB5905C6DDA}" v="40" dt="2026-10-12T19:01:47.058"/>
    <p1510:client id="{F27B06E0-3990-FDB4-537E-6D74BF4BC97D}" v="21" dt="2026-10-12T21:46:58.498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Estilo Médio 4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113A9D2-9D6B-4929-AA2D-F23B5EE8CBE7}" styleName="Estilo com Tema 2 - Ênfase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orient="horz" pos="1008"/>
        <p:guide orient="horz" pos="1152"/>
        <p:guide orient="horz" pos="3888"/>
        <p:guide orient="horz" pos="3072"/>
        <p:guide orient="horz" pos="432"/>
        <p:guide orient="horz" pos="3648"/>
        <p:guide pos="3839"/>
        <p:guide pos="767"/>
        <p:guide pos="6911"/>
        <p:guide pos="5711"/>
        <p:guide pos="7247"/>
        <p:guide pos="3695"/>
        <p:guide pos="431"/>
        <p:guide pos="2879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1E8C421-2CF4-4169-A1B1-98EF081EE769}" type="datetime1">
              <a:rPr lang="pt-BR" smtClean="0"/>
              <a:t>12/10/2026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446DCAE-1661-43FF-8A44-43DAFDC1FD9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98055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7E77F6C-2F42-4685-9053-FAC10C7A352D}" type="datetime1">
              <a:rPr lang="pt-BR" noProof="0" smtClean="0"/>
              <a:t>12/10/2026</a:t>
            </a:fld>
            <a:endParaRPr lang="pt-BR" noProof="0"/>
          </a:p>
        </p:txBody>
      </p:sp>
      <p:sp>
        <p:nvSpPr>
          <p:cNvPr id="4" name="Espaço reservado para 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9C971FF-EF28-4195-A575-329446EFAA55}" type="slidenum">
              <a:rPr lang="pt-BR" noProof="0" smtClean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989950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sugerido: 0.1 min.</a:t>
            </a:r>
          </a:p>
          <a:p>
            <a:r>
              <a:t>Abertura institucional visual. Avançar diretamente para a capa acadêmica.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Bom </a:t>
            </a:r>
            <a:r>
              <a:rPr lang="en-US" dirty="0" err="1"/>
              <a:t>dia</a:t>
            </a:r>
            <a:r>
              <a:rPr lang="en-US" dirty="0"/>
              <a:t> a </a:t>
            </a:r>
            <a:r>
              <a:rPr lang="en-US" dirty="0" err="1"/>
              <a:t>todos</a:t>
            </a:r>
            <a:r>
              <a:rPr lang="en-US" dirty="0"/>
              <a:t>. </a:t>
            </a:r>
            <a:r>
              <a:rPr lang="en-US" dirty="0" err="1"/>
              <a:t>Hoje</a:t>
            </a:r>
            <a:r>
              <a:rPr lang="en-US" dirty="0"/>
              <a:t> </a:t>
            </a:r>
            <a:r>
              <a:rPr lang="en-US" dirty="0" err="1"/>
              <a:t>vou</a:t>
            </a:r>
            <a:r>
              <a:rPr lang="en-US" dirty="0"/>
              <a:t> </a:t>
            </a:r>
            <a:r>
              <a:rPr lang="en-US" dirty="0" err="1"/>
              <a:t>apresentar</a:t>
            </a:r>
            <a:r>
              <a:rPr lang="en-US" dirty="0"/>
              <a:t> um </a:t>
            </a:r>
            <a:r>
              <a:rPr lang="en-US" dirty="0" err="1"/>
              <a:t>trabalho</a:t>
            </a:r>
            <a:r>
              <a:rPr lang="en-US" dirty="0"/>
              <a:t> </a:t>
            </a:r>
            <a:r>
              <a:rPr lang="en-US" dirty="0" err="1"/>
              <a:t>relacionado</a:t>
            </a:r>
            <a:r>
              <a:rPr lang="en-US" dirty="0"/>
              <a:t> à </a:t>
            </a:r>
            <a:r>
              <a:rPr lang="en-US" dirty="0" err="1"/>
              <a:t>detecção</a:t>
            </a:r>
            <a:r>
              <a:rPr lang="en-US" dirty="0"/>
              <a:t> de </a:t>
            </a:r>
            <a:r>
              <a:rPr lang="en-US" dirty="0" err="1"/>
              <a:t>objetos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tempo real. </a:t>
            </a:r>
            <a:r>
              <a:rPr lang="pt-BR" dirty="0"/>
              <a:t>A ideia central: localizar objetos com mais precisão sem sacrificar a velocidade.</a:t>
            </a:r>
            <a:endParaRPr lang="en-US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69C971FF-EF28-4195-A575-329446EFAA55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81780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Inicialmente, vou contextualizar o problema da detecção de objetos e explicar como funciona a família DETR.</a:t>
            </a:r>
          </a:p>
          <a:p>
            <a:r>
              <a:rPr lang="pt-BR" dirty="0"/>
              <a:t>Em seguida, apresentarei as duas principais contribuições do D-FINE: o refinamento de distribuições, chamado FDR, e a </a:t>
            </a:r>
            <a:r>
              <a:rPr lang="pt-BR" dirty="0" err="1"/>
              <a:t>autodestilação</a:t>
            </a:r>
            <a:r>
              <a:rPr lang="pt-BR" dirty="0"/>
              <a:t> de localização, chamada GO-LSD.</a:t>
            </a:r>
          </a:p>
          <a:p>
            <a:r>
              <a:rPr lang="pt-BR"/>
              <a:t>Depois, discutirei as modificações arquiteturais, os resultados experimentais, os estudos de ablação e, por fim, as principais limitações e conclusões do trabalho.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69C971FF-EF28-4195-A575-329446EFAA55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2971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Na detecção de objetos, temos duas tarefas fundamentais: a classificação e a localização.</a:t>
            </a:r>
          </a:p>
          <a:p>
            <a:r>
              <a:rPr lang="pt-BR"/>
              <a:t>A classificação identifica qual objeto está presente na imagem, enquanto a localização determina a região ocupada por esse objeto por meio de uma caixa delimitadora.</a:t>
            </a:r>
          </a:p>
          <a:p>
            <a:r>
              <a:rPr lang="pt-BR"/>
              <a:t>Podemos classificar corretamente um objeto, mas ainda produzir uma caixa imprecisa.</a:t>
            </a:r>
          </a:p>
          <a:p>
            <a:r>
              <a:rPr lang="pt-BR" dirty="0"/>
              <a:t>Para avaliar essa localização, utilizamos métricas como a </a:t>
            </a:r>
            <a:r>
              <a:rPr lang="pt-BR" dirty="0" err="1"/>
              <a:t>Intersection</a:t>
            </a:r>
            <a:r>
              <a:rPr lang="pt-BR" dirty="0"/>
              <a:t> over Union, ou </a:t>
            </a:r>
            <a:r>
              <a:rPr lang="pt-BR" dirty="0" err="1"/>
              <a:t>IoU</a:t>
            </a:r>
            <a:r>
              <a:rPr lang="pt-BR" dirty="0"/>
              <a:t>, que representa a relação entre a área de interseção e a área de união de duas caixas.</a:t>
            </a:r>
          </a:p>
          <a:p>
            <a:r>
              <a:rPr lang="pt-BR" dirty="0"/>
              <a:t>Quanto maior a sobreposição entre a caixa prevista e a referência, maior o </a:t>
            </a:r>
            <a:r>
              <a:rPr lang="pt-BR" dirty="0" err="1"/>
              <a:t>IoU</a:t>
            </a:r>
            <a:r>
              <a:rPr lang="pt-BR" dirty="0"/>
              <a:t>.</a:t>
            </a:r>
          </a:p>
          <a:p>
            <a:r>
              <a:rPr lang="pt-BR"/>
              <a:t>A motivação do D-FINE está justamente em melhorar a precisão dessa localização.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O DETR, ou </a:t>
            </a:r>
            <a:r>
              <a:rPr lang="en-US" i="1"/>
              <a:t>Detection Transformer</a:t>
            </a:r>
            <a:r>
              <a:rPr lang="en-US"/>
              <a:t>, introduziu uma abordagem baseada em Transformers para realizar detecção de objetos.</a:t>
            </a:r>
            <a:endParaRPr lang="pt-BR"/>
          </a:p>
          <a:p>
            <a:r>
              <a:rPr lang="en-US"/>
              <a:t>Inicialmente, um backbone extrai características da imagem. Essas características são processadas pelo encoder e utilizadas pelo decoder.</a:t>
            </a:r>
            <a:endParaRPr lang="pt-BR"/>
          </a:p>
          <a:p>
            <a:r>
              <a:rPr lang="en-US"/>
              <a:t>O decoder trabalha com </a:t>
            </a:r>
            <a:r>
              <a:rPr lang="en-US" i="1"/>
              <a:t>object queries</a:t>
            </a:r>
            <a:r>
              <a:rPr lang="en-US"/>
              <a:t>, representações aprendidas que permitem ao modelo prever classes e caixas delimitadoras.</a:t>
            </a:r>
            <a:endParaRPr lang="pt-BR"/>
          </a:p>
          <a:p>
            <a:r>
              <a:rPr lang="en-US"/>
              <a:t>Durante o treinamento, o DETR utiliza o algoritmo húngaro para realizar o emparelhamento entre as predições e os objetos reais.</a:t>
            </a:r>
            <a:endParaRPr lang="pt-BR"/>
          </a:p>
          <a:p>
            <a:r>
              <a:rPr lang="en-US"/>
              <a:t>Uma característica importante é que essa formulação permite realizar detecção sem depender de Non-Maximum Suppression, o NMS, para eliminar caixas redundantes.</a:t>
            </a:r>
            <a:endParaRPr lang="pt-BR"/>
          </a:p>
          <a:p>
            <a:r>
              <a:rPr lang="en-US"/>
              <a:t>Posteriormente, o RT-DETR adaptou essa arquitetura para aplicações em tempo real, reduzindo o custo computacional.</a:t>
            </a:r>
            <a:endParaRPr lang="pt-BR"/>
          </a:p>
          <a:p>
            <a:r>
              <a:rPr lang="en-US"/>
              <a:t>O D-FINE parte dessa arquitetura e propõe melhorias principalmente na regressão das caixas.</a:t>
            </a:r>
            <a:endParaRPr lang="pt-BR"/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Tradicionalmente, os detectores estimam caixas por meio de coordenadas, como centro, largura e altura, ou distâncias às quatro bordas.</a:t>
            </a:r>
          </a:p>
          <a:p>
            <a:r>
              <a:rPr lang="pt-BR" dirty="0"/>
              <a:t>Essas previsões são normalmente supervisionadas por funções de perda, como L1 e </a:t>
            </a:r>
            <a:r>
              <a:rPr lang="pt-BR" dirty="0" err="1"/>
              <a:t>IoU</a:t>
            </a:r>
            <a:r>
              <a:rPr lang="pt-BR" dirty="0"/>
              <a:t>.</a:t>
            </a:r>
          </a:p>
          <a:p>
            <a:r>
              <a:rPr lang="pt-BR"/>
              <a:t>O problema destacado pelo artigo é que essa representação fornece diretamente valores de coordenadas, mas não explicita uma distribuição de possíveis correções para cada borda.</a:t>
            </a:r>
          </a:p>
          <a:p>
            <a:r>
              <a:rPr lang="pt-BR"/>
              <a:t>Dessa forma, o processo de refinamento dispõe de menos informações intermediárias sobre diferentes alternativas de localização.</a:t>
            </a:r>
          </a:p>
          <a:p>
            <a:r>
              <a:rPr lang="pt-BR"/>
              <a:t>Isso pode dificultar a otimização, especialmente em situações nas quais os limites dos objetos são ambíguos ou pequenos deslocamentos prejudicam a precisão.</a:t>
            </a:r>
          </a:p>
          <a:p>
            <a:r>
              <a:rPr lang="pt-BR"/>
              <a:t>A questão investigada pelos autores é como melhorar esse refinamento mantendo o detector eficiente.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Para solucionar esse problema, o D-FINE apresenta duas contribuições principais.</a:t>
            </a:r>
          </a:p>
          <a:p>
            <a:r>
              <a:rPr lang="pt-BR" dirty="0"/>
              <a:t>A primeira é o </a:t>
            </a:r>
            <a:r>
              <a:rPr lang="pt-BR" b="1" dirty="0"/>
              <a:t>Fine-</a:t>
            </a:r>
            <a:r>
              <a:rPr lang="pt-BR" b="1" dirty="0" err="1"/>
              <a:t>grained</a:t>
            </a:r>
            <a:r>
              <a:rPr lang="pt-BR" b="1" dirty="0"/>
              <a:t> </a:t>
            </a:r>
            <a:r>
              <a:rPr lang="pt-BR" b="1" dirty="0" err="1"/>
              <a:t>Distribution</a:t>
            </a:r>
            <a:r>
              <a:rPr lang="pt-BR" b="1" dirty="0"/>
              <a:t> </a:t>
            </a:r>
            <a:r>
              <a:rPr lang="pt-BR" b="1" dirty="0" err="1"/>
              <a:t>Refinement</a:t>
            </a:r>
            <a:r>
              <a:rPr lang="pt-BR" dirty="0"/>
              <a:t>, ou FDR, responsável por representar e refinar correções das bordas utilizando distribuições de probabilidade.</a:t>
            </a:r>
          </a:p>
          <a:p>
            <a:r>
              <a:rPr lang="pt-BR" dirty="0"/>
              <a:t>A segunda é o </a:t>
            </a:r>
            <a:r>
              <a:rPr lang="pt-BR" b="1" dirty="0"/>
              <a:t>Global </a:t>
            </a:r>
            <a:r>
              <a:rPr lang="pt-BR" b="1" dirty="0" err="1"/>
              <a:t>Optimal</a:t>
            </a:r>
            <a:r>
              <a:rPr lang="pt-BR" b="1" dirty="0"/>
              <a:t> </a:t>
            </a:r>
            <a:r>
              <a:rPr lang="pt-BR" b="1" dirty="0" err="1"/>
              <a:t>Localization</a:t>
            </a:r>
            <a:r>
              <a:rPr lang="pt-BR" b="1" dirty="0"/>
              <a:t> Self-</a:t>
            </a:r>
            <a:r>
              <a:rPr lang="pt-BR" b="1" dirty="0" err="1"/>
              <a:t>Distillation</a:t>
            </a:r>
            <a:r>
              <a:rPr lang="pt-BR" dirty="0"/>
              <a:t>, ou GO-LSD, que utiliza informações das últimas camadas do </a:t>
            </a:r>
            <a:r>
              <a:rPr lang="pt-BR" dirty="0" err="1"/>
              <a:t>decoder</a:t>
            </a:r>
            <a:r>
              <a:rPr lang="pt-BR" dirty="0"/>
              <a:t> para melhorar as previsões das camadas anteriores.</a:t>
            </a:r>
          </a:p>
          <a:p>
            <a:r>
              <a:rPr lang="pt-BR"/>
              <a:t>É importante destacar que o D-FINE não constrói uma arquitetura inteiramente nova.</a:t>
            </a:r>
          </a:p>
          <a:p>
            <a:r>
              <a:rPr lang="pt-BR"/>
              <a:t>Ele utiliza o RT-DETR como base e combina essas duas contribuições com modificações arquiteturais destinadas à eficiência computacional.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Esta figura apresenta o funcionamento do FDR, que é uma das principais contribuições do artigo.</a:t>
            </a:r>
          </a:p>
          <a:p>
            <a:r>
              <a:rPr lang="pt-BR" dirty="0"/>
              <a:t>Na primeira camada do </a:t>
            </a:r>
            <a:r>
              <a:rPr lang="pt-BR" dirty="0" err="1"/>
              <a:t>decoder</a:t>
            </a:r>
            <a:r>
              <a:rPr lang="pt-BR" dirty="0"/>
              <a:t>, o modelo prevê uma caixa delimitadora inicial e quatro distribuições, correspondentes às bordas superior, inferior, esquerda e direita.</a:t>
            </a:r>
          </a:p>
          <a:p>
            <a:r>
              <a:rPr lang="pt-BR"/>
              <a:t>Diferentemente da regressão convencional, essas distribuições representam possíveis deslocamentos das bordas em relação à caixa inicial.</a:t>
            </a:r>
          </a:p>
          <a:p>
            <a:r>
              <a:rPr lang="pt-BR" dirty="0"/>
              <a:t>Cada distribuição é composta por valores discretos, denominados </a:t>
            </a:r>
            <a:r>
              <a:rPr lang="pt-BR" i="1" dirty="0" err="1"/>
              <a:t>bins</a:t>
            </a:r>
            <a:r>
              <a:rPr lang="pt-BR" dirty="0"/>
              <a:t>, associados a probabilidades.</a:t>
            </a:r>
          </a:p>
          <a:p>
            <a:r>
              <a:rPr lang="pt-BR"/>
              <a:t>Nas camadas seguintes, o modelo atualiza essas distribuições de maneira residual, refinando progressivamente os deslocamentos.</a:t>
            </a:r>
          </a:p>
          <a:p>
            <a:r>
              <a:rPr lang="pt-BR"/>
              <a:t>Posteriormente, utiliza uma função de ponderação para transformar as distribuições em correções geométricas.</a:t>
            </a:r>
          </a:p>
          <a:p>
            <a:r>
              <a:rPr lang="pt-BR"/>
              <a:t>O resultado é uma nova caixa delimitadora, potencialmente mais precisa do que a previsão inicial.</a:t>
            </a:r>
          </a:p>
          <a:p>
            <a:r>
              <a:rPr lang="pt-BR" dirty="0"/>
              <a:t>Portanto, a inovação não está apenas em prever distribuições, mas em </a:t>
            </a:r>
            <a:r>
              <a:rPr lang="pt-BR" b="1" dirty="0"/>
              <a:t>refiná-las sucessivamente ao longo do </a:t>
            </a:r>
            <a:r>
              <a:rPr lang="pt-BR" b="1" dirty="0" err="1"/>
              <a:t>decoder</a:t>
            </a:r>
            <a:r>
              <a:rPr lang="pt-B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Neste slide, </a:t>
            </a:r>
            <a:r>
              <a:rPr lang="en-US" dirty="0" err="1"/>
              <a:t>temos</a:t>
            </a:r>
            <a:r>
              <a:rPr lang="en-US" dirty="0"/>
              <a:t> as </a:t>
            </a:r>
            <a:r>
              <a:rPr lang="en-US" dirty="0" err="1"/>
              <a:t>equações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descrevem</a:t>
            </a:r>
            <a:r>
              <a:rPr lang="en-US" dirty="0"/>
              <a:t> </a:t>
            </a:r>
            <a:r>
              <a:rPr lang="en-US" dirty="0" err="1"/>
              <a:t>matematicamente</a:t>
            </a:r>
            <a:r>
              <a:rPr lang="en-US" dirty="0"/>
              <a:t> o </a:t>
            </a:r>
            <a:r>
              <a:rPr lang="en-US" dirty="0" err="1"/>
              <a:t>funcionamento</a:t>
            </a:r>
            <a:r>
              <a:rPr lang="en-US" dirty="0"/>
              <a:t> do FDR.</a:t>
            </a:r>
          </a:p>
          <a:p>
            <a:r>
              <a:rPr lang="en-US" dirty="0"/>
              <a:t>A </a:t>
            </a:r>
            <a:r>
              <a:rPr lang="en-US" dirty="0" err="1"/>
              <a:t>primeira</a:t>
            </a:r>
            <a:r>
              <a:rPr lang="en-US" dirty="0"/>
              <a:t> </a:t>
            </a:r>
            <a:r>
              <a:rPr lang="en-US" dirty="0" err="1"/>
              <a:t>equação</a:t>
            </a:r>
            <a:r>
              <a:rPr lang="en-US" dirty="0"/>
              <a:t> </a:t>
            </a:r>
            <a:r>
              <a:rPr lang="en-US" dirty="0" err="1"/>
              <a:t>representa</a:t>
            </a:r>
            <a:r>
              <a:rPr lang="en-US" dirty="0"/>
              <a:t> a </a:t>
            </a:r>
            <a:r>
              <a:rPr lang="en-US" dirty="0" err="1"/>
              <a:t>atualização</a:t>
            </a:r>
            <a:r>
              <a:rPr lang="en-US" dirty="0"/>
              <a:t> das </a:t>
            </a:r>
            <a:r>
              <a:rPr lang="en-US" dirty="0" err="1"/>
              <a:t>distribuições</a:t>
            </a:r>
            <a:r>
              <a:rPr lang="en-US" dirty="0"/>
              <a:t>. Cada </a:t>
            </a:r>
            <a:r>
              <a:rPr lang="en-US" dirty="0" err="1"/>
              <a:t>camada</a:t>
            </a:r>
            <a:r>
              <a:rPr lang="en-US" dirty="0"/>
              <a:t> </a:t>
            </a:r>
            <a:r>
              <a:rPr lang="en-US" dirty="0" err="1"/>
              <a:t>prevê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correção</a:t>
            </a:r>
            <a:r>
              <a:rPr lang="en-US" dirty="0"/>
              <a:t> dos logits </a:t>
            </a:r>
            <a:r>
              <a:rPr lang="en-US" dirty="0" err="1"/>
              <a:t>anteriores</a:t>
            </a:r>
            <a:r>
              <a:rPr lang="en-US" dirty="0"/>
              <a:t>, e a </a:t>
            </a:r>
            <a:r>
              <a:rPr lang="en-US" dirty="0" err="1"/>
              <a:t>função</a:t>
            </a:r>
            <a:r>
              <a:rPr lang="en-US" dirty="0"/>
              <a:t> </a:t>
            </a:r>
            <a:r>
              <a:rPr lang="en-US" dirty="0" err="1"/>
              <a:t>softmax</a:t>
            </a:r>
            <a:r>
              <a:rPr lang="en-US" dirty="0"/>
              <a:t> </a:t>
            </a:r>
            <a:r>
              <a:rPr lang="en-US" dirty="0" err="1"/>
              <a:t>transforma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acumulados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probabilidades</a:t>
            </a:r>
            <a:r>
              <a:rPr lang="en-US" dirty="0"/>
              <a:t>.</a:t>
            </a:r>
            <a:endParaRPr lang="pt-BR" dirty="0"/>
          </a:p>
          <a:p>
            <a:r>
              <a:rPr lang="en-US" dirty="0" err="1"/>
              <a:t>Isso</a:t>
            </a:r>
            <a:r>
              <a:rPr lang="en-US" dirty="0"/>
              <a:t> </a:t>
            </a:r>
            <a:r>
              <a:rPr lang="en-US" dirty="0" err="1"/>
              <a:t>significa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a </a:t>
            </a:r>
            <a:r>
              <a:rPr lang="en-US" dirty="0" err="1"/>
              <a:t>camada</a:t>
            </a:r>
            <a:r>
              <a:rPr lang="en-US" dirty="0"/>
              <a:t> </a:t>
            </a:r>
            <a:r>
              <a:rPr lang="en-US" dirty="0" err="1"/>
              <a:t>atual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precisa</a:t>
            </a:r>
            <a:r>
              <a:rPr lang="en-US" dirty="0"/>
              <a:t> </a:t>
            </a:r>
            <a:r>
              <a:rPr lang="en-US" dirty="0" err="1"/>
              <a:t>reconstruir</a:t>
            </a:r>
            <a:r>
              <a:rPr lang="en-US" dirty="0"/>
              <a:t> a </a:t>
            </a:r>
            <a:r>
              <a:rPr lang="en-US" dirty="0" err="1"/>
              <a:t>previsão</a:t>
            </a:r>
            <a:r>
              <a:rPr lang="en-US" dirty="0"/>
              <a:t> do zero. Ela </a:t>
            </a:r>
            <a:r>
              <a:rPr lang="en-US" dirty="0" err="1"/>
              <a:t>aprende</a:t>
            </a:r>
            <a:r>
              <a:rPr lang="en-US" dirty="0"/>
              <a:t> </a:t>
            </a:r>
            <a:r>
              <a:rPr lang="en-US" dirty="0" err="1"/>
              <a:t>modificações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a </a:t>
            </a:r>
            <a:r>
              <a:rPr lang="en-US" dirty="0" err="1"/>
              <a:t>distribuição</a:t>
            </a:r>
            <a:r>
              <a:rPr lang="en-US" dirty="0"/>
              <a:t> anterior.</a:t>
            </a:r>
            <a:endParaRPr lang="pt-BR" dirty="0"/>
          </a:p>
          <a:p>
            <a:r>
              <a:rPr lang="en-US" dirty="0"/>
              <a:t>Na </a:t>
            </a:r>
            <a:r>
              <a:rPr lang="en-US" dirty="0" err="1"/>
              <a:t>segunda</a:t>
            </a:r>
            <a:r>
              <a:rPr lang="en-US" dirty="0"/>
              <a:t> </a:t>
            </a:r>
            <a:r>
              <a:rPr lang="en-US" dirty="0" err="1"/>
              <a:t>equação</a:t>
            </a:r>
            <a:r>
              <a:rPr lang="en-US" dirty="0"/>
              <a:t>, </a:t>
            </a:r>
            <a:r>
              <a:rPr lang="en-US" dirty="0" err="1"/>
              <a:t>essas</a:t>
            </a:r>
            <a:r>
              <a:rPr lang="en-US" dirty="0"/>
              <a:t> </a:t>
            </a:r>
            <a:r>
              <a:rPr lang="en-US" dirty="0" err="1"/>
              <a:t>probabilidades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multiplicadas</a:t>
            </a:r>
            <a:r>
              <a:rPr lang="en-US" dirty="0"/>
              <a:t> </a:t>
            </a:r>
            <a:r>
              <a:rPr lang="en-US" dirty="0" err="1"/>
              <a:t>pelos</a:t>
            </a:r>
            <a:r>
              <a:rPr lang="en-US" dirty="0"/>
              <a:t> </a:t>
            </a:r>
            <a:r>
              <a:rPr lang="en-US" dirty="0" err="1"/>
              <a:t>valores</a:t>
            </a:r>
            <a:r>
              <a:rPr lang="en-US" dirty="0"/>
              <a:t> de </a:t>
            </a:r>
            <a:r>
              <a:rPr lang="en-US" dirty="0" err="1"/>
              <a:t>deslocamento</a:t>
            </a:r>
            <a:r>
              <a:rPr lang="en-US" dirty="0"/>
              <a:t> </a:t>
            </a:r>
            <a:r>
              <a:rPr lang="en-US" dirty="0" err="1"/>
              <a:t>associados</a:t>
            </a:r>
            <a:r>
              <a:rPr lang="en-US" dirty="0"/>
              <a:t> a </a:t>
            </a:r>
            <a:r>
              <a:rPr lang="en-US" dirty="0" err="1"/>
              <a:t>cada</a:t>
            </a:r>
            <a:r>
              <a:rPr lang="en-US" dirty="0"/>
              <a:t> bin.</a:t>
            </a:r>
            <a:endParaRPr lang="pt-BR" dirty="0"/>
          </a:p>
          <a:p>
            <a:r>
              <a:rPr lang="en-US" dirty="0"/>
              <a:t>A soma </a:t>
            </a:r>
            <a:r>
              <a:rPr lang="en-US" dirty="0" err="1"/>
              <a:t>ponderada</a:t>
            </a:r>
            <a:r>
              <a:rPr lang="en-US" dirty="0"/>
              <a:t> </a:t>
            </a:r>
            <a:r>
              <a:rPr lang="en-US" dirty="0" err="1"/>
              <a:t>fornece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correção</a:t>
            </a:r>
            <a:r>
              <a:rPr lang="en-US" dirty="0"/>
              <a:t> para a </a:t>
            </a:r>
            <a:r>
              <a:rPr lang="en-US" dirty="0" err="1"/>
              <a:t>borda</a:t>
            </a:r>
            <a:r>
              <a:rPr lang="en-US" dirty="0"/>
              <a:t>.</a:t>
            </a:r>
          </a:p>
          <a:p>
            <a:r>
              <a:rPr lang="en-US" dirty="0"/>
              <a:t>Esse </a:t>
            </a:r>
            <a:r>
              <a:rPr lang="en-US" dirty="0" err="1"/>
              <a:t>deslocamento</a:t>
            </a:r>
            <a:r>
              <a:rPr lang="en-US" dirty="0"/>
              <a:t> </a:t>
            </a:r>
            <a:r>
              <a:rPr lang="en-US" dirty="0" err="1"/>
              <a:t>também</a:t>
            </a:r>
            <a:r>
              <a:rPr lang="en-US" dirty="0"/>
              <a:t> é </a:t>
            </a:r>
            <a:r>
              <a:rPr lang="en-US" dirty="0" err="1"/>
              <a:t>escalado</a:t>
            </a:r>
            <a:r>
              <a:rPr lang="en-US" dirty="0"/>
              <a:t> pela </a:t>
            </a:r>
            <a:r>
              <a:rPr lang="en-US" dirty="0" err="1"/>
              <a:t>largura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altura</a:t>
            </a:r>
            <a:r>
              <a:rPr lang="en-US" dirty="0"/>
              <a:t> da </a:t>
            </a:r>
            <a:r>
              <a:rPr lang="en-US" dirty="0" err="1"/>
              <a:t>caixa</a:t>
            </a:r>
            <a:r>
              <a:rPr lang="en-US" dirty="0"/>
              <a:t> </a:t>
            </a:r>
            <a:r>
              <a:rPr lang="en-US" dirty="0" err="1"/>
              <a:t>inicial</a:t>
            </a:r>
            <a:r>
              <a:rPr lang="en-US" dirty="0"/>
              <a:t>, </a:t>
            </a:r>
            <a:r>
              <a:rPr lang="en-US" dirty="0" err="1"/>
              <a:t>dependendo</a:t>
            </a:r>
            <a:r>
              <a:rPr lang="en-US" dirty="0"/>
              <a:t> da </a:t>
            </a:r>
            <a:r>
              <a:rPr lang="en-US" dirty="0" err="1"/>
              <a:t>borda</a:t>
            </a:r>
            <a:r>
              <a:rPr lang="en-US" dirty="0"/>
              <a:t> </a:t>
            </a:r>
            <a:r>
              <a:rPr lang="en-US" dirty="0" err="1"/>
              <a:t>considerada</a:t>
            </a:r>
            <a:r>
              <a:rPr lang="en-US" dirty="0"/>
              <a:t>.</a:t>
            </a:r>
            <a:endParaRPr lang="pt-BR" dirty="0"/>
          </a:p>
          <a:p>
            <a:r>
              <a:rPr lang="en-US" dirty="0"/>
              <a:t>Assim, o </a:t>
            </a:r>
            <a:r>
              <a:rPr lang="en-US" dirty="0" err="1"/>
              <a:t>refinamento</a:t>
            </a:r>
            <a:r>
              <a:rPr lang="en-US" dirty="0"/>
              <a:t> é </a:t>
            </a:r>
            <a:r>
              <a:rPr lang="en-US" dirty="0" err="1"/>
              <a:t>proporcional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tamanho</a:t>
            </a:r>
            <a:r>
              <a:rPr lang="en-US" dirty="0"/>
              <a:t> do </a:t>
            </a:r>
            <a:r>
              <a:rPr lang="en-US" dirty="0" err="1"/>
              <a:t>objeto</a:t>
            </a:r>
            <a:r>
              <a:rPr lang="en-US" dirty="0"/>
              <a:t>.</a:t>
            </a:r>
          </a:p>
          <a:p>
            <a:r>
              <a:rPr lang="en-US" dirty="0"/>
              <a:t>É </a:t>
            </a:r>
            <a:r>
              <a:rPr lang="en-US" dirty="0" err="1"/>
              <a:t>importante</a:t>
            </a:r>
            <a:r>
              <a:rPr lang="en-US" dirty="0"/>
              <a:t> </a:t>
            </a:r>
            <a:r>
              <a:rPr lang="en-US" dirty="0" err="1"/>
              <a:t>observar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as </a:t>
            </a:r>
            <a:r>
              <a:rPr lang="en-US" dirty="0" err="1"/>
              <a:t>distribuições</a:t>
            </a:r>
            <a:r>
              <a:rPr lang="en-US" dirty="0"/>
              <a:t> </a:t>
            </a:r>
            <a:r>
              <a:rPr lang="en-US" dirty="0" err="1"/>
              <a:t>representam</a:t>
            </a:r>
            <a:r>
              <a:rPr lang="en-US" dirty="0"/>
              <a:t> </a:t>
            </a:r>
            <a:r>
              <a:rPr lang="en-US" b="1" dirty="0" err="1"/>
              <a:t>correções</a:t>
            </a:r>
            <a:r>
              <a:rPr lang="en-US" b="1" dirty="0"/>
              <a:t> </a:t>
            </a:r>
            <a:r>
              <a:rPr lang="en-US" b="1" dirty="0" err="1"/>
              <a:t>relativas</a:t>
            </a:r>
            <a:r>
              <a:rPr lang="en-US" b="1" dirty="0"/>
              <a:t> à </a:t>
            </a:r>
            <a:r>
              <a:rPr lang="en-US" b="1" dirty="0" err="1"/>
              <a:t>caixa</a:t>
            </a:r>
            <a:r>
              <a:rPr lang="en-US" b="1" dirty="0"/>
              <a:t> </a:t>
            </a:r>
            <a:r>
              <a:rPr lang="en-US" b="1" dirty="0" err="1"/>
              <a:t>inicial</a:t>
            </a:r>
            <a:r>
              <a:rPr lang="en-US" dirty="0"/>
              <a:t>, e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probabilidades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todas</a:t>
            </a:r>
            <a:r>
              <a:rPr lang="en-US" dirty="0"/>
              <a:t> as </a:t>
            </a:r>
            <a:r>
              <a:rPr lang="en-US" dirty="0" err="1"/>
              <a:t>caixas</a:t>
            </a:r>
            <a:r>
              <a:rPr lang="en-US" dirty="0"/>
              <a:t> </a:t>
            </a:r>
            <a:r>
              <a:rPr lang="en-US" dirty="0" err="1"/>
              <a:t>possíveis</a:t>
            </a:r>
            <a:r>
              <a:rPr lang="en-US" dirty="0"/>
              <a:t> da </a:t>
            </a:r>
            <a:r>
              <a:rPr lang="en-US" dirty="0" err="1"/>
              <a:t>imagem</a:t>
            </a:r>
            <a:r>
              <a:rPr lang="en-US"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Um conceito importante do D-FINE é o uso de </a:t>
            </a:r>
            <a:r>
              <a:rPr lang="pt-BR" i="1"/>
              <a:t>bins</a:t>
            </a:r>
            <a:r>
              <a:rPr lang="pt-BR"/>
              <a:t> para representar valores candidatos de deslocamento.</a:t>
            </a:r>
          </a:p>
          <a:p>
            <a:r>
              <a:rPr lang="pt-BR"/>
              <a:t>Podemos imaginar que, em vez de prever diretamente quanto uma borda precisa se mover, o modelo considera diferentes possibilidades e atribui probabilidades a elas.</a:t>
            </a:r>
          </a:p>
          <a:p>
            <a:r>
              <a:rPr lang="pt-BR"/>
              <a:t>No artigo, a configuração apresentada utiliza N igual a 32, correspondendo a 33 posições discretas, de zero a 32.</a:t>
            </a:r>
          </a:p>
          <a:p>
            <a:r>
              <a:rPr lang="pt-BR"/>
              <a:t>Entretanto, os deslocamentos associados a essas posições não são uniformemente espaçados.</a:t>
            </a:r>
          </a:p>
          <a:p>
            <a:r>
              <a:rPr lang="pt-BR"/>
              <a:t>Os bins próximos ao centro representam ajustes menores, permitindo refinamentos mais precisos.</a:t>
            </a:r>
          </a:p>
          <a:p>
            <a:r>
              <a:rPr lang="pt-BR"/>
              <a:t>Já os bins próximos aos extremos representam deslocamentos maiores, possibilitando corrigir caixas inicialmente mais distantes da posição correta.</a:t>
            </a:r>
          </a:p>
          <a:p>
            <a:r>
              <a:rPr lang="pt-BR"/>
              <a:t>Portanto, essa distribuição não uniforme permite combinar </a:t>
            </a:r>
            <a:r>
              <a:rPr lang="pt-BR" b="1"/>
              <a:t>ajustes finos e correções amplas</a:t>
            </a:r>
            <a:r>
              <a:rPr lang="pt-BR"/>
              <a:t>.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Além de alterar a representação das caixas, o D-FINE introduz uma função de perda específica, chamada Fine-Grained Localization Loss, ou FGL.</a:t>
            </a:r>
            <a:endParaRPr lang="pt-BR" dirty="0"/>
          </a:p>
          <a:p>
            <a:r>
              <a:rPr lang="pt-BR"/>
              <a:t>Essa função supervisiona as distribuições previstas para cada borda.</a:t>
            </a:r>
          </a:p>
          <a:p>
            <a:r>
              <a:rPr lang="pt-BR"/>
              <a:t>O deslocamento verdadeiro pode estar entre dois bins consecutivos. Nesse caso, a FGL utiliza uma combinação ponderada de entropias cruzadas, considerando a proximidade do valor verdadeiro em relação a esses dois bins.</a:t>
            </a:r>
          </a:p>
          <a:p>
            <a:r>
              <a:rPr lang="pt-BR"/>
              <a:t>Além disso, a perda utiliza uma ponderação associada ao IoU, incorporando informações sobre a qualidade da localização.</a:t>
            </a:r>
          </a:p>
          <a:p>
            <a:r>
              <a:rPr lang="pt-BR"/>
              <a:t>O objetivo é fornecer uma supervisão mais detalhada para o refinamento das bordas.</a:t>
            </a:r>
          </a:p>
          <a:p>
            <a:r>
              <a:rPr lang="pt-BR"/>
              <a:t>É importante destacar que a FGL complementa as funções de perda convencionais, em vez de substituí-las completamente.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Neste slide, podemos resumir todo o funcionamento do FDR.</a:t>
            </a:r>
          </a:p>
          <a:p>
            <a:r>
              <a:rPr lang="pt-BR"/>
              <a:t>Primeiro, o modelo produz uma caixa delimitadora inicial, representada pelas coordenadas do centro, largura e altura.</a:t>
            </a:r>
          </a:p>
          <a:p>
            <a:r>
              <a:rPr lang="pt-BR"/>
              <a:t>Em seguida, produz quatro distribuições de probabilidade, uma para cada borda.</a:t>
            </a:r>
          </a:p>
          <a:p>
            <a:r>
              <a:rPr lang="pt-BR"/>
              <a:t>A partir dessas distribuições, calcula os deslocamentos utilizando uma soma ponderada dos valores dos bins.</a:t>
            </a:r>
          </a:p>
          <a:p>
            <a:r>
              <a:rPr lang="pt-BR"/>
              <a:t>Finalmente, aplica as correções sobre as bordas da caixa inicial.</a:t>
            </a:r>
          </a:p>
          <a:p>
            <a:r>
              <a:rPr lang="pt-BR"/>
              <a:t>Esse processo é repetido ao longo das camadas do decoder, permitindo refinar progressivamente a localização.</a:t>
            </a:r>
          </a:p>
          <a:p>
            <a:r>
              <a:rPr lang="pt-BR"/>
              <a:t>A principal diferença em relação à regressão tradicional é a existência de uma representação intermediária mais detalhada para orientar os ajustes.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A segunda contribuição do artigo é o GO-LSD, uma estratégia de </a:t>
            </a:r>
            <a:r>
              <a:rPr lang="pt-BR" dirty="0" err="1"/>
              <a:t>autodestilação</a:t>
            </a:r>
            <a:r>
              <a:rPr lang="pt-BR" dirty="0"/>
              <a:t> de conhecimento voltada especificamente para localização.</a:t>
            </a:r>
          </a:p>
          <a:p>
            <a:r>
              <a:rPr lang="pt-BR"/>
              <a:t>Em técnicas tradicionais de destilação, normalmente temos um modelo professor e outro modelo aluno.</a:t>
            </a:r>
          </a:p>
          <a:p>
            <a:r>
              <a:rPr lang="pt-BR"/>
              <a:t>No GO-LSD, essa relação acontece dentro do próprio detector.</a:t>
            </a:r>
          </a:p>
          <a:p>
            <a:r>
              <a:rPr lang="pt-BR" dirty="0"/>
              <a:t>A última camada do </a:t>
            </a:r>
            <a:r>
              <a:rPr lang="pt-BR" dirty="0" err="1"/>
              <a:t>decoder</a:t>
            </a:r>
            <a:r>
              <a:rPr lang="pt-BR" dirty="0"/>
              <a:t> atua como professora, pois produz distribuições mais refinadas.</a:t>
            </a:r>
          </a:p>
          <a:p>
            <a:r>
              <a:rPr lang="pt-BR"/>
              <a:t>As camadas anteriores funcionam como alunas e são orientadas a aproximar suas distribuições daquelas produzidas pela camada final.</a:t>
            </a:r>
          </a:p>
          <a:p>
            <a:r>
              <a:rPr lang="pt-BR" dirty="0"/>
              <a:t> </a:t>
            </a:r>
          </a:p>
          <a:p>
            <a:r>
              <a:rPr lang="pt-BR"/>
              <a:t>Isso permite melhorar a qualidade das primeiras previsões e reduzir a magnitude das correções necessárias nas camadas seguintes.</a:t>
            </a:r>
          </a:p>
          <a:p>
            <a:r>
              <a:rPr lang="pt-BR" dirty="0"/>
              <a:t> </a:t>
            </a:r>
          </a:p>
          <a:p>
            <a:r>
              <a:rPr lang="pt-BR"/>
              <a:t>Uma vantagem importante é que não precisamos executar uma segunda rede professora durante a inferência.</a:t>
            </a:r>
          </a:p>
          <a:p>
            <a:r>
              <a:rPr lang="pt-BR" dirty="0"/>
              <a:t> </a:t>
            </a:r>
          </a:p>
          <a:p>
            <a:r>
              <a:rPr lang="pt-BR"/>
              <a:t>A destilação acontece durante o treinamento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O GO-LSD apresenta dois mecanismos importantes: uma estratégia global de correspondência e uma função de perda específica para destilação.</a:t>
            </a:r>
          </a:p>
          <a:p>
            <a:r>
              <a:rPr lang="pt-BR"/>
              <a:t>Primeiro, o modelo realiza o matching húngaro nas diferentes camadas do decoder.</a:t>
            </a:r>
          </a:p>
          <a:p>
            <a:r>
              <a:rPr lang="pt-BR"/>
              <a:t>Em seguida, reúne os índices dessas correspondências, permitindo aproveitar previsões bem localizadas identificadas em diferentes estágios.</a:t>
            </a:r>
          </a:p>
          <a:p>
            <a:r>
              <a:rPr lang="pt-BR"/>
              <a:t>Depois, utiliza a Decoupled Distillation Focal Loss, ou DDF, para aproximar as distribuições das camadas anteriores da distribuição final.</a:t>
            </a:r>
          </a:p>
          <a:p>
            <a:r>
              <a:rPr lang="pt-BR"/>
              <a:t>Essa comparação utiliza divergência de Kullback-Leibler, ou KL, com temperatura.</a:t>
            </a:r>
          </a:p>
          <a:p>
            <a:r>
              <a:rPr lang="pt-BR"/>
              <a:t>Para previsões emparelhadas, o peso da perda está associado ao IoU.</a:t>
            </a:r>
          </a:p>
          <a:p>
            <a:r>
              <a:rPr lang="pt-BR"/>
              <a:t>Para previsões não emparelhadas, utiliza-se a confiança de classificação.</a:t>
            </a:r>
          </a:p>
          <a:p>
            <a:r>
              <a:rPr lang="pt-BR"/>
              <a:t>Essa diferenciação permite orientar o aprendizado de localização considerando situações distintas, mantendo o princípio de correspondência um a um na classificação.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O principal efeito do GO-LSD acontece durante o treinamento.</a:t>
            </a:r>
          </a:p>
          <a:p>
            <a:r>
              <a:rPr lang="pt-BR" dirty="0"/>
              <a:t>As camadas iniciais recebem supervisão adicional utilizando as distribuições produzidas pela última camada do próprio </a:t>
            </a:r>
            <a:r>
              <a:rPr lang="pt-BR" dirty="0" err="1"/>
              <a:t>decoder</a:t>
            </a:r>
            <a:r>
              <a:rPr lang="pt-BR" dirty="0"/>
              <a:t>.</a:t>
            </a:r>
          </a:p>
          <a:p>
            <a:r>
              <a:rPr lang="pt-BR"/>
              <a:t>Com isso, o modelo aprende a produzir localizações melhores desde os primeiros estágios.</a:t>
            </a:r>
          </a:p>
          <a:p>
            <a:r>
              <a:rPr lang="pt-BR"/>
              <a:t>Uma vantagem é que não existe a necessidade de treinar e executar um modelo professor externo.</a:t>
            </a:r>
          </a:p>
          <a:p>
            <a:r>
              <a:rPr lang="pt-BR"/>
              <a:t>Consequentemente, o impacto está principalmente no custo de treinamento, enquanto a inferência continua utilizando a própria arquitetura do detector.</a:t>
            </a:r>
          </a:p>
          <a:p>
            <a:r>
              <a:rPr lang="pt-BR"/>
              <a:t>Os resultados experimentais indicam que essa estratégia consegue melhorar a precisão com um aumento relativamente pequeno no tempo e no consumo de memória durante o treinamento.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Além das duas contribuições principais, os autores modificaram componentes da arquitetura RT-DETR para melhorar a eficiência.</a:t>
            </a:r>
            <a:endParaRPr lang="pt-BR"/>
          </a:p>
          <a:p>
            <a:r>
              <a:rPr lang="en-US"/>
              <a:t>Entre essas alterações está a remoção de camadas de projeção do decoder e a introdução do Target Gating, um mecanismo que controla a combinação das informações das queries com o resultado da atenção cruzada.</a:t>
            </a:r>
            <a:endParaRPr lang="pt-BR"/>
          </a:p>
          <a:p>
            <a:r>
              <a:rPr lang="en-US"/>
              <a:t>No encoder, os blocos CSP são substituídos por GELAN, utilizando dimensões internas reduzidas para controlar o custo.</a:t>
            </a:r>
            <a:endParaRPr lang="pt-BR"/>
          </a:p>
          <a:p>
            <a:r>
              <a:rPr lang="en-US"/>
              <a:t>Também ocorre uma redistribuição dos pontos de amostragem entre diferentes escalas e a adoção de estratégias de treinamento utilizadas no RT-DETRv2.</a:t>
            </a:r>
            <a:endParaRPr lang="pt-BR"/>
          </a:p>
          <a:p>
            <a:r>
              <a:rPr lang="en-US"/>
              <a:t>Essas alterações são fundamentais para interpretar os resultados.</a:t>
            </a:r>
            <a:endParaRPr lang="pt-BR"/>
          </a:p>
          <a:p>
            <a:r>
              <a:rPr lang="en-US" b="1"/>
              <a:t>A redução de custo computacional não pode ser atribuída somente ao FDR e ao GO-LSD</a:t>
            </a:r>
            <a:r>
              <a:rPr lang="en-US"/>
              <a:t>, pois o modelo completo também incorpora essas otimizações arquiteturais.</a:t>
            </a:r>
            <a:endParaRPr lang="pt-BR"/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Para avaliar o D-FINE, os autores utilizaram principalmente o conjunto COCO val2017.</a:t>
            </a:r>
          </a:p>
          <a:p>
            <a:r>
              <a:rPr lang="pt-BR"/>
              <a:t>A métrica principal é o Average Precision, ou AP, calculado considerando diferentes limiares de IoU, de 0,50 até 0,95.</a:t>
            </a:r>
          </a:p>
          <a:p>
            <a:r>
              <a:rPr lang="pt-BR"/>
              <a:t>Também foram analisadas métricas específicas para diferentes tamanhos de objetos e limiares de sobreposição.</a:t>
            </a:r>
          </a:p>
          <a:p>
            <a:r>
              <a:rPr lang="pt-BR"/>
              <a:t>Em relação à eficiência, foram avaliados parâmetros, custo computacional em GFLOPs e latência de inferência.</a:t>
            </a:r>
          </a:p>
          <a:p>
            <a:r>
              <a:rPr lang="pt-BR"/>
              <a:t>A latência foi medida utilizando TensorRT com precisão FP16 em uma GPU NVIDIA T4, considerando lote de tamanho um.</a:t>
            </a:r>
          </a:p>
          <a:p>
            <a:r>
              <a:rPr lang="pt-BR"/>
              <a:t>É importante destacar esse protocolo, pois os tempos apresentados não podem ser diretamente generalizados para CPU, PyTorch ou outras plataformas.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Neste gráfico, podemos observar as diferentes variantes do D-FINE, desde a Nano até a Extra Large.</a:t>
            </a:r>
          </a:p>
          <a:p>
            <a:r>
              <a:rPr lang="en-US"/>
              <a:t>O D-FINE-N apresenta 42,8 pontos de AP, com latência de aproximadamente 2,12 milissegundos.</a:t>
            </a:r>
            <a:endParaRPr lang="pt-BR"/>
          </a:p>
          <a:p>
            <a:r>
              <a:rPr lang="en-US"/>
              <a:t>A versão Small alcança 48,5 AP, enquanto a Medium chega a 52,3.</a:t>
            </a:r>
            <a:endParaRPr lang="pt-BR"/>
          </a:p>
          <a:p>
            <a:r>
              <a:rPr lang="en-US"/>
              <a:t>A versão Large apresenta 54,0 AP com 8,07 milissegundos, e a Extra Large alcança 55,8 AP com 12,89 milissegundos.</a:t>
            </a:r>
          </a:p>
          <a:p>
            <a:r>
              <a:rPr lang="en-US"/>
              <a:t>O gráfico demonstra o compromisso entre precisão e velocidade.</a:t>
            </a:r>
            <a:endParaRPr lang="pt-BR"/>
          </a:p>
          <a:p>
            <a:r>
              <a:rPr lang="en-US"/>
              <a:t>Modelos maiores tendem a alcançar maior AP, mas exigem mais recursos computacionais.</a:t>
            </a:r>
            <a:endParaRPr lang="pt-BR"/>
          </a:p>
          <a:p>
            <a:r>
              <a:rPr lang="en-US"/>
              <a:t>O objetivo do D-FINE é melhorar essa relação, oferecendo alternativas para diferentes restrições de desempenho.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</a:t>
            </a:r>
            <a:r>
              <a:rPr lang="en-US" dirty="0" err="1"/>
              <a:t>figura</a:t>
            </a:r>
            <a:r>
              <a:rPr lang="en-US" dirty="0"/>
              <a:t> </a:t>
            </a:r>
            <a:r>
              <a:rPr lang="en-US" dirty="0" err="1"/>
              <a:t>apresenta</a:t>
            </a:r>
            <a:r>
              <a:rPr lang="en-US" dirty="0"/>
              <a:t> a </a:t>
            </a:r>
            <a:r>
              <a:rPr lang="en-US" dirty="0" err="1"/>
              <a:t>comparação</a:t>
            </a:r>
            <a:r>
              <a:rPr lang="en-US" dirty="0"/>
              <a:t> entre o D-FINE e outros </a:t>
            </a:r>
            <a:r>
              <a:rPr lang="en-US" dirty="0" err="1"/>
              <a:t>detectores</a:t>
            </a:r>
            <a:r>
              <a:rPr lang="en-US" dirty="0"/>
              <a:t> de </a:t>
            </a:r>
            <a:r>
              <a:rPr lang="en-US" dirty="0" err="1"/>
              <a:t>objetos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três</a:t>
            </a:r>
            <a:r>
              <a:rPr lang="en-US" dirty="0"/>
              <a:t> </a:t>
            </a:r>
            <a:r>
              <a:rPr lang="en-US" dirty="0" err="1"/>
              <a:t>dimensões</a:t>
            </a:r>
            <a:r>
              <a:rPr lang="en-US" dirty="0"/>
              <a:t>: </a:t>
            </a:r>
            <a:r>
              <a:rPr lang="en-US" dirty="0" err="1"/>
              <a:t>latência</a:t>
            </a:r>
            <a:r>
              <a:rPr lang="en-US" dirty="0"/>
              <a:t>, </a:t>
            </a:r>
            <a:r>
              <a:rPr lang="en-US" dirty="0" err="1"/>
              <a:t>quantidade</a:t>
            </a:r>
            <a:r>
              <a:rPr lang="en-US" dirty="0"/>
              <a:t> de </a:t>
            </a:r>
            <a:r>
              <a:rPr lang="en-US" dirty="0" err="1"/>
              <a:t>parâmetros</a:t>
            </a:r>
            <a:r>
              <a:rPr lang="en-US" dirty="0"/>
              <a:t> e </a:t>
            </a:r>
            <a:r>
              <a:rPr lang="en-US" dirty="0" err="1"/>
              <a:t>custo</a:t>
            </a:r>
            <a:r>
              <a:rPr lang="en-US" dirty="0"/>
              <a:t> </a:t>
            </a:r>
            <a:r>
              <a:rPr lang="en-US" dirty="0" err="1"/>
              <a:t>computacional</a:t>
            </a:r>
            <a:r>
              <a:rPr lang="en-US" dirty="0"/>
              <a:t>.</a:t>
            </a:r>
            <a:endParaRPr lang="pt-BR" dirty="0"/>
          </a:p>
          <a:p>
            <a:r>
              <a:rPr lang="en-US" dirty="0"/>
              <a:t>No </a:t>
            </a:r>
            <a:r>
              <a:rPr lang="en-US" dirty="0" err="1"/>
              <a:t>primeiro</a:t>
            </a:r>
            <a:r>
              <a:rPr lang="en-US" dirty="0"/>
              <a:t> </a:t>
            </a:r>
            <a:r>
              <a:rPr lang="en-US" dirty="0" err="1"/>
              <a:t>gráfico</a:t>
            </a:r>
            <a:r>
              <a:rPr lang="en-US" dirty="0"/>
              <a:t>, </a:t>
            </a:r>
            <a:r>
              <a:rPr lang="en-US" dirty="0" err="1"/>
              <a:t>observamos</a:t>
            </a:r>
            <a:r>
              <a:rPr lang="en-US" dirty="0"/>
              <a:t> a </a:t>
            </a:r>
            <a:r>
              <a:rPr lang="en-US" dirty="0" err="1"/>
              <a:t>relação</a:t>
            </a:r>
            <a:r>
              <a:rPr lang="en-US" dirty="0"/>
              <a:t> entre </a:t>
            </a:r>
            <a:r>
              <a:rPr lang="en-US" dirty="0" err="1"/>
              <a:t>precisão</a:t>
            </a:r>
            <a:r>
              <a:rPr lang="en-US" dirty="0"/>
              <a:t> e tempo de </a:t>
            </a:r>
            <a:r>
              <a:rPr lang="en-US" dirty="0" err="1"/>
              <a:t>inferência</a:t>
            </a:r>
            <a:r>
              <a:rPr lang="en-US" dirty="0"/>
              <a:t>.</a:t>
            </a:r>
            <a:endParaRPr lang="pt-BR" dirty="0"/>
          </a:p>
          <a:p>
            <a:r>
              <a:rPr lang="en-US" dirty="0"/>
              <a:t>Nos outros </a:t>
            </a:r>
            <a:r>
              <a:rPr lang="en-US" dirty="0" err="1"/>
              <a:t>dois</a:t>
            </a:r>
            <a:r>
              <a:rPr lang="en-US" dirty="0"/>
              <a:t>, a </a:t>
            </a:r>
            <a:r>
              <a:rPr lang="en-US" dirty="0" err="1"/>
              <a:t>precisão</a:t>
            </a:r>
            <a:r>
              <a:rPr lang="en-US" dirty="0"/>
              <a:t> é </a:t>
            </a:r>
            <a:r>
              <a:rPr lang="en-US" dirty="0" err="1"/>
              <a:t>relacionada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tamanho</a:t>
            </a:r>
            <a:r>
              <a:rPr lang="en-US" dirty="0"/>
              <a:t> do </a:t>
            </a:r>
            <a:r>
              <a:rPr lang="en-US" dirty="0" err="1"/>
              <a:t>modelo</a:t>
            </a:r>
            <a:r>
              <a:rPr lang="en-US" dirty="0"/>
              <a:t> e à </a:t>
            </a:r>
            <a:r>
              <a:rPr lang="en-US" dirty="0" err="1"/>
              <a:t>quantidade</a:t>
            </a:r>
            <a:r>
              <a:rPr lang="en-US" dirty="0"/>
              <a:t> de </a:t>
            </a:r>
            <a:r>
              <a:rPr lang="en-US" dirty="0" err="1"/>
              <a:t>operações</a:t>
            </a:r>
            <a:r>
              <a:rPr lang="en-US" dirty="0"/>
              <a:t> </a:t>
            </a:r>
            <a:r>
              <a:rPr lang="en-US" dirty="0" err="1"/>
              <a:t>computacionais</a:t>
            </a:r>
            <a:r>
              <a:rPr lang="en-US" dirty="0"/>
              <a:t>.</a:t>
            </a:r>
            <a:endParaRPr lang="pt-BR" dirty="0"/>
          </a:p>
          <a:p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pontos</a:t>
            </a:r>
            <a:r>
              <a:rPr lang="en-US" dirty="0"/>
              <a:t> </a:t>
            </a:r>
            <a:r>
              <a:rPr lang="en-US" dirty="0" err="1"/>
              <a:t>correspondentes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D-FINE </a:t>
            </a:r>
            <a:r>
              <a:rPr lang="en-US" dirty="0" err="1"/>
              <a:t>mostram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o </a:t>
            </a:r>
            <a:r>
              <a:rPr lang="en-US" dirty="0" err="1"/>
              <a:t>método</a:t>
            </a:r>
            <a:r>
              <a:rPr lang="en-US" dirty="0"/>
              <a:t> </a:t>
            </a:r>
            <a:r>
              <a:rPr lang="en-US" dirty="0" err="1"/>
              <a:t>apresenta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relação</a:t>
            </a:r>
            <a:r>
              <a:rPr lang="en-US" dirty="0"/>
              <a:t> </a:t>
            </a:r>
            <a:r>
              <a:rPr lang="en-US" dirty="0" err="1"/>
              <a:t>competitiva</a:t>
            </a:r>
            <a:r>
              <a:rPr lang="en-US" dirty="0"/>
              <a:t> entre </a:t>
            </a:r>
            <a:r>
              <a:rPr lang="en-US" dirty="0" err="1"/>
              <a:t>precisão</a:t>
            </a:r>
            <a:r>
              <a:rPr lang="en-US" dirty="0"/>
              <a:t> e </a:t>
            </a:r>
            <a:r>
              <a:rPr lang="en-US" dirty="0" err="1"/>
              <a:t>eficiência</a:t>
            </a:r>
            <a:r>
              <a:rPr lang="en-US" dirty="0"/>
              <a:t>.</a:t>
            </a:r>
            <a:endParaRPr lang="pt-BR" dirty="0"/>
          </a:p>
          <a:p>
            <a:r>
              <a:rPr lang="en-US" dirty="0" err="1"/>
              <a:t>Isso</a:t>
            </a:r>
            <a:r>
              <a:rPr lang="en-US" dirty="0"/>
              <a:t> é </a:t>
            </a:r>
            <a:r>
              <a:rPr lang="en-US" dirty="0" err="1"/>
              <a:t>relevante</a:t>
            </a:r>
            <a:r>
              <a:rPr lang="en-US" dirty="0"/>
              <a:t> </a:t>
            </a:r>
            <a:r>
              <a:rPr lang="en-US" dirty="0" err="1"/>
              <a:t>porque</a:t>
            </a:r>
            <a:r>
              <a:rPr lang="en-US" dirty="0"/>
              <a:t> </a:t>
            </a:r>
            <a:r>
              <a:rPr lang="en-US" dirty="0" err="1"/>
              <a:t>demonstra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melhorar</a:t>
            </a:r>
            <a:r>
              <a:rPr lang="en-US" dirty="0"/>
              <a:t> a </a:t>
            </a:r>
            <a:r>
              <a:rPr lang="en-US" dirty="0" err="1"/>
              <a:t>detecção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depende</a:t>
            </a:r>
            <a:r>
              <a:rPr lang="en-US" dirty="0"/>
              <a:t> </a:t>
            </a:r>
            <a:r>
              <a:rPr lang="en-US" dirty="0" err="1"/>
              <a:t>exclusivamente</a:t>
            </a:r>
            <a:r>
              <a:rPr lang="en-US" dirty="0"/>
              <a:t> de </a:t>
            </a:r>
            <a:r>
              <a:rPr lang="en-US" dirty="0" err="1"/>
              <a:t>aumentar</a:t>
            </a:r>
            <a:r>
              <a:rPr lang="en-US" dirty="0"/>
              <a:t> o </a:t>
            </a:r>
            <a:r>
              <a:rPr lang="en-US" dirty="0" err="1"/>
              <a:t>tamanho</a:t>
            </a:r>
            <a:r>
              <a:rPr lang="en-US" dirty="0"/>
              <a:t> da rede.</a:t>
            </a:r>
            <a:endParaRPr lang="pt-BR" dirty="0"/>
          </a:p>
          <a:p>
            <a:r>
              <a:rPr lang="en-US" dirty="0"/>
              <a:t>A </a:t>
            </a:r>
            <a:r>
              <a:rPr lang="en-US" dirty="0" err="1"/>
              <a:t>representação</a:t>
            </a:r>
            <a:r>
              <a:rPr lang="en-US" dirty="0"/>
              <a:t> </a:t>
            </a:r>
            <a:r>
              <a:rPr lang="en-US" dirty="0" err="1"/>
              <a:t>utilizada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regressão</a:t>
            </a:r>
            <a:r>
              <a:rPr lang="en-US" dirty="0"/>
              <a:t> e as </a:t>
            </a:r>
            <a:r>
              <a:rPr lang="en-US" dirty="0" err="1"/>
              <a:t>estratégias</a:t>
            </a:r>
            <a:r>
              <a:rPr lang="en-US" dirty="0"/>
              <a:t> de </a:t>
            </a:r>
            <a:r>
              <a:rPr lang="en-US" dirty="0" err="1"/>
              <a:t>treinamento</a:t>
            </a:r>
            <a:r>
              <a:rPr lang="en-US" dirty="0"/>
              <a:t> </a:t>
            </a:r>
            <a:r>
              <a:rPr lang="en-US" dirty="0" err="1"/>
              <a:t>também</a:t>
            </a:r>
            <a:r>
              <a:rPr lang="en-US" dirty="0"/>
              <a:t> </a:t>
            </a:r>
            <a:r>
              <a:rPr lang="en-US" dirty="0" err="1"/>
              <a:t>influenciam</a:t>
            </a:r>
            <a:r>
              <a:rPr lang="en-US" dirty="0"/>
              <a:t> o </a:t>
            </a:r>
            <a:r>
              <a:rPr lang="en-US" dirty="0" err="1"/>
              <a:t>desempenho</a:t>
            </a:r>
            <a:r>
              <a:rPr lang="en-US" dirty="0"/>
              <a:t>.</a:t>
            </a:r>
            <a:endParaRPr lang="pt-BR" dirty="0"/>
          </a:p>
          <a:p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9C971FF-EF28-4195-A575-329446EFAA55}" type="slidenum">
              <a:rPr lang="pt-BR" noProof="0" smtClean="0"/>
              <a:t>19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938516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Nesta tabela, temos uma comparação mais direta entre o D-FINE e arquiteturas como RT-DETR, YOLOv10 e YOLO11.</a:t>
            </a:r>
          </a:p>
          <a:p>
            <a:r>
              <a:rPr lang="pt-BR"/>
              <a:t>O RT-DETR-HG-L apresenta 53,0 AP, com latência de 9,25 milissegundos.</a:t>
            </a:r>
          </a:p>
          <a:p>
            <a:r>
              <a:rPr lang="pt-BR"/>
              <a:t>O YOLOv10-L alcança 53,2 AP e apresenta uma latência menor, de 7,66 milissegundos.</a:t>
            </a:r>
          </a:p>
          <a:p>
            <a:r>
              <a:rPr lang="pt-BR"/>
              <a:t>Já o YOLO11-L alcança 53,4 AP, com latência de 10,28 milissegundos.</a:t>
            </a:r>
          </a:p>
          <a:p>
            <a:r>
              <a:rPr lang="pt-BR" dirty="0"/>
              <a:t>O D-FINE-L apresenta 54,0 AP, com latência de 8,07 milissegundos e 91 </a:t>
            </a:r>
            <a:r>
              <a:rPr lang="pt-BR" dirty="0" err="1"/>
              <a:t>GFLOPs</a:t>
            </a:r>
            <a:r>
              <a:rPr lang="pt-BR" dirty="0"/>
              <a:t>.</a:t>
            </a:r>
          </a:p>
          <a:p>
            <a:r>
              <a:rPr lang="pt-BR"/>
              <a:t>Portanto, nesta comparação, o D-FINE-L apresenta maior precisão que os modelos listados, mantendo uma latência competitiva.</a:t>
            </a:r>
          </a:p>
          <a:p>
            <a:r>
              <a:rPr lang="pt-BR"/>
              <a:t>Entretanto, isso não significa que seja superior em todos os critérios ou ambientes de execução.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Os autores também investigaram o impacto do pré-treinamento utilizando o conjunto Objects365.</a:t>
            </a:r>
          </a:p>
          <a:p>
            <a:r>
              <a:rPr lang="pt-BR"/>
              <a:t>No D-FINE-L, o desempenho passa de 54,0 AP, utilizando treinamento em COCO, para 57,1 AP após o pré-treinamento em Objects365 e posterior ajuste em COCO.</a:t>
            </a:r>
          </a:p>
          <a:p>
            <a:r>
              <a:rPr lang="pt-BR"/>
              <a:t>No D-FINE-X, o resultado aumenta de 55,8 para 59,3 AP.</a:t>
            </a:r>
          </a:p>
          <a:p>
            <a:r>
              <a:rPr lang="pt-BR"/>
              <a:t>Isso demonstra a importância do pré-treinamento em conjuntos maiores para melhorar a capacidade de detecção.</a:t>
            </a:r>
          </a:p>
          <a:p>
            <a:r>
              <a:rPr lang="pt-BR"/>
              <a:t>Por outro lado, precisamos considerar que esses resultados utilizam um orçamento de dados diferente.</a:t>
            </a:r>
          </a:p>
          <a:p>
            <a:r>
              <a:rPr lang="pt-BR"/>
              <a:t>Portanto, as comparações com modelos treinados exclusivamente em COCO devem ser realizadas separadamente.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Este é um dos slides mais importantes para interpretar as contribuições reais do artigo.</a:t>
            </a:r>
          </a:p>
          <a:p>
            <a:r>
              <a:rPr lang="pt-BR" dirty="0"/>
              <a:t>O modelo de referência, RT-DETR-HGNetv2-L, apresenta 53,0 AP, 110 </a:t>
            </a:r>
            <a:r>
              <a:rPr lang="pt-BR" dirty="0" err="1"/>
              <a:t>GFLOPs</a:t>
            </a:r>
            <a:r>
              <a:rPr lang="pt-BR" dirty="0"/>
              <a:t> e latência de 9,25 milissegundos.</a:t>
            </a:r>
          </a:p>
          <a:p>
            <a:r>
              <a:rPr lang="pt-BR" dirty="0"/>
              <a:t>Após as modificações arquiteturais, o modelo mantém 53,0 AP, mas reduz o custo para 91 </a:t>
            </a:r>
            <a:r>
              <a:rPr lang="pt-BR" dirty="0" err="1"/>
              <a:t>GFLOPs</a:t>
            </a:r>
            <a:r>
              <a:rPr lang="pt-BR" dirty="0"/>
              <a:t> e a latência para 7,90 milissegundos.</a:t>
            </a:r>
          </a:p>
          <a:p>
            <a:r>
              <a:rPr lang="pt-BR"/>
              <a:t>Ao adicionar o FDR, o AP aumenta para 53,5, com latência de 8,07 milissegundos.</a:t>
            </a:r>
          </a:p>
          <a:p>
            <a:r>
              <a:rPr lang="pt-BR" dirty="0"/>
              <a:t>Finalmente, com a adição do GO-LSD, o desempenho alcança 54,0 AP, mantendo os mesmos 91 </a:t>
            </a:r>
            <a:r>
              <a:rPr lang="pt-BR" dirty="0" err="1"/>
              <a:t>GFLOPs</a:t>
            </a:r>
            <a:r>
              <a:rPr lang="pt-BR" dirty="0"/>
              <a:t> e 8,07 milissegundos.</a:t>
            </a:r>
          </a:p>
          <a:p>
            <a:r>
              <a:rPr lang="pt-BR"/>
              <a:t>Isso evidencia duas contribuições complementares.</a:t>
            </a:r>
          </a:p>
          <a:p>
            <a:r>
              <a:rPr lang="pt-BR"/>
              <a:t>As alterações arquiteturais reduzem o custo computacional, enquanto FDR e GO-LSD melhoram a precisão após essa otimização.</a:t>
            </a:r>
          </a:p>
          <a:p>
            <a:r>
              <a:rPr lang="pt-BR" dirty="0"/>
              <a:t>Em relação ao baseline, o modelo completo apresenta ganho de um ponto de AP, redução aproximada de 13% na latência e 17% nos </a:t>
            </a:r>
            <a:r>
              <a:rPr lang="pt-BR" dirty="0" err="1"/>
              <a:t>GFLOPs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Aqui os autores investigam diferentes estratégias de destilação.</a:t>
            </a:r>
          </a:p>
          <a:p>
            <a:r>
              <a:rPr lang="pt-BR"/>
              <a:t>O baseline apresenta 53,0 AP.</a:t>
            </a:r>
          </a:p>
          <a:p>
            <a:r>
              <a:rPr lang="pt-BR" dirty="0"/>
              <a:t>A utilização de </a:t>
            </a:r>
            <a:r>
              <a:rPr lang="pt-BR" dirty="0" err="1"/>
              <a:t>Logit</a:t>
            </a:r>
            <a:r>
              <a:rPr lang="pt-BR" dirty="0"/>
              <a:t> </a:t>
            </a:r>
            <a:r>
              <a:rPr lang="pt-BR" dirty="0" err="1"/>
              <a:t>Mimicking</a:t>
            </a:r>
            <a:r>
              <a:rPr lang="pt-BR" dirty="0"/>
              <a:t> reduz o desempenho para 52,6 AP, enquanto Feature </a:t>
            </a:r>
            <a:r>
              <a:rPr lang="pt-BR" dirty="0" err="1"/>
              <a:t>Imitation</a:t>
            </a:r>
            <a:r>
              <a:rPr lang="pt-BR" dirty="0"/>
              <a:t> apresenta 52,9 AP.</a:t>
            </a:r>
          </a:p>
          <a:p>
            <a:r>
              <a:rPr lang="pt-BR"/>
              <a:t>Com a introdução do FDR, o desempenho chega a 53,8 AP.</a:t>
            </a:r>
          </a:p>
          <a:p>
            <a:r>
              <a:rPr lang="pt-BR"/>
              <a:t>Já a configuração com GO-LSD alcança 54,5 AP, representando o melhor resultado dessa comparação.</a:t>
            </a:r>
          </a:p>
          <a:p>
            <a:r>
              <a:rPr lang="pt-BR"/>
              <a:t>O tempo de treinamento passa de 29 para 31 minutos por época, com um pequeno aumento no uso de memória.</a:t>
            </a:r>
          </a:p>
          <a:p>
            <a:r>
              <a:rPr lang="pt-BR"/>
              <a:t>É importante destacar que esta ablação utiliza uma configuração diferente do D-FINE-L completo, sem as otimizações leves.</a:t>
            </a:r>
          </a:p>
          <a:p>
            <a:r>
              <a:rPr lang="pt-BR"/>
              <a:t>Por isso, o resultado de 54,5 AP não deve ser confundido com os 54,0 AP da arquitetura final.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Uma contribuição interessante é que o FDR e o GO-LSD não ficam restritos ao RT-DETR.</a:t>
            </a:r>
          </a:p>
          <a:p>
            <a:r>
              <a:rPr lang="pt-BR"/>
              <a:t>Os autores também aplicaram essas técnicas em outras arquiteturas da família DETR.</a:t>
            </a:r>
          </a:p>
          <a:p>
            <a:r>
              <a:rPr lang="pt-BR"/>
              <a:t>No </a:t>
            </a:r>
            <a:r>
              <a:rPr lang="pt-BR" err="1"/>
              <a:t>Deformable</a:t>
            </a:r>
            <a:r>
              <a:rPr lang="pt-BR"/>
              <a:t> DETR, o ganho apresentado foi de 3,4 pontos de AP.</a:t>
            </a:r>
          </a:p>
          <a:p>
            <a:r>
              <a:rPr lang="pt-BR"/>
              <a:t>No DAB-DETR, o aumento chegou a 5,3 pontos, considerando o treinamento de 12 épocas.</a:t>
            </a:r>
          </a:p>
          <a:p>
            <a:r>
              <a:rPr lang="pt-BR"/>
              <a:t>Também foram observadas melhorias no DN-DETR e no DINO, com ganhos variando conforme a configuração.</a:t>
            </a:r>
          </a:p>
          <a:p>
            <a:r>
              <a:rPr lang="pt-BR"/>
              <a:t>Esses experimentos indicam que as técnicas possuem potencial de transferência para diferentes detectores baseados em Transformers.</a:t>
            </a:r>
          </a:p>
          <a:p>
            <a:r>
              <a:rPr lang="pt-BR"/>
              <a:t>Entretanto, a conclusão deve permanecer restrita às arquiteturas e condições efetivamente avaliadas.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Nesta </a:t>
            </a:r>
            <a:r>
              <a:rPr lang="en-US" dirty="0" err="1"/>
              <a:t>figura</a:t>
            </a:r>
            <a:r>
              <a:rPr lang="en-US" dirty="0"/>
              <a:t>,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autores</a:t>
            </a:r>
            <a:r>
              <a:rPr lang="en-US" dirty="0"/>
              <a:t> </a:t>
            </a:r>
            <a:r>
              <a:rPr lang="en-US" dirty="0" err="1"/>
              <a:t>apresentam</a:t>
            </a:r>
            <a:r>
              <a:rPr lang="en-US" dirty="0"/>
              <a:t> </a:t>
            </a:r>
            <a:r>
              <a:rPr lang="en-US" dirty="0" err="1"/>
              <a:t>exemplos</a:t>
            </a:r>
            <a:r>
              <a:rPr lang="en-US" dirty="0"/>
              <a:t> </a:t>
            </a:r>
            <a:r>
              <a:rPr lang="en-US" dirty="0" err="1"/>
              <a:t>qualitativos</a:t>
            </a:r>
            <a:r>
              <a:rPr lang="en-US" dirty="0"/>
              <a:t> do </a:t>
            </a:r>
            <a:r>
              <a:rPr lang="en-US" dirty="0" err="1"/>
              <a:t>funcionamento</a:t>
            </a:r>
            <a:r>
              <a:rPr lang="en-US" dirty="0"/>
              <a:t> do FDR.</a:t>
            </a:r>
            <a:endParaRPr lang="pt-BR" dirty="0"/>
          </a:p>
          <a:p>
            <a:r>
              <a:rPr lang="en-US" dirty="0"/>
              <a:t>As </a:t>
            </a:r>
            <a:r>
              <a:rPr lang="en-US" dirty="0" err="1"/>
              <a:t>caixas</a:t>
            </a:r>
            <a:r>
              <a:rPr lang="en-US" dirty="0"/>
              <a:t> </a:t>
            </a:r>
            <a:r>
              <a:rPr lang="en-US" dirty="0" err="1"/>
              <a:t>vermelhas</a:t>
            </a:r>
            <a:r>
              <a:rPr lang="en-US" dirty="0"/>
              <a:t> </a:t>
            </a:r>
            <a:r>
              <a:rPr lang="en-US" dirty="0" err="1"/>
              <a:t>representam</a:t>
            </a:r>
            <a:r>
              <a:rPr lang="en-US" dirty="0"/>
              <a:t> as </a:t>
            </a:r>
            <a:r>
              <a:rPr lang="en-US" dirty="0" err="1"/>
              <a:t>predições</a:t>
            </a:r>
            <a:r>
              <a:rPr lang="en-US" dirty="0"/>
              <a:t> </a:t>
            </a:r>
            <a:r>
              <a:rPr lang="en-US" dirty="0" err="1"/>
              <a:t>iniciais</a:t>
            </a:r>
            <a:r>
              <a:rPr lang="en-US" dirty="0"/>
              <a:t>, </a:t>
            </a:r>
            <a:r>
              <a:rPr lang="en-US" dirty="0" err="1"/>
              <a:t>produzidas</a:t>
            </a:r>
            <a:r>
              <a:rPr lang="en-US" dirty="0"/>
              <a:t> pela </a:t>
            </a:r>
            <a:r>
              <a:rPr lang="en-US" dirty="0" err="1"/>
              <a:t>primeira</a:t>
            </a:r>
            <a:r>
              <a:rPr lang="en-US" dirty="0"/>
              <a:t> </a:t>
            </a:r>
            <a:r>
              <a:rPr lang="en-US" dirty="0" err="1"/>
              <a:t>camada</a:t>
            </a:r>
            <a:r>
              <a:rPr lang="en-US" dirty="0"/>
              <a:t> do decoder.</a:t>
            </a:r>
            <a:endParaRPr lang="pt-BR" dirty="0"/>
          </a:p>
          <a:p>
            <a:r>
              <a:rPr lang="en-US" dirty="0" err="1"/>
              <a:t>Já</a:t>
            </a:r>
            <a:r>
              <a:rPr lang="en-US" dirty="0"/>
              <a:t> as </a:t>
            </a:r>
            <a:r>
              <a:rPr lang="en-US" dirty="0" err="1"/>
              <a:t>caixas</a:t>
            </a:r>
            <a:r>
              <a:rPr lang="en-US" dirty="0"/>
              <a:t> </a:t>
            </a:r>
            <a:r>
              <a:rPr lang="en-US" dirty="0" err="1"/>
              <a:t>verdes</a:t>
            </a:r>
            <a:r>
              <a:rPr lang="en-US" dirty="0"/>
              <a:t> </a:t>
            </a:r>
            <a:r>
              <a:rPr lang="en-US" dirty="0" err="1"/>
              <a:t>correspondem</a:t>
            </a:r>
            <a:r>
              <a:rPr lang="en-US" dirty="0"/>
              <a:t> </a:t>
            </a:r>
            <a:r>
              <a:rPr lang="en-US" dirty="0" err="1"/>
              <a:t>às</a:t>
            </a:r>
            <a:r>
              <a:rPr lang="en-US" dirty="0"/>
              <a:t> </a:t>
            </a:r>
            <a:r>
              <a:rPr lang="en-US" dirty="0" err="1"/>
              <a:t>predições</a:t>
            </a:r>
            <a:r>
              <a:rPr lang="en-US" dirty="0"/>
              <a:t> </a:t>
            </a:r>
            <a:r>
              <a:rPr lang="en-US" dirty="0" err="1"/>
              <a:t>refinadas</a:t>
            </a:r>
            <a:r>
              <a:rPr lang="en-US" dirty="0"/>
              <a:t> </a:t>
            </a:r>
            <a:r>
              <a:rPr lang="en-US" dirty="0" err="1"/>
              <a:t>após</a:t>
            </a:r>
            <a:r>
              <a:rPr lang="en-US" dirty="0"/>
              <a:t> as </a:t>
            </a:r>
            <a:r>
              <a:rPr lang="en-US" dirty="0" err="1"/>
              <a:t>camadas</a:t>
            </a:r>
            <a:r>
              <a:rPr lang="en-US" dirty="0"/>
              <a:t> posteriores.</a:t>
            </a:r>
            <a:endParaRPr lang="pt-BR" dirty="0"/>
          </a:p>
          <a:p>
            <a:r>
              <a:rPr lang="en-US" dirty="0"/>
              <a:t>Podemos </a:t>
            </a:r>
            <a:r>
              <a:rPr lang="en-US" dirty="0" err="1"/>
              <a:t>observar</a:t>
            </a:r>
            <a:r>
              <a:rPr lang="en-US" dirty="0"/>
              <a:t> </a:t>
            </a:r>
            <a:r>
              <a:rPr lang="en-US" dirty="0" err="1"/>
              <a:t>exemplos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as </a:t>
            </a:r>
            <a:r>
              <a:rPr lang="en-US" dirty="0" err="1"/>
              <a:t>caixas</a:t>
            </a:r>
            <a:r>
              <a:rPr lang="en-US" dirty="0"/>
              <a:t> </a:t>
            </a:r>
            <a:r>
              <a:rPr lang="en-US" dirty="0" err="1"/>
              <a:t>finais</a:t>
            </a:r>
            <a:r>
              <a:rPr lang="en-US" dirty="0"/>
              <a:t> se </a:t>
            </a:r>
            <a:r>
              <a:rPr lang="en-US" dirty="0" err="1"/>
              <a:t>aproximam</a:t>
            </a:r>
            <a:r>
              <a:rPr lang="en-US" dirty="0"/>
              <a:t> </a:t>
            </a:r>
            <a:r>
              <a:rPr lang="en-US" dirty="0" err="1"/>
              <a:t>melhor</a:t>
            </a:r>
            <a:r>
              <a:rPr lang="en-US" dirty="0"/>
              <a:t> dos </a:t>
            </a:r>
            <a:r>
              <a:rPr lang="en-US" dirty="0" err="1"/>
              <a:t>limites</a:t>
            </a:r>
            <a:r>
              <a:rPr lang="en-US" dirty="0"/>
              <a:t> dos </a:t>
            </a:r>
            <a:r>
              <a:rPr lang="en-US" dirty="0" err="1"/>
              <a:t>objetos</a:t>
            </a:r>
            <a:r>
              <a:rPr lang="en-US" dirty="0"/>
              <a:t>.</a:t>
            </a:r>
            <a:endParaRPr lang="pt-BR" dirty="0"/>
          </a:p>
          <a:p>
            <a:r>
              <a:rPr lang="en-US" dirty="0"/>
              <a:t>As </a:t>
            </a:r>
            <a:r>
              <a:rPr lang="en-US" dirty="0" err="1"/>
              <a:t>distribuições</a:t>
            </a:r>
            <a:r>
              <a:rPr lang="en-US" dirty="0"/>
              <a:t> </a:t>
            </a:r>
            <a:r>
              <a:rPr lang="en-US" dirty="0" err="1"/>
              <a:t>apresentadas</a:t>
            </a:r>
            <a:r>
              <a:rPr lang="en-US" dirty="0"/>
              <a:t> </a:t>
            </a:r>
            <a:r>
              <a:rPr lang="en-US" dirty="0" err="1"/>
              <a:t>abaixo</a:t>
            </a:r>
            <a:r>
              <a:rPr lang="en-US" dirty="0"/>
              <a:t> das imagens </a:t>
            </a:r>
            <a:r>
              <a:rPr lang="en-US" dirty="0" err="1"/>
              <a:t>mostram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as </a:t>
            </a:r>
            <a:r>
              <a:rPr lang="en-US" dirty="0" err="1"/>
              <a:t>probabilidades</a:t>
            </a:r>
            <a:r>
              <a:rPr lang="en-US" dirty="0"/>
              <a:t> e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deslocamentos</a:t>
            </a:r>
            <a:r>
              <a:rPr lang="en-US" dirty="0"/>
              <a:t> </a:t>
            </a:r>
            <a:r>
              <a:rPr lang="en-US" dirty="0" err="1"/>
              <a:t>ponderados</a:t>
            </a:r>
            <a:r>
              <a:rPr lang="en-US" dirty="0"/>
              <a:t> se </a:t>
            </a:r>
            <a:r>
              <a:rPr lang="en-US" dirty="0" err="1"/>
              <a:t>modificam</a:t>
            </a:r>
            <a:r>
              <a:rPr lang="en-US" dirty="0"/>
              <a:t> </a:t>
            </a:r>
            <a:r>
              <a:rPr lang="en-US" dirty="0" err="1"/>
              <a:t>durante</a:t>
            </a:r>
            <a:r>
              <a:rPr lang="en-US" dirty="0"/>
              <a:t> o </a:t>
            </a:r>
            <a:r>
              <a:rPr lang="en-US" dirty="0" err="1"/>
              <a:t>refinamento</a:t>
            </a:r>
            <a:r>
              <a:rPr lang="en-US" dirty="0"/>
              <a:t>.</a:t>
            </a:r>
            <a:endParaRPr lang="pt-BR" dirty="0"/>
          </a:p>
          <a:p>
            <a:r>
              <a:rPr lang="en-US" dirty="0"/>
              <a:t>Esses </a:t>
            </a:r>
            <a:r>
              <a:rPr lang="en-US" dirty="0" err="1"/>
              <a:t>resultados</a:t>
            </a:r>
            <a:r>
              <a:rPr lang="en-US" dirty="0"/>
              <a:t> </a:t>
            </a:r>
            <a:r>
              <a:rPr lang="en-US" dirty="0" err="1"/>
              <a:t>ajudam</a:t>
            </a:r>
            <a:r>
              <a:rPr lang="en-US" dirty="0"/>
              <a:t> a </a:t>
            </a:r>
            <a:r>
              <a:rPr lang="en-US" dirty="0" err="1"/>
              <a:t>visualizar</a:t>
            </a:r>
            <a:r>
              <a:rPr lang="en-US" dirty="0"/>
              <a:t> a </a:t>
            </a:r>
            <a:r>
              <a:rPr lang="en-US" dirty="0" err="1"/>
              <a:t>ideia</a:t>
            </a:r>
            <a:r>
              <a:rPr lang="en-US" dirty="0"/>
              <a:t> central do </a:t>
            </a:r>
            <a:r>
              <a:rPr lang="en-US" dirty="0" err="1"/>
              <a:t>método</a:t>
            </a:r>
            <a:r>
              <a:rPr lang="en-US" dirty="0"/>
              <a:t>: </a:t>
            </a:r>
            <a:r>
              <a:rPr lang="en-US" dirty="0" err="1"/>
              <a:t>corrigir</a:t>
            </a:r>
            <a:r>
              <a:rPr lang="en-US" dirty="0"/>
              <a:t> </a:t>
            </a:r>
            <a:r>
              <a:rPr lang="en-US" dirty="0" err="1"/>
              <a:t>progressivamente</a:t>
            </a:r>
            <a:r>
              <a:rPr lang="en-US" dirty="0"/>
              <a:t> as </a:t>
            </a:r>
            <a:r>
              <a:rPr lang="en-US" dirty="0" err="1"/>
              <a:t>bordas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vez</a:t>
            </a:r>
            <a:r>
              <a:rPr lang="en-US" dirty="0"/>
              <a:t> de </a:t>
            </a:r>
            <a:r>
              <a:rPr lang="en-US" dirty="0" err="1"/>
              <a:t>depender</a:t>
            </a:r>
            <a:r>
              <a:rPr lang="en-US" dirty="0"/>
              <a:t> </a:t>
            </a:r>
            <a:r>
              <a:rPr lang="en-US" dirty="0" err="1"/>
              <a:t>somente</a:t>
            </a:r>
            <a:r>
              <a:rPr lang="en-US" dirty="0"/>
              <a:t> da </a:t>
            </a:r>
            <a:r>
              <a:rPr lang="en-US" dirty="0" err="1"/>
              <a:t>previsão</a:t>
            </a:r>
            <a:r>
              <a:rPr lang="en-US" dirty="0"/>
              <a:t> </a:t>
            </a:r>
            <a:r>
              <a:rPr lang="en-US" dirty="0" err="1"/>
              <a:t>inicial</a:t>
            </a:r>
            <a:r>
              <a:rPr lang="en-US" dirty="0"/>
              <a:t>.</a:t>
            </a:r>
            <a:endParaRPr lang="pt-BR" dirty="0"/>
          </a:p>
          <a:p>
            <a:r>
              <a:rPr lang="en-US" dirty="0" err="1"/>
              <a:t>Naturalmente</a:t>
            </a:r>
            <a:r>
              <a:rPr lang="en-US" dirty="0"/>
              <a:t>, esses </a:t>
            </a:r>
            <a:r>
              <a:rPr lang="en-US" dirty="0" err="1"/>
              <a:t>exemplos</a:t>
            </a:r>
            <a:r>
              <a:rPr lang="en-US" dirty="0"/>
              <a:t> </a:t>
            </a:r>
            <a:r>
              <a:rPr lang="en-US" dirty="0" err="1"/>
              <a:t>qualitativos</a:t>
            </a:r>
            <a:r>
              <a:rPr lang="en-US" dirty="0"/>
              <a:t> </a:t>
            </a:r>
            <a:r>
              <a:rPr lang="en-US" dirty="0" err="1"/>
              <a:t>devem</a:t>
            </a:r>
            <a:r>
              <a:rPr lang="en-US" dirty="0"/>
              <a:t> ser </a:t>
            </a:r>
            <a:r>
              <a:rPr lang="en-US" dirty="0" err="1"/>
              <a:t>interpretados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conjunto com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resultados</a:t>
            </a:r>
            <a:r>
              <a:rPr lang="en-US" dirty="0"/>
              <a:t> </a:t>
            </a:r>
            <a:r>
              <a:rPr lang="en-US" dirty="0" err="1"/>
              <a:t>quantitativos</a:t>
            </a:r>
            <a:r>
              <a:rPr lang="en-US" dirty="0"/>
              <a:t>.</a:t>
            </a:r>
            <a:endParaRPr lang="pt-BR" dirty="0"/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Nesta </a:t>
            </a:r>
            <a:r>
              <a:rPr lang="en-US" dirty="0" err="1"/>
              <a:t>figura</a:t>
            </a:r>
            <a:r>
              <a:rPr lang="en-US" dirty="0"/>
              <a:t>, </a:t>
            </a:r>
            <a:r>
              <a:rPr lang="en-US" dirty="0" err="1"/>
              <a:t>temos</a:t>
            </a:r>
            <a:r>
              <a:rPr lang="en-US" dirty="0"/>
              <a:t> outros </a:t>
            </a:r>
            <a:r>
              <a:rPr lang="en-US" dirty="0" err="1"/>
              <a:t>exemplos</a:t>
            </a:r>
            <a:r>
              <a:rPr lang="en-US" dirty="0"/>
              <a:t> de </a:t>
            </a:r>
            <a:r>
              <a:rPr lang="en-US" dirty="0" err="1"/>
              <a:t>detecção</a:t>
            </a:r>
            <a:r>
              <a:rPr lang="en-US" dirty="0"/>
              <a:t> </a:t>
            </a:r>
            <a:r>
              <a:rPr lang="en-US" dirty="0" err="1"/>
              <a:t>utilizando</a:t>
            </a:r>
            <a:r>
              <a:rPr lang="en-US" dirty="0"/>
              <a:t> o D-FINE-X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situações</a:t>
            </a:r>
            <a:r>
              <a:rPr lang="en-US" dirty="0"/>
              <a:t> </a:t>
            </a:r>
            <a:r>
              <a:rPr lang="en-US" dirty="0" err="1"/>
              <a:t>desafiadoras</a:t>
            </a:r>
            <a:r>
              <a:rPr lang="en-US" dirty="0"/>
              <a:t>.</a:t>
            </a:r>
            <a:endParaRPr lang="pt-BR" dirty="0"/>
          </a:p>
          <a:p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autores</a:t>
            </a:r>
            <a:r>
              <a:rPr lang="en-US" dirty="0"/>
              <a:t> </a:t>
            </a:r>
            <a:r>
              <a:rPr lang="en-US" dirty="0" err="1"/>
              <a:t>apresentam</a:t>
            </a:r>
            <a:r>
              <a:rPr lang="en-US" dirty="0"/>
              <a:t> </a:t>
            </a:r>
            <a:r>
              <a:rPr lang="en-US" dirty="0" err="1"/>
              <a:t>cenários</a:t>
            </a:r>
            <a:r>
              <a:rPr lang="en-US" dirty="0"/>
              <a:t> </a:t>
            </a:r>
            <a:r>
              <a:rPr lang="en-US" dirty="0" err="1"/>
              <a:t>envolvendo</a:t>
            </a:r>
            <a:r>
              <a:rPr lang="en-US" dirty="0"/>
              <a:t> </a:t>
            </a:r>
            <a:r>
              <a:rPr lang="en-US" dirty="0" err="1"/>
              <a:t>oclusões</a:t>
            </a:r>
            <a:r>
              <a:rPr lang="en-US" dirty="0"/>
              <a:t>, </a:t>
            </a:r>
            <a:r>
              <a:rPr lang="en-US" dirty="0" err="1"/>
              <a:t>iluminação</a:t>
            </a:r>
            <a:r>
              <a:rPr lang="en-US" dirty="0"/>
              <a:t> </a:t>
            </a:r>
            <a:r>
              <a:rPr lang="en-US" dirty="0" err="1"/>
              <a:t>reduzida</a:t>
            </a:r>
            <a:r>
              <a:rPr lang="en-US" dirty="0"/>
              <a:t>, </a:t>
            </a:r>
            <a:r>
              <a:rPr lang="en-US" dirty="0" err="1"/>
              <a:t>desfoque</a:t>
            </a:r>
            <a:r>
              <a:rPr lang="en-US" dirty="0"/>
              <a:t> de </a:t>
            </a:r>
            <a:r>
              <a:rPr lang="en-US" dirty="0" err="1"/>
              <a:t>movimento</a:t>
            </a:r>
            <a:r>
              <a:rPr lang="en-US" dirty="0"/>
              <a:t>, </a:t>
            </a:r>
            <a:r>
              <a:rPr lang="en-US" dirty="0" err="1"/>
              <a:t>rotação</a:t>
            </a:r>
            <a:r>
              <a:rPr lang="en-US" dirty="0"/>
              <a:t> e grande </a:t>
            </a:r>
            <a:r>
              <a:rPr lang="en-US" dirty="0" err="1"/>
              <a:t>quantidade</a:t>
            </a:r>
            <a:r>
              <a:rPr lang="en-US" dirty="0"/>
              <a:t> de </a:t>
            </a:r>
            <a:r>
              <a:rPr lang="en-US" dirty="0" err="1"/>
              <a:t>objetos</a:t>
            </a:r>
            <a:r>
              <a:rPr lang="en-US" dirty="0"/>
              <a:t>.</a:t>
            </a:r>
            <a:endParaRPr lang="pt-BR" dirty="0"/>
          </a:p>
          <a:p>
            <a:r>
              <a:rPr lang="en-US" dirty="0"/>
              <a:t>O </a:t>
            </a:r>
            <a:r>
              <a:rPr lang="en-US" dirty="0" err="1"/>
              <a:t>objetivo</a:t>
            </a:r>
            <a:r>
              <a:rPr lang="en-US" dirty="0"/>
              <a:t> é </a:t>
            </a:r>
            <a:r>
              <a:rPr lang="en-US" dirty="0" err="1"/>
              <a:t>demonstrar</a:t>
            </a:r>
            <a:r>
              <a:rPr lang="en-US" dirty="0"/>
              <a:t> </a:t>
            </a:r>
            <a:r>
              <a:rPr lang="en-US" dirty="0" err="1"/>
              <a:t>qualitativamente</a:t>
            </a:r>
            <a:r>
              <a:rPr lang="en-US" dirty="0"/>
              <a:t> o </a:t>
            </a:r>
            <a:r>
              <a:rPr lang="en-US" dirty="0" err="1"/>
              <a:t>comportamento</a:t>
            </a:r>
            <a:r>
              <a:rPr lang="en-US" dirty="0"/>
              <a:t> do detector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situações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dificultam</a:t>
            </a:r>
            <a:r>
              <a:rPr lang="en-US" dirty="0"/>
              <a:t> a </a:t>
            </a:r>
            <a:r>
              <a:rPr lang="en-US" dirty="0" err="1"/>
              <a:t>identificação</a:t>
            </a:r>
            <a:r>
              <a:rPr lang="en-US" dirty="0"/>
              <a:t> e a </a:t>
            </a:r>
            <a:r>
              <a:rPr lang="en-US" dirty="0" err="1"/>
              <a:t>localização</a:t>
            </a:r>
            <a:r>
              <a:rPr lang="en-US" dirty="0"/>
              <a:t>.</a:t>
            </a:r>
            <a:endParaRPr lang="pt-BR" dirty="0"/>
          </a:p>
          <a:p>
            <a:r>
              <a:rPr lang="en-US" dirty="0"/>
              <a:t>Podemos </a:t>
            </a:r>
            <a:r>
              <a:rPr lang="en-US" dirty="0" err="1"/>
              <a:t>observar</a:t>
            </a:r>
            <a:r>
              <a:rPr lang="en-US" dirty="0"/>
              <a:t> a </a:t>
            </a:r>
            <a:r>
              <a:rPr lang="en-US" dirty="0" err="1"/>
              <a:t>diversidade</a:t>
            </a:r>
            <a:r>
              <a:rPr lang="en-US" dirty="0"/>
              <a:t> de </a:t>
            </a:r>
            <a:r>
              <a:rPr lang="en-US" dirty="0" err="1"/>
              <a:t>objetos</a:t>
            </a:r>
            <a:r>
              <a:rPr lang="en-US" dirty="0"/>
              <a:t> e </a:t>
            </a:r>
            <a:r>
              <a:rPr lang="en-US" dirty="0" err="1"/>
              <a:t>contextos</a:t>
            </a:r>
            <a:r>
              <a:rPr lang="en-US" dirty="0"/>
              <a:t> </a:t>
            </a:r>
            <a:r>
              <a:rPr lang="en-US" dirty="0" err="1"/>
              <a:t>representados</a:t>
            </a:r>
            <a:r>
              <a:rPr lang="en-US" dirty="0"/>
              <a:t> </a:t>
            </a:r>
            <a:r>
              <a:rPr lang="en-US" dirty="0" err="1"/>
              <a:t>nas</a:t>
            </a:r>
            <a:r>
              <a:rPr lang="en-US" dirty="0"/>
              <a:t> imagens.</a:t>
            </a:r>
            <a:endParaRPr lang="pt-BR" dirty="0"/>
          </a:p>
          <a:p>
            <a:r>
              <a:rPr lang="en-US" dirty="0" err="1"/>
              <a:t>Entretanto</a:t>
            </a:r>
            <a:r>
              <a:rPr lang="en-US" dirty="0"/>
              <a:t>, esses </a:t>
            </a:r>
            <a:r>
              <a:rPr lang="en-US" dirty="0" err="1"/>
              <a:t>exemplos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ilustrativos</a:t>
            </a:r>
            <a:r>
              <a:rPr lang="en-US" dirty="0"/>
              <a:t> e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constituem</a:t>
            </a:r>
            <a:r>
              <a:rPr lang="en-US" dirty="0"/>
              <a:t>, </a:t>
            </a:r>
            <a:r>
              <a:rPr lang="en-US" dirty="0" err="1"/>
              <a:t>isoladamente</a:t>
            </a:r>
            <a:r>
              <a:rPr lang="en-US" dirty="0"/>
              <a:t>,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comprovação</a:t>
            </a:r>
            <a:r>
              <a:rPr lang="en-US" dirty="0"/>
              <a:t> </a:t>
            </a:r>
            <a:r>
              <a:rPr lang="en-US" dirty="0" err="1"/>
              <a:t>quantitativa</a:t>
            </a:r>
            <a:r>
              <a:rPr lang="en-US" dirty="0"/>
              <a:t> de </a:t>
            </a:r>
            <a:r>
              <a:rPr lang="en-US" dirty="0" err="1"/>
              <a:t>robustez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todos</a:t>
            </a:r>
            <a:r>
              <a:rPr lang="en-US" dirty="0"/>
              <a:t> esses </a:t>
            </a:r>
            <a:r>
              <a:rPr lang="en-US" dirty="0" err="1"/>
              <a:t>cenários</a:t>
            </a:r>
            <a:r>
              <a:rPr lang="en-US" dirty="0"/>
              <a:t>.</a:t>
            </a:r>
            <a:endParaRPr lang="pt-BR" dirty="0"/>
          </a:p>
          <a:p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9C971FF-EF28-4195-A575-329446EFAA55}" type="slidenum">
              <a:rPr lang="pt-BR" noProof="0" smtClean="0"/>
              <a:t>26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8273317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Apesar dos resultados positivos, o artigo apresenta algumas limitações importantes.</a:t>
            </a:r>
          </a:p>
          <a:p>
            <a:r>
              <a:rPr lang="pt-BR"/>
              <a:t>Primeiro, a avaliação quantitativa principal está concentrada no conjunto COCO, sendo necessários experimentos adicionais para avaliar a generalização em outros domínios.</a:t>
            </a:r>
          </a:p>
          <a:p>
            <a:r>
              <a:rPr lang="pt-BR" dirty="0"/>
              <a:t>Segundo, as medições de latência foram realizadas em uma GPU NVIDIA T4 utilizando </a:t>
            </a:r>
            <a:r>
              <a:rPr lang="pt-BR" dirty="0" err="1"/>
              <a:t>TensorRT</a:t>
            </a:r>
            <a:r>
              <a:rPr lang="pt-BR" dirty="0"/>
              <a:t> FP16. Portanto, o desempenho pode ser diferente em dispositivos embarcados ou ambientes com restrições de hardware.</a:t>
            </a:r>
          </a:p>
          <a:p>
            <a:r>
              <a:rPr lang="pt-BR"/>
              <a:t>Outro aspecto é a influência do pré-treinamento com Objects365, que aumenta a quantidade de dados utilizados.</a:t>
            </a:r>
          </a:p>
          <a:p>
            <a:r>
              <a:rPr lang="pt-BR"/>
              <a:t>Além disso, embora as distribuições sejam utilizadas para representar possíveis correções de localização, o trabalho não apresenta uma avaliação abrangente da calibração probabilística dessa incerteza.</a:t>
            </a:r>
          </a:p>
          <a:p>
            <a:r>
              <a:rPr lang="pt-BR"/>
              <a:t>Finalmente, o D-FINE combina modificações arquiteturais e estratégias de treinamento, exigindo atenção aos estudos de ablação para atribuir corretamente os ganhos.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O D-FINE </a:t>
            </a:r>
            <a:r>
              <a:rPr lang="en-US" dirty="0" err="1"/>
              <a:t>apresenta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nova </a:t>
            </a:r>
            <a:r>
              <a:rPr lang="en-US" dirty="0" err="1"/>
              <a:t>perspectiva</a:t>
            </a:r>
            <a:r>
              <a:rPr lang="en-US" dirty="0"/>
              <a:t> para a </a:t>
            </a:r>
            <a:r>
              <a:rPr lang="en-US" dirty="0" err="1"/>
              <a:t>regressão</a:t>
            </a:r>
            <a:r>
              <a:rPr lang="en-US" dirty="0"/>
              <a:t> de </a:t>
            </a:r>
            <a:r>
              <a:rPr lang="en-US" dirty="0" err="1"/>
              <a:t>caixas</a:t>
            </a:r>
            <a:r>
              <a:rPr lang="en-US" dirty="0"/>
              <a:t> </a:t>
            </a:r>
            <a:r>
              <a:rPr lang="en-US" dirty="0" err="1"/>
              <a:t>delimitadoras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detectores</a:t>
            </a:r>
            <a:r>
              <a:rPr lang="en-US" dirty="0"/>
              <a:t> da </a:t>
            </a:r>
            <a:r>
              <a:rPr lang="en-US" dirty="0" err="1"/>
              <a:t>família</a:t>
            </a:r>
            <a:r>
              <a:rPr lang="en-US" dirty="0"/>
              <a:t> DETR.</a:t>
            </a:r>
            <a:endParaRPr lang="pt-BR" dirty="0"/>
          </a:p>
          <a:p>
            <a:r>
              <a:rPr lang="en-US" dirty="0"/>
              <a:t>Sua </a:t>
            </a:r>
            <a:r>
              <a:rPr lang="en-US" dirty="0" err="1"/>
              <a:t>primeira</a:t>
            </a:r>
            <a:r>
              <a:rPr lang="en-US" dirty="0"/>
              <a:t> </a:t>
            </a:r>
            <a:r>
              <a:rPr lang="en-US" dirty="0" err="1"/>
              <a:t>contribuição</a:t>
            </a:r>
            <a:r>
              <a:rPr lang="en-US" dirty="0"/>
              <a:t>, o FDR, </a:t>
            </a:r>
            <a:r>
              <a:rPr lang="en-US" dirty="0" err="1"/>
              <a:t>transforma</a:t>
            </a:r>
            <a:r>
              <a:rPr lang="en-US" dirty="0"/>
              <a:t> a </a:t>
            </a:r>
            <a:r>
              <a:rPr lang="en-US" dirty="0" err="1"/>
              <a:t>regressão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um </a:t>
            </a:r>
            <a:r>
              <a:rPr lang="en-US" dirty="0" err="1"/>
              <a:t>processo</a:t>
            </a:r>
            <a:r>
              <a:rPr lang="en-US" dirty="0"/>
              <a:t> de </a:t>
            </a:r>
            <a:r>
              <a:rPr lang="en-US" dirty="0" err="1"/>
              <a:t>refinamento</a:t>
            </a:r>
            <a:r>
              <a:rPr lang="en-US" dirty="0"/>
              <a:t> </a:t>
            </a:r>
            <a:r>
              <a:rPr lang="en-US" dirty="0" err="1"/>
              <a:t>iterativo</a:t>
            </a:r>
            <a:r>
              <a:rPr lang="en-US" dirty="0"/>
              <a:t> de </a:t>
            </a:r>
            <a:r>
              <a:rPr lang="en-US" dirty="0" err="1"/>
              <a:t>distribuições</a:t>
            </a:r>
            <a:r>
              <a:rPr lang="en-US" dirty="0"/>
              <a:t>, </a:t>
            </a:r>
            <a:r>
              <a:rPr lang="en-US" dirty="0" err="1"/>
              <a:t>permitindo</a:t>
            </a:r>
            <a:r>
              <a:rPr lang="en-US" dirty="0"/>
              <a:t> </a:t>
            </a:r>
            <a:r>
              <a:rPr lang="en-US" dirty="0" err="1"/>
              <a:t>ajustar</a:t>
            </a:r>
            <a:r>
              <a:rPr lang="en-US" dirty="0"/>
              <a:t> </a:t>
            </a:r>
            <a:r>
              <a:rPr lang="en-US" dirty="0" err="1"/>
              <a:t>individualmente</a:t>
            </a:r>
            <a:r>
              <a:rPr lang="en-US" dirty="0"/>
              <a:t> as </a:t>
            </a:r>
            <a:r>
              <a:rPr lang="en-US" dirty="0" err="1"/>
              <a:t>quatro</a:t>
            </a:r>
            <a:r>
              <a:rPr lang="en-US" dirty="0"/>
              <a:t> </a:t>
            </a:r>
            <a:r>
              <a:rPr lang="en-US" dirty="0" err="1"/>
              <a:t>bordas</a:t>
            </a:r>
            <a:r>
              <a:rPr lang="en-US" dirty="0"/>
              <a:t>.</a:t>
            </a:r>
            <a:endParaRPr lang="pt-BR" dirty="0"/>
          </a:p>
          <a:p>
            <a:r>
              <a:rPr lang="en-US" dirty="0"/>
              <a:t>A </a:t>
            </a:r>
            <a:r>
              <a:rPr lang="en-US" dirty="0" err="1"/>
              <a:t>segunda</a:t>
            </a:r>
            <a:r>
              <a:rPr lang="en-US" dirty="0"/>
              <a:t> </a:t>
            </a:r>
            <a:r>
              <a:rPr lang="en-US" dirty="0" err="1"/>
              <a:t>contribuição</a:t>
            </a:r>
            <a:r>
              <a:rPr lang="en-US" dirty="0"/>
              <a:t>, GO-LSD, </a:t>
            </a:r>
            <a:r>
              <a:rPr lang="en-US" dirty="0" err="1"/>
              <a:t>utiliza</a:t>
            </a:r>
            <a:r>
              <a:rPr lang="en-US" dirty="0"/>
              <a:t> </a:t>
            </a:r>
            <a:r>
              <a:rPr lang="en-US" dirty="0" err="1"/>
              <a:t>autodestilação</a:t>
            </a:r>
            <a:r>
              <a:rPr lang="en-US" dirty="0"/>
              <a:t> para </a:t>
            </a:r>
            <a:r>
              <a:rPr lang="en-US" dirty="0" err="1"/>
              <a:t>melhorar</a:t>
            </a:r>
            <a:r>
              <a:rPr lang="en-US" dirty="0"/>
              <a:t> as </a:t>
            </a:r>
            <a:r>
              <a:rPr lang="en-US" dirty="0" err="1"/>
              <a:t>primeiras</a:t>
            </a:r>
            <a:r>
              <a:rPr lang="en-US" dirty="0"/>
              <a:t> </a:t>
            </a:r>
            <a:r>
              <a:rPr lang="en-US" dirty="0" err="1"/>
              <a:t>camadas</a:t>
            </a:r>
            <a:r>
              <a:rPr lang="en-US" dirty="0"/>
              <a:t> do decoder, </a:t>
            </a:r>
            <a:r>
              <a:rPr lang="en-US" dirty="0" err="1"/>
              <a:t>aproveitando</a:t>
            </a:r>
            <a:r>
              <a:rPr lang="en-US" dirty="0"/>
              <a:t> o </a:t>
            </a:r>
            <a:r>
              <a:rPr lang="en-US" dirty="0" err="1"/>
              <a:t>conhecimento</a:t>
            </a:r>
            <a:r>
              <a:rPr lang="en-US" dirty="0"/>
              <a:t> da </a:t>
            </a:r>
            <a:r>
              <a:rPr lang="en-US" dirty="0" err="1"/>
              <a:t>camada</a:t>
            </a:r>
            <a:r>
              <a:rPr lang="en-US" dirty="0"/>
              <a:t> final.</a:t>
            </a:r>
            <a:endParaRPr lang="pt-BR" dirty="0"/>
          </a:p>
          <a:p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experimentos</a:t>
            </a:r>
            <a:r>
              <a:rPr lang="en-US" dirty="0"/>
              <a:t> </a:t>
            </a:r>
            <a:r>
              <a:rPr lang="en-US" dirty="0" err="1"/>
              <a:t>demonstram</a:t>
            </a:r>
            <a:r>
              <a:rPr lang="en-US" dirty="0"/>
              <a:t> </a:t>
            </a:r>
            <a:r>
              <a:rPr lang="en-US" dirty="0" err="1"/>
              <a:t>melhorias</a:t>
            </a:r>
            <a:r>
              <a:rPr lang="en-US" dirty="0"/>
              <a:t> de </a:t>
            </a:r>
            <a:r>
              <a:rPr lang="en-US" dirty="0" err="1"/>
              <a:t>precisão</a:t>
            </a:r>
            <a:r>
              <a:rPr lang="en-US" dirty="0"/>
              <a:t> e um </a:t>
            </a:r>
            <a:r>
              <a:rPr lang="en-US" dirty="0" err="1"/>
              <a:t>bom</a:t>
            </a:r>
            <a:r>
              <a:rPr lang="en-US" dirty="0"/>
              <a:t> </a:t>
            </a:r>
            <a:r>
              <a:rPr lang="en-US" dirty="0" err="1"/>
              <a:t>compromisso</a:t>
            </a:r>
            <a:r>
              <a:rPr lang="en-US" dirty="0"/>
              <a:t> com a </a:t>
            </a:r>
            <a:r>
              <a:rPr lang="en-US" dirty="0" err="1"/>
              <a:t>eficiência</a:t>
            </a:r>
            <a:r>
              <a:rPr lang="en-US" dirty="0"/>
              <a:t> </a:t>
            </a:r>
            <a:r>
              <a:rPr lang="en-US" dirty="0" err="1"/>
              <a:t>computacional</a:t>
            </a:r>
            <a:r>
              <a:rPr lang="en-US" dirty="0"/>
              <a:t>.</a:t>
            </a:r>
            <a:endParaRPr lang="pt-BR" dirty="0"/>
          </a:p>
          <a:p>
            <a:r>
              <a:rPr lang="en-US" dirty="0"/>
              <a:t>A </a:t>
            </a:r>
            <a:r>
              <a:rPr lang="en-US" dirty="0" err="1"/>
              <a:t>versão</a:t>
            </a:r>
            <a:r>
              <a:rPr lang="en-US" dirty="0"/>
              <a:t> D-FINE-L,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exemplo</a:t>
            </a:r>
            <a:r>
              <a:rPr lang="en-US" dirty="0"/>
              <a:t>, </a:t>
            </a:r>
            <a:r>
              <a:rPr lang="en-US" dirty="0" err="1"/>
              <a:t>alcança</a:t>
            </a:r>
            <a:r>
              <a:rPr lang="en-US" dirty="0"/>
              <a:t> 54,0 AP com </a:t>
            </a:r>
            <a:r>
              <a:rPr lang="en-US" dirty="0" err="1"/>
              <a:t>latência</a:t>
            </a:r>
            <a:r>
              <a:rPr lang="en-US" dirty="0"/>
              <a:t> de 8,07 </a:t>
            </a:r>
            <a:r>
              <a:rPr lang="en-US" dirty="0" err="1"/>
              <a:t>milissegundos</a:t>
            </a:r>
            <a:r>
              <a:rPr lang="en-US" dirty="0"/>
              <a:t> no </a:t>
            </a:r>
            <a:r>
              <a:rPr lang="en-US" dirty="0" err="1"/>
              <a:t>protocolo</a:t>
            </a:r>
            <a:r>
              <a:rPr lang="en-US" dirty="0"/>
              <a:t> do </a:t>
            </a:r>
            <a:r>
              <a:rPr lang="en-US" dirty="0" err="1"/>
              <a:t>artigo</a:t>
            </a:r>
            <a:r>
              <a:rPr lang="en-US" dirty="0"/>
              <a:t>.</a:t>
            </a:r>
            <a:endParaRPr lang="pt-BR" dirty="0"/>
          </a:p>
          <a:p>
            <a:r>
              <a:rPr lang="en-US" dirty="0"/>
              <a:t>A principal </a:t>
            </a:r>
            <a:r>
              <a:rPr lang="en-US" dirty="0" err="1"/>
              <a:t>conclusão</a:t>
            </a:r>
            <a:r>
              <a:rPr lang="en-US" dirty="0"/>
              <a:t> é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b="1" dirty="0" err="1"/>
              <a:t>melhorar</a:t>
            </a:r>
            <a:r>
              <a:rPr lang="en-US" b="1" dirty="0"/>
              <a:t> a </a:t>
            </a:r>
            <a:r>
              <a:rPr lang="en-US" b="1" dirty="0" err="1"/>
              <a:t>representação</a:t>
            </a:r>
            <a:r>
              <a:rPr lang="en-US" b="1" dirty="0"/>
              <a:t> e a </a:t>
            </a:r>
            <a:r>
              <a:rPr lang="en-US" b="1" dirty="0" err="1"/>
              <a:t>supervisão</a:t>
            </a:r>
            <a:r>
              <a:rPr lang="en-US" b="1" dirty="0"/>
              <a:t> da </a:t>
            </a:r>
            <a:r>
              <a:rPr lang="en-US" b="1" dirty="0" err="1"/>
              <a:t>localização</a:t>
            </a:r>
            <a:r>
              <a:rPr lang="en-US" b="1" dirty="0"/>
              <a:t> </a:t>
            </a:r>
            <a:r>
              <a:rPr lang="en-US" b="1" dirty="0" err="1"/>
              <a:t>pode</a:t>
            </a:r>
            <a:r>
              <a:rPr lang="en-US" b="1" dirty="0"/>
              <a:t> ser </a:t>
            </a:r>
            <a:r>
              <a:rPr lang="en-US" b="1" dirty="0" err="1"/>
              <a:t>tão</a:t>
            </a:r>
            <a:r>
              <a:rPr lang="en-US" b="1" dirty="0"/>
              <a:t> </a:t>
            </a:r>
            <a:r>
              <a:rPr lang="en-US" b="1" dirty="0" err="1"/>
              <a:t>importante</a:t>
            </a:r>
            <a:r>
              <a:rPr lang="en-US" b="1" dirty="0"/>
              <a:t> </a:t>
            </a:r>
            <a:r>
              <a:rPr lang="en-US" b="1" dirty="0" err="1"/>
              <a:t>quanto</a:t>
            </a:r>
            <a:r>
              <a:rPr lang="en-US" b="1" dirty="0"/>
              <a:t> </a:t>
            </a:r>
            <a:r>
              <a:rPr lang="en-US" b="1" dirty="0" err="1"/>
              <a:t>aumentar</a:t>
            </a:r>
            <a:r>
              <a:rPr lang="en-US" b="1" dirty="0"/>
              <a:t> a </a:t>
            </a:r>
            <a:r>
              <a:rPr lang="en-US" b="1" dirty="0" err="1"/>
              <a:t>capacidade</a:t>
            </a:r>
            <a:r>
              <a:rPr lang="en-US" b="1" dirty="0"/>
              <a:t> da </a:t>
            </a:r>
            <a:r>
              <a:rPr lang="en-US" b="1" dirty="0" err="1"/>
              <a:t>arquitetura</a:t>
            </a:r>
            <a:r>
              <a:rPr lang="en-US" dirty="0"/>
              <a:t>.</a:t>
            </a:r>
            <a:endParaRPr lang="pt-BR" dirty="0"/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Manter a </a:t>
            </a:r>
            <a:r>
              <a:rPr err="1"/>
              <a:t>referência</a:t>
            </a:r>
            <a:r>
              <a:rPr dirty="0"/>
              <a:t> </a:t>
            </a:r>
            <a:r>
              <a:rPr err="1"/>
              <a:t>visível</a:t>
            </a:r>
            <a:r>
              <a:rPr dirty="0"/>
              <a:t> </a:t>
            </a:r>
            <a:r>
              <a:rPr err="1"/>
              <a:t>brevemente</a:t>
            </a:r>
            <a:r>
              <a:rPr dirty="0"/>
              <a:t>; </a:t>
            </a:r>
            <a:r>
              <a:rPr err="1"/>
              <a:t>passar</a:t>
            </a:r>
            <a:r>
              <a:rPr dirty="0"/>
              <a:t> </a:t>
            </a:r>
            <a:r>
              <a:rPr err="1"/>
              <a:t>ao</a:t>
            </a:r>
            <a:r>
              <a:rPr dirty="0"/>
              <a:t> </a:t>
            </a:r>
            <a:r>
              <a:rPr err="1"/>
              <a:t>encerramento</a:t>
            </a:r>
            <a:r>
              <a:rPr dirty="0"/>
              <a:t>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Abrir</a:t>
            </a:r>
            <a:r>
              <a:t> para </a:t>
            </a:r>
            <a:r>
              <a:rPr err="1"/>
              <a:t>perguntas</a:t>
            </a:r>
            <a:r>
              <a:rPr dirty="0"/>
              <a:t> e </a:t>
            </a:r>
            <a:r>
              <a:rPr err="1"/>
              <a:t>discussão</a:t>
            </a:r>
            <a:r>
              <a:rPr dirty="0"/>
              <a:t> </a:t>
            </a:r>
            <a:r>
              <a:rPr err="1"/>
              <a:t>científica</a:t>
            </a:r>
            <a:r>
              <a:rPr dirty="0"/>
              <a:t>.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4256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13027" y="1828799"/>
            <a:ext cx="9758566" cy="3048001"/>
          </a:xfrm>
          <a:noFill/>
        </p:spPr>
        <p:txBody>
          <a:bodyPr rtlCol="0" anchor="b">
            <a:normAutofit/>
          </a:bodyPr>
          <a:lstStyle>
            <a:lvl1pPr marL="0">
              <a:defRPr sz="4400">
                <a:solidFill>
                  <a:srgbClr val="CBCBCB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22285" y="5029200"/>
            <a:ext cx="9749307" cy="114300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 noProof="0"/>
              <a:t>Clique para editar o estilo do subtítulo mestre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/>
              <a:t>Adicionar um rodapé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894448B-5AE4-4A52-87B1-0ED7AA1BF8E1}" type="datetime1">
              <a:rPr lang="pt-BR" smtClean="0"/>
              <a:pPr/>
              <a:t>12/10/2026</a:t>
            </a:fld>
            <a:endParaRPr lang="pt-BR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6C87F6-986D-49E6-AF40-1B3A1EE8064D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3671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Adicionar um rodapé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68AFF84-C7CF-4DC0-B5A1-C5E5A9B75282}" type="datetime1">
              <a:rPr lang="pt-BR" noProof="0" smtClean="0"/>
              <a:t>12/10/2026</a:t>
            </a:fld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pt-BR" noProof="0" smtClean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670150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13027" y="1828800"/>
            <a:ext cx="5049338" cy="4343400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878389" y="1828800"/>
            <a:ext cx="4464496" cy="4343400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Adicionar um rodapé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6BEDDED-DAF7-46A3-87E6-F4FD3172A0A9}" type="datetime1">
              <a:rPr lang="pt-BR" noProof="0" smtClean="0"/>
              <a:t>12/10/2026</a:t>
            </a:fld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pt-BR" noProof="0" smtClean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730453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13026" y="1828800"/>
            <a:ext cx="5625401" cy="4343400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Adicionar um rodapé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6BEDDED-DAF7-46A3-87E6-F4FD3172A0A9}" type="datetime1">
              <a:rPr lang="pt-BR" noProof="0" smtClean="0"/>
              <a:t>12/10/2026</a:t>
            </a:fld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pt-BR" noProof="0" smtClean="0"/>
              <a:t>‹#›</a:t>
            </a:fld>
            <a:endParaRPr lang="pt-BR" noProof="0"/>
          </a:p>
        </p:txBody>
      </p:sp>
      <p:sp>
        <p:nvSpPr>
          <p:cNvPr id="9" name="Espaço Reservado para Imagem 8"/>
          <p:cNvSpPr>
            <a:spLocks noGrp="1"/>
          </p:cNvSpPr>
          <p:nvPr>
            <p:ph type="pic" sz="quarter" idx="13"/>
          </p:nvPr>
        </p:nvSpPr>
        <p:spPr>
          <a:xfrm>
            <a:off x="6742484" y="908721"/>
            <a:ext cx="3628654" cy="5328568"/>
          </a:xfrm>
        </p:spPr>
        <p:txBody>
          <a:bodyPr anchor="ctr">
            <a:normAutofit/>
          </a:bodyPr>
          <a:lstStyle>
            <a:lvl1pPr marL="4572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1471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Adicionar um rodapé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6BEDDED-DAF7-46A3-87E6-F4FD3172A0A9}" type="datetime1">
              <a:rPr lang="pt-BR" noProof="0" smtClean="0"/>
              <a:t>12/10/2026</a:t>
            </a:fld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pt-BR" noProof="0" smtClean="0"/>
              <a:t>‹#›</a:t>
            </a:fld>
            <a:endParaRPr lang="pt-BR" noProof="0"/>
          </a:p>
        </p:txBody>
      </p:sp>
      <p:sp>
        <p:nvSpPr>
          <p:cNvPr id="11" name="Espaço Reservado para Imagem 10"/>
          <p:cNvSpPr>
            <a:spLocks noGrp="1"/>
          </p:cNvSpPr>
          <p:nvPr>
            <p:ph type="pic" sz="quarter" idx="13"/>
          </p:nvPr>
        </p:nvSpPr>
        <p:spPr>
          <a:xfrm>
            <a:off x="602673" y="1916113"/>
            <a:ext cx="2287549" cy="1800000"/>
          </a:xfrm>
        </p:spPr>
        <p:txBody>
          <a:bodyPr>
            <a:normAutofit/>
          </a:bodyPr>
          <a:lstStyle>
            <a:lvl1pPr marL="45720" indent="0">
              <a:buNone/>
              <a:defRPr sz="1400"/>
            </a:lvl1pPr>
          </a:lstStyle>
          <a:p>
            <a:endParaRPr lang="pt-BR"/>
          </a:p>
        </p:txBody>
      </p:sp>
      <p:sp>
        <p:nvSpPr>
          <p:cNvPr id="13" name="Espaço Reservado para Imagem 12"/>
          <p:cNvSpPr>
            <a:spLocks noGrp="1"/>
          </p:cNvSpPr>
          <p:nvPr>
            <p:ph type="pic" sz="quarter" idx="14"/>
          </p:nvPr>
        </p:nvSpPr>
        <p:spPr>
          <a:xfrm>
            <a:off x="3096732" y="1921783"/>
            <a:ext cx="2287549" cy="1800000"/>
          </a:xfrm>
        </p:spPr>
        <p:txBody>
          <a:bodyPr>
            <a:normAutofit/>
          </a:bodyPr>
          <a:lstStyle>
            <a:lvl1pPr marL="45720" indent="0">
              <a:buNone/>
              <a:defRPr sz="1400"/>
            </a:lvl1pPr>
          </a:lstStyle>
          <a:p>
            <a:endParaRPr lang="pt-BR"/>
          </a:p>
        </p:txBody>
      </p:sp>
      <p:sp>
        <p:nvSpPr>
          <p:cNvPr id="15" name="Espaço Reservado para Imagem 14"/>
          <p:cNvSpPr>
            <a:spLocks noGrp="1"/>
          </p:cNvSpPr>
          <p:nvPr>
            <p:ph type="pic" sz="quarter" idx="15"/>
          </p:nvPr>
        </p:nvSpPr>
        <p:spPr>
          <a:xfrm>
            <a:off x="5590684" y="1916113"/>
            <a:ext cx="2287549" cy="1800000"/>
          </a:xfrm>
        </p:spPr>
        <p:txBody>
          <a:bodyPr>
            <a:normAutofit/>
          </a:bodyPr>
          <a:lstStyle>
            <a:lvl1pPr marL="45720" indent="0">
              <a:buNone/>
              <a:defRPr sz="1400"/>
            </a:lvl1pPr>
          </a:lstStyle>
          <a:p>
            <a:endParaRPr lang="pt-BR"/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16"/>
          </p:nvPr>
        </p:nvSpPr>
        <p:spPr>
          <a:xfrm>
            <a:off x="602671" y="3860800"/>
            <a:ext cx="2287594" cy="2305050"/>
          </a:xfrm>
        </p:spPr>
        <p:txBody>
          <a:bodyPr>
            <a:normAutofit/>
          </a:bodyPr>
          <a:lstStyle>
            <a:lvl1pPr marL="45720" indent="0">
              <a:buNone/>
              <a:defRPr sz="1600"/>
            </a:lvl1pPr>
            <a:lvl2pPr marL="274320" indent="0">
              <a:buNone/>
              <a:defRPr sz="1400"/>
            </a:lvl2pPr>
            <a:lvl3pPr marL="502920" indent="0">
              <a:buNone/>
              <a:defRPr sz="1200"/>
            </a:lvl3pPr>
            <a:lvl4pPr marL="731520" indent="0">
              <a:buNone/>
              <a:defRPr sz="1100"/>
            </a:lvl4pPr>
            <a:lvl5pPr marL="960120" indent="0">
              <a:buNone/>
              <a:defRPr sz="1100"/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8" name="Espaço Reservado para Texto 16"/>
          <p:cNvSpPr>
            <a:spLocks noGrp="1"/>
          </p:cNvSpPr>
          <p:nvPr>
            <p:ph type="body" sz="quarter" idx="17"/>
          </p:nvPr>
        </p:nvSpPr>
        <p:spPr>
          <a:xfrm>
            <a:off x="3096668" y="3860800"/>
            <a:ext cx="2287594" cy="2305050"/>
          </a:xfrm>
        </p:spPr>
        <p:txBody>
          <a:bodyPr>
            <a:normAutofit/>
          </a:bodyPr>
          <a:lstStyle>
            <a:lvl1pPr marL="45720" indent="0">
              <a:buNone/>
              <a:defRPr sz="1600"/>
            </a:lvl1pPr>
            <a:lvl2pPr marL="274320" indent="0">
              <a:buNone/>
              <a:defRPr sz="1400"/>
            </a:lvl2pPr>
            <a:lvl3pPr marL="502920" indent="0">
              <a:buNone/>
              <a:defRPr sz="1200"/>
            </a:lvl3pPr>
            <a:lvl4pPr marL="731520" indent="0">
              <a:buNone/>
              <a:defRPr sz="1100"/>
            </a:lvl4pPr>
            <a:lvl5pPr marL="960120" indent="0">
              <a:buNone/>
              <a:defRPr sz="1100"/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9" name="Espaço Reservado para Texto 16"/>
          <p:cNvSpPr>
            <a:spLocks noGrp="1"/>
          </p:cNvSpPr>
          <p:nvPr>
            <p:ph type="body" sz="quarter" idx="18"/>
          </p:nvPr>
        </p:nvSpPr>
        <p:spPr>
          <a:xfrm>
            <a:off x="5590356" y="3864660"/>
            <a:ext cx="2287594" cy="2305050"/>
          </a:xfrm>
        </p:spPr>
        <p:txBody>
          <a:bodyPr>
            <a:normAutofit/>
          </a:bodyPr>
          <a:lstStyle>
            <a:lvl1pPr marL="45720" indent="0">
              <a:buNone/>
              <a:defRPr sz="1600"/>
            </a:lvl1pPr>
            <a:lvl2pPr marL="274320" indent="0">
              <a:buNone/>
              <a:defRPr sz="1400"/>
            </a:lvl2pPr>
            <a:lvl3pPr marL="502920" indent="0">
              <a:buNone/>
              <a:defRPr sz="1200"/>
            </a:lvl3pPr>
            <a:lvl4pPr marL="731520" indent="0">
              <a:buNone/>
              <a:defRPr sz="1100"/>
            </a:lvl4pPr>
            <a:lvl5pPr marL="960120" indent="0">
              <a:buNone/>
              <a:defRPr sz="1100"/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20" name="Espaço Reservado para Imagem 14"/>
          <p:cNvSpPr>
            <a:spLocks noGrp="1"/>
          </p:cNvSpPr>
          <p:nvPr>
            <p:ph type="pic" sz="quarter" idx="19"/>
          </p:nvPr>
        </p:nvSpPr>
        <p:spPr>
          <a:xfrm>
            <a:off x="8084327" y="1912253"/>
            <a:ext cx="2287549" cy="1800000"/>
          </a:xfrm>
        </p:spPr>
        <p:txBody>
          <a:bodyPr>
            <a:normAutofit/>
          </a:bodyPr>
          <a:lstStyle>
            <a:lvl1pPr marL="45720" indent="0">
              <a:buNone/>
              <a:defRPr sz="1400"/>
            </a:lvl1pPr>
          </a:lstStyle>
          <a:p>
            <a:endParaRPr lang="pt-BR"/>
          </a:p>
        </p:txBody>
      </p:sp>
      <p:sp>
        <p:nvSpPr>
          <p:cNvPr id="21" name="Espaço Reservado para Texto 16"/>
          <p:cNvSpPr>
            <a:spLocks noGrp="1"/>
          </p:cNvSpPr>
          <p:nvPr>
            <p:ph type="body" sz="quarter" idx="20"/>
          </p:nvPr>
        </p:nvSpPr>
        <p:spPr>
          <a:xfrm>
            <a:off x="8083999" y="3860800"/>
            <a:ext cx="2287594" cy="2305050"/>
          </a:xfrm>
        </p:spPr>
        <p:txBody>
          <a:bodyPr>
            <a:normAutofit/>
          </a:bodyPr>
          <a:lstStyle>
            <a:lvl1pPr marL="45720" indent="0">
              <a:buNone/>
              <a:defRPr sz="1600"/>
            </a:lvl1pPr>
            <a:lvl2pPr marL="274320" indent="0">
              <a:buNone/>
              <a:defRPr sz="1400"/>
            </a:lvl2pPr>
            <a:lvl3pPr marL="502920" indent="0">
              <a:buNone/>
              <a:defRPr sz="1200"/>
            </a:lvl3pPr>
            <a:lvl4pPr marL="731520" indent="0">
              <a:buNone/>
              <a:defRPr sz="1100"/>
            </a:lvl4pPr>
            <a:lvl5pPr marL="960120" indent="0">
              <a:buNone/>
              <a:defRPr sz="1100"/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206775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74638"/>
            <a:ext cx="11423004" cy="1325562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13026" y="1828799"/>
            <a:ext cx="4709160" cy="838201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1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3026" y="2743200"/>
            <a:ext cx="4709160" cy="3428999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5657466" y="1828799"/>
            <a:ext cx="4709160" cy="838201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1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5657466" y="2743200"/>
            <a:ext cx="4709160" cy="3428999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Adicionar um rodapé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1E21C03-1418-4791-8E80-1AB8ADDC5309}" type="datetime1">
              <a:rPr lang="pt-BR" noProof="0" smtClean="0"/>
              <a:t>12/10/2026</a:t>
            </a:fld>
            <a:endParaRPr lang="pt-BR" noProof="0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pt-BR" noProof="0" smtClean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442105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Adicionar um rodapé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916D8CC-B21A-495D-8E3A-7327C849E219}" type="datetime1">
              <a:rPr lang="pt-BR" noProof="0" smtClean="0"/>
              <a:t>12/10/2026</a:t>
            </a:fld>
            <a:endParaRPr lang="pt-BR" noProof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pt-BR" noProof="0" smtClean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139068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Adicionar um rodapé</a:t>
            </a:r>
          </a:p>
        </p:txBody>
      </p:sp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1909410-498E-4526-95B1-75B98C9EB916}" type="datetime1">
              <a:rPr lang="pt-BR" noProof="0" smtClean="0"/>
              <a:t>12/10/2026</a:t>
            </a:fld>
            <a:endParaRPr lang="pt-BR" noProof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pt-BR" noProof="0" smtClean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529785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5180013" cy="6858000"/>
          </a:xfrm>
          <a:prstGeom prst="rect">
            <a:avLst/>
          </a:prstGeom>
          <a:solidFill>
            <a:srgbClr val="0009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pt-BR" noProof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3886200" cy="4038600"/>
          </a:xfrm>
          <a:noFill/>
        </p:spPr>
        <p:txBody>
          <a:bodyPr rtlCol="0" anchor="b">
            <a:noAutofit/>
          </a:bodyPr>
          <a:lstStyle>
            <a:lvl1pPr marL="0" algn="l">
              <a:defRPr sz="4000" b="1">
                <a:solidFill>
                  <a:srgbClr val="CBCBCB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518348" y="685800"/>
            <a:ext cx="4853245" cy="5486400"/>
          </a:xfrm>
        </p:spPr>
        <p:txBody>
          <a:bodyPr rtlCol="0">
            <a:normAutofit/>
          </a:bodyPr>
          <a:lstStyle>
            <a:lvl1pPr>
              <a:buClr>
                <a:schemeClr val="bg1"/>
              </a:buClr>
              <a:defRPr sz="20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8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6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4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4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84213" y="4876800"/>
            <a:ext cx="3886200" cy="129540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581988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údo com le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 userDrawn="1"/>
        </p:nvSpPr>
        <p:spPr>
          <a:xfrm>
            <a:off x="0" y="0"/>
            <a:ext cx="5180013" cy="6858000"/>
          </a:xfrm>
          <a:prstGeom prst="rect">
            <a:avLst/>
          </a:prstGeom>
          <a:solidFill>
            <a:srgbClr val="0009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pt-BR" sz="1400" noProof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518348" y="1988840"/>
            <a:ext cx="4853245" cy="4536504"/>
          </a:xfrm>
        </p:spPr>
        <p:txBody>
          <a:bodyPr rtlCol="0">
            <a:normAutofit/>
          </a:bodyPr>
          <a:lstStyle>
            <a:lvl1pPr>
              <a:buClr>
                <a:schemeClr val="bg1"/>
              </a:buClr>
              <a:defRPr sz="20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8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6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4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4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11" name="Espaço Reservado para Imagem 10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180013" cy="6858000"/>
          </a:xfrm>
        </p:spPr>
        <p:txBody>
          <a:bodyPr>
            <a:normAutofit/>
          </a:bodyPr>
          <a:lstStyle>
            <a:lvl1pPr>
              <a:buClr>
                <a:schemeClr val="bg1"/>
              </a:buClr>
              <a:defRPr sz="160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15" name="Título 14"/>
          <p:cNvSpPr>
            <a:spLocks noGrp="1"/>
          </p:cNvSpPr>
          <p:nvPr>
            <p:ph type="title"/>
          </p:nvPr>
        </p:nvSpPr>
        <p:spPr>
          <a:xfrm>
            <a:off x="5518348" y="274638"/>
            <a:ext cx="4853246" cy="1570186"/>
          </a:xfrm>
          <a:noFill/>
        </p:spPr>
        <p:txBody>
          <a:bodyPr anchor="b"/>
          <a:lstStyle>
            <a:lvl1pPr marL="0">
              <a:defRPr>
                <a:solidFill>
                  <a:srgbClr val="CBCBCB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836325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údo com le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 userDrawn="1"/>
        </p:nvSpPr>
        <p:spPr>
          <a:xfrm>
            <a:off x="5950396" y="0"/>
            <a:ext cx="5040560" cy="6857999"/>
          </a:xfrm>
          <a:prstGeom prst="rect">
            <a:avLst/>
          </a:prstGeom>
          <a:solidFill>
            <a:srgbClr val="0009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pt-BR" sz="1400" noProof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7788" y="1988840"/>
            <a:ext cx="4464497" cy="4550296"/>
          </a:xfrm>
        </p:spPr>
        <p:txBody>
          <a:bodyPr rtlCol="0">
            <a:normAutofit/>
          </a:bodyPr>
          <a:lstStyle>
            <a:lvl1pPr marL="45720" indent="0">
              <a:buClr>
                <a:schemeClr val="bg1"/>
              </a:buClr>
              <a:buNone/>
              <a:defRPr sz="2000">
                <a:solidFill>
                  <a:schemeClr val="bg1"/>
                </a:solidFill>
              </a:defRPr>
            </a:lvl1pPr>
            <a:lvl2pPr marL="274320" indent="0">
              <a:buClr>
                <a:schemeClr val="bg1"/>
              </a:buClr>
              <a:buNone/>
              <a:defRPr sz="2000">
                <a:solidFill>
                  <a:schemeClr val="bg1"/>
                </a:solidFill>
              </a:defRPr>
            </a:lvl2pPr>
            <a:lvl3pPr marL="502920" indent="0">
              <a:buClr>
                <a:schemeClr val="bg1"/>
              </a:buClr>
              <a:buNone/>
              <a:defRPr sz="1800">
                <a:solidFill>
                  <a:schemeClr val="bg1"/>
                </a:solidFill>
              </a:defRPr>
            </a:lvl3pPr>
            <a:lvl4pPr marL="731520" indent="0">
              <a:buClr>
                <a:schemeClr val="bg1"/>
              </a:buClr>
              <a:buNone/>
              <a:defRPr sz="1600">
                <a:solidFill>
                  <a:schemeClr val="bg1"/>
                </a:solidFill>
              </a:defRPr>
            </a:lvl4pPr>
            <a:lvl5pPr marL="960120" indent="0">
              <a:buClr>
                <a:schemeClr val="bg1"/>
              </a:buClr>
              <a:buNone/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11" name="Espaço Reservado para Imagem 10"/>
          <p:cNvSpPr>
            <a:spLocks noGrp="1"/>
          </p:cNvSpPr>
          <p:nvPr>
            <p:ph type="pic" sz="quarter" idx="13"/>
          </p:nvPr>
        </p:nvSpPr>
        <p:spPr>
          <a:xfrm>
            <a:off x="5374332" y="274638"/>
            <a:ext cx="1964702" cy="3047348"/>
          </a:xfrm>
          <a:ln>
            <a:solidFill>
              <a:srgbClr val="CBCBCB"/>
            </a:solidFill>
          </a:ln>
        </p:spPr>
        <p:txBody>
          <a:bodyPr>
            <a:normAutofit/>
          </a:bodyPr>
          <a:lstStyle>
            <a:lvl1pPr>
              <a:buClr>
                <a:schemeClr val="bg1"/>
              </a:buClr>
              <a:defRPr sz="160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7787" y="274638"/>
            <a:ext cx="4464497" cy="1570186"/>
          </a:xfrm>
          <a:noFill/>
        </p:spPr>
        <p:txBody>
          <a:bodyPr anchor="b"/>
          <a:lstStyle>
            <a:lvl1pPr marL="0">
              <a:defRPr>
                <a:solidFill>
                  <a:srgbClr val="CBCBCB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9" name="Espaço Reservado para Imagem 10"/>
          <p:cNvSpPr>
            <a:spLocks noGrp="1"/>
          </p:cNvSpPr>
          <p:nvPr>
            <p:ph type="pic" sz="quarter" idx="15"/>
          </p:nvPr>
        </p:nvSpPr>
        <p:spPr>
          <a:xfrm>
            <a:off x="5374332" y="3491788"/>
            <a:ext cx="1964702" cy="3047348"/>
          </a:xfrm>
          <a:ln>
            <a:solidFill>
              <a:srgbClr val="CBCBCB"/>
            </a:solidFill>
          </a:ln>
        </p:spPr>
        <p:txBody>
          <a:bodyPr>
            <a:normAutofit/>
          </a:bodyPr>
          <a:lstStyle>
            <a:lvl1pPr>
              <a:buClr>
                <a:schemeClr val="bg1"/>
              </a:buClr>
              <a:defRPr sz="160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12" name="Espaço reservado para conteúdo 2"/>
          <p:cNvSpPr>
            <a:spLocks noGrp="1"/>
          </p:cNvSpPr>
          <p:nvPr>
            <p:ph idx="16"/>
          </p:nvPr>
        </p:nvSpPr>
        <p:spPr>
          <a:xfrm>
            <a:off x="7462565" y="274638"/>
            <a:ext cx="3096343" cy="3047348"/>
          </a:xfrm>
        </p:spPr>
        <p:txBody>
          <a:bodyPr rtlCol="0" anchor="ctr">
            <a:normAutofit/>
          </a:bodyPr>
          <a:lstStyle>
            <a:lvl1pPr marL="45720" indent="0">
              <a:buClr>
                <a:schemeClr val="bg1"/>
              </a:buClr>
              <a:buNone/>
              <a:defRPr sz="1600">
                <a:solidFill>
                  <a:schemeClr val="bg1"/>
                </a:solidFill>
              </a:defRPr>
            </a:lvl1pPr>
            <a:lvl2pPr marL="560070" indent="-285750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2pPr>
            <a:lvl3pPr marL="674370" indent="-171450">
              <a:buClr>
                <a:schemeClr val="bg1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902970" indent="-171450">
              <a:buClr>
                <a:schemeClr val="bg1"/>
              </a:buClr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4pPr>
            <a:lvl5pPr marL="1131570" indent="-171450">
              <a:buClr>
                <a:schemeClr val="bg1"/>
              </a:buClr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13" name="Espaço reservado para conteúdo 2"/>
          <p:cNvSpPr>
            <a:spLocks noGrp="1"/>
          </p:cNvSpPr>
          <p:nvPr>
            <p:ph idx="17"/>
          </p:nvPr>
        </p:nvSpPr>
        <p:spPr>
          <a:xfrm>
            <a:off x="7470525" y="3491788"/>
            <a:ext cx="3096343" cy="3047348"/>
          </a:xfrm>
        </p:spPr>
        <p:txBody>
          <a:bodyPr rtlCol="0" anchor="ctr">
            <a:normAutofit/>
          </a:bodyPr>
          <a:lstStyle>
            <a:lvl1pPr marL="45720" indent="0">
              <a:buClr>
                <a:schemeClr val="bg1"/>
              </a:buClr>
              <a:buNone/>
              <a:defRPr sz="1600">
                <a:solidFill>
                  <a:schemeClr val="bg1"/>
                </a:solidFill>
              </a:defRPr>
            </a:lvl1pPr>
            <a:lvl2pPr marL="560070" indent="-285750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2pPr>
            <a:lvl3pPr marL="674370" indent="-171450">
              <a:buClr>
                <a:schemeClr val="bg1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902970" indent="-171450">
              <a:buClr>
                <a:schemeClr val="bg1"/>
              </a:buClr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4pPr>
            <a:lvl5pPr marL="1131570" indent="-171450">
              <a:buClr>
                <a:schemeClr val="bg1"/>
              </a:buClr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517730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e conteú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21804" y="1828800"/>
            <a:ext cx="5544616" cy="4480520"/>
          </a:xfrm>
        </p:spPr>
        <p:txBody>
          <a:bodyPr rtlCol="0" anchor="b">
            <a:normAutofit/>
          </a:bodyPr>
          <a:lstStyle>
            <a:lvl1pPr marL="388620" indent="-342900">
              <a:buClr>
                <a:schemeClr val="bg1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27432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2pPr>
            <a:lvl3pPr marL="50292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3pPr>
            <a:lvl4pPr marL="73152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  <a:lvl5pPr marL="96012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199545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0" y="274638"/>
            <a:ext cx="11423004" cy="132556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1804" y="1828800"/>
            <a:ext cx="972108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613026" y="6448427"/>
            <a:ext cx="6616043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Adicionar um rodapé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7556003" y="6448427"/>
            <a:ext cx="1391604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pPr rtl="0"/>
            <a:fld id="{8EB16A4D-B1E0-4F33-84EC-EFA959A70698}" type="datetime1">
              <a:rPr lang="pt-BR" noProof="0" smtClean="0"/>
              <a:t>12/10/2026</a:t>
            </a:fld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9232403" y="6448427"/>
            <a:ext cx="1139190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pPr rtl="0"/>
            <a:fld id="{F36C87F6-986D-49E6-AF40-1B3A1EE8064D}" type="slidenum">
              <a:rPr lang="pt-BR" noProof="0" smtClean="0"/>
              <a:pPr rtl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31716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1" r:id="rId2"/>
    <p:sldLayoutId id="2147483662" r:id="rId3"/>
    <p:sldLayoutId id="2147483664" r:id="rId4"/>
    <p:sldLayoutId id="2147483677" r:id="rId5"/>
    <p:sldLayoutId id="2147483675" r:id="rId6"/>
    <p:sldLayoutId id="2147483665" r:id="rId7"/>
    <p:sldLayoutId id="2147483666" r:id="rId8"/>
    <p:sldLayoutId id="2147483667" r:id="rId9"/>
    <p:sldLayoutId id="2147483668" r:id="rId10"/>
    <p:sldLayoutId id="2147483674" r:id="rId11"/>
    <p:sldLayoutId id="2147483676" r:id="rId12"/>
    <p:sldLayoutId id="2147483673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540000"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baseline="0">
          <a:solidFill>
            <a:srgbClr val="000953"/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173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745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74520" indent="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None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1931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D-FINE</a:t>
            </a:r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t>Refinamento fino de distribuições para detecção de objetos</a:t>
            </a:r>
          </a:p>
        </p:txBody>
      </p:sp>
    </p:spTree>
    <p:extLst>
      <p:ext uri="{BB962C8B-B14F-4D97-AF65-F5344CB8AC3E}">
        <p14:creationId xmlns:p14="http://schemas.microsoft.com/office/powerpoint/2010/main" val="288708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3">
            <a:extLst>
              <a:ext uri="{FF2B5EF4-FFF2-40B4-BE49-F238E27FC236}">
                <a16:creationId xmlns:a16="http://schemas.microsoft.com/office/drawing/2014/main" id="{199136F5-7C67-B276-7D79-02F6BD106729}"/>
              </a:ext>
            </a:extLst>
          </p:cNvPr>
          <p:cNvSpPr txBox="1">
            <a:spLocks/>
          </p:cNvSpPr>
          <p:nvPr/>
        </p:nvSpPr>
        <p:spPr>
          <a:xfrm>
            <a:off x="385979" y="-2932"/>
            <a:ext cx="10976081" cy="1325562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cap="all" baseline="0">
                <a:solidFill>
                  <a:srgbClr val="CBCBC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>
                <a:solidFill>
                  <a:schemeClr val="bg1"/>
                </a:solidFill>
                <a:ea typeface="+mj-lt"/>
                <a:cs typeface="+mj-lt"/>
              </a:rPr>
              <a:t>Agenda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892807"/>
            <a:ext cx="96012" cy="96012"/>
          </a:xfrm>
          <a:prstGeom prst="ellipse">
            <a:avLst/>
          </a:prstGeom>
          <a:solidFill>
            <a:srgbClr val="005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" y="1755648"/>
            <a:ext cx="94183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600" b="0" i="0">
                <a:solidFill>
                  <a:srgbClr val="FFFFFF"/>
                </a:solidFill>
                <a:latin typeface="Arial"/>
              </a:defRPr>
            </a:pPr>
            <a:r>
              <a:t>Contexto e motivação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679191"/>
            <a:ext cx="96012" cy="96012"/>
          </a:xfrm>
          <a:prstGeom prst="ellipse">
            <a:avLst/>
          </a:prstGeom>
          <a:solidFill>
            <a:srgbClr val="005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52144" y="2542032"/>
            <a:ext cx="94183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600" b="0" i="0">
                <a:solidFill>
                  <a:srgbClr val="FFFFFF"/>
                </a:solidFill>
                <a:latin typeface="Arial"/>
              </a:defRPr>
            </a:pPr>
            <a:r>
              <a:t>D-FINE: FDR e GO-LSD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465575"/>
            <a:ext cx="96012" cy="96012"/>
          </a:xfrm>
          <a:prstGeom prst="ellipse">
            <a:avLst/>
          </a:prstGeom>
          <a:solidFill>
            <a:srgbClr val="005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52144" y="3328415"/>
            <a:ext cx="94183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600" b="0" i="0">
                <a:solidFill>
                  <a:srgbClr val="FFFFFF"/>
                </a:solidFill>
                <a:latin typeface="Arial"/>
              </a:defRPr>
            </a:pPr>
            <a:r>
              <a:t>Resultados experimentais e ablações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4251960"/>
            <a:ext cx="96012" cy="96012"/>
          </a:xfrm>
          <a:prstGeom prst="ellipse">
            <a:avLst/>
          </a:prstGeom>
          <a:solidFill>
            <a:srgbClr val="005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52144" y="4114800"/>
            <a:ext cx="94183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600" b="0" i="0">
                <a:solidFill>
                  <a:srgbClr val="FFFFFF"/>
                </a:solidFill>
                <a:latin typeface="Arial"/>
              </a:defRPr>
            </a:pPr>
            <a:r>
              <a:t>Discussão crítica e conclusões</a:t>
            </a:r>
          </a:p>
        </p:txBody>
      </p:sp>
    </p:spTree>
    <p:extLst>
      <p:ext uri="{BB962C8B-B14F-4D97-AF65-F5344CB8AC3E}">
        <p14:creationId xmlns:p14="http://schemas.microsoft.com/office/powerpoint/2010/main" val="2558564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4E8DB-8FDC-1C85-DAE6-704484CE5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D436EA92-4BA7-CB93-A954-16522D701CD0}"/>
              </a:ext>
            </a:extLst>
          </p:cNvPr>
          <p:cNvSpPr txBox="1">
            <a:spLocks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54000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39750"/>
            <a:r>
              <a:rPr lang="pt-BR" sz="3600" b="0"/>
              <a:t>Por que a localização importa?</a:t>
            </a:r>
            <a:endParaRPr lang="pt-BR"/>
          </a:p>
        </p:txBody>
      </p:sp>
      <p:sp>
        <p:nvSpPr>
          <p:cNvPr id="15" name="TextBox 14"/>
          <p:cNvSpPr txBox="1"/>
          <p:nvPr/>
        </p:nvSpPr>
        <p:spPr>
          <a:xfrm>
            <a:off x="841248" y="1874519"/>
            <a:ext cx="89611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300" b="1" i="0">
                <a:solidFill>
                  <a:srgbClr val="041156"/>
                </a:solidFill>
                <a:latin typeface="Arial"/>
              </a:defRPr>
            </a:pPr>
            <a:r>
              <a:t>Duas tarefas na detecção de objetos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2368296"/>
            <a:ext cx="516636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200" b="0" i="0">
                <a:solidFill>
                  <a:srgbClr val="1D2639"/>
                </a:solidFill>
                <a:latin typeface="Arial"/>
              </a:defRPr>
            </a:pPr>
            <a:r>
              <a:t>Classificação: identificar o que foi detectado.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2200" b="0" i="0">
                <a:solidFill>
                  <a:srgbClr val="1D2639"/>
                </a:solidFill>
                <a:latin typeface="Arial"/>
              </a:defRPr>
            </a:pPr>
            <a:r>
              <a:t>Localização: delimitar onde o objeto está.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85432" y="2048256"/>
            <a:ext cx="2953512" cy="2121408"/>
          </a:xfrm>
          <a:prstGeom prst="rect">
            <a:avLst/>
          </a:prstGeom>
          <a:noFill/>
          <a:ln w="38100">
            <a:solidFill>
              <a:srgbClr val="041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06640" y="2350008"/>
            <a:ext cx="2944368" cy="2093976"/>
          </a:xfrm>
          <a:prstGeom prst="rect">
            <a:avLst/>
          </a:prstGeom>
          <a:noFill/>
          <a:ln w="38100">
            <a:solidFill>
              <a:srgbClr val="007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75704" y="1837943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041156"/>
                </a:solidFill>
                <a:latin typeface="Arial"/>
              </a:defRPr>
            </a:pPr>
            <a:r>
              <a:t>Caixa prevista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4526280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0074CC"/>
                </a:solidFill>
                <a:latin typeface="Arial"/>
              </a:defRPr>
            </a:pPr>
            <a:r>
              <a:t>Referência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754880"/>
            <a:ext cx="731520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41156"/>
                </a:solidFill>
                <a:latin typeface="Arial"/>
              </a:defRPr>
            </a:pPr>
            <a:r>
              <a:t>IoU = área de interseção / área de união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5303520"/>
            <a:ext cx="10195560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0" i="0">
                <a:solidFill>
                  <a:srgbClr val="1D2639"/>
                </a:solidFill>
                <a:latin typeface="Arial"/>
              </a:defRPr>
            </a:pPr>
            <a:r>
              <a:t>Deslocamentos pequenos nas bordas já podem reduzir o AP.</a:t>
            </a:r>
          </a:p>
        </p:txBody>
      </p:sp>
    </p:spTree>
    <p:extLst>
      <p:ext uri="{BB962C8B-B14F-4D97-AF65-F5344CB8AC3E}">
        <p14:creationId xmlns:p14="http://schemas.microsoft.com/office/powerpoint/2010/main" val="1271481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EB1DA-253C-EBEA-0DA0-60E11E8E0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C9A733B6-04BE-71EB-0839-EAE5CAC59A28}"/>
              </a:ext>
            </a:extLst>
          </p:cNvPr>
          <p:cNvSpPr txBox="1">
            <a:spLocks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54000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39750"/>
            <a:r>
              <a:rPr lang="pt-BR" sz="3600" b="0"/>
              <a:t>De DETR ao RT-DETR</a:t>
            </a:r>
            <a:endParaRPr lang="pt-BR"/>
          </a:p>
        </p:txBody>
      </p:sp>
      <p:sp>
        <p:nvSpPr>
          <p:cNvPr id="15" name="TextBox 14"/>
          <p:cNvSpPr txBox="1"/>
          <p:nvPr/>
        </p:nvSpPr>
        <p:spPr>
          <a:xfrm>
            <a:off x="841248" y="1847088"/>
            <a:ext cx="96012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41156"/>
                </a:solidFill>
                <a:latin typeface="Arial"/>
              </a:defRPr>
            </a:pPr>
            <a:r>
              <a:t>Predição de conjuntos com Transformer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6968" y="2770632"/>
            <a:ext cx="3163823" cy="0"/>
          </a:xfrm>
          <a:prstGeom prst="line">
            <a:avLst/>
          </a:prstGeom>
          <a:ln w="27940">
            <a:solidFill>
              <a:srgbClr val="005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86968" y="2944368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041156"/>
                </a:solidFill>
                <a:latin typeface="Arial"/>
              </a:defRPr>
            </a:pPr>
            <a:r>
              <a:t>Backbone + encoder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429000"/>
            <a:ext cx="3310128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D2639"/>
                </a:solidFill>
                <a:latin typeface="Arial"/>
              </a:defRPr>
            </a:pPr>
            <a:r>
              <a:t>Representações visuais multiescala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50791" y="3127248"/>
            <a:ext cx="411480" cy="466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005FB2"/>
                </a:solidFill>
                <a:latin typeface="Arial"/>
              </a:defRPr>
            </a:pPr>
            <a:r>
              <a:t>→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608576" y="2770632"/>
            <a:ext cx="3163824" cy="0"/>
          </a:xfrm>
          <a:prstGeom prst="line">
            <a:avLst/>
          </a:prstGeom>
          <a:ln w="27940">
            <a:solidFill>
              <a:srgbClr val="005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08576" y="2944368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041156"/>
                </a:solidFill>
                <a:latin typeface="Arial"/>
              </a:defRPr>
            </a:pPr>
            <a:r>
              <a:t>Decoder e queries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8576" y="3429000"/>
            <a:ext cx="3310128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D2639"/>
                </a:solidFill>
                <a:latin typeface="Arial"/>
              </a:defRPr>
            </a:pPr>
            <a:r>
              <a:t>Predição de classes e caixas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127248"/>
            <a:ext cx="411480" cy="466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005FB2"/>
                </a:solidFill>
                <a:latin typeface="Arial"/>
              </a:defRPr>
            </a:pPr>
            <a:r>
              <a:t>→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330184" y="2770632"/>
            <a:ext cx="3163824" cy="0"/>
          </a:xfrm>
          <a:prstGeom prst="line">
            <a:avLst/>
          </a:prstGeom>
          <a:ln w="27940">
            <a:solidFill>
              <a:srgbClr val="005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330184" y="2944368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041156"/>
                </a:solidFill>
                <a:latin typeface="Arial"/>
              </a:defRPr>
            </a:pPr>
            <a:r>
              <a:t>Correspondência 1:1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0184" y="3429000"/>
            <a:ext cx="3310128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D2639"/>
                </a:solidFill>
                <a:latin typeface="Arial"/>
              </a:defRPr>
            </a:pPr>
            <a:r>
              <a:t>Matching húngaro no treinamento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5020056"/>
            <a:ext cx="10497312" cy="722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041156"/>
                </a:solidFill>
                <a:latin typeface="Arial"/>
              </a:defRPr>
            </a:pPr>
            <a:r>
              <a:t>RT-DETR adapta a família para menor latência, preservando a detecção end-to-end.</a:t>
            </a:r>
          </a:p>
        </p:txBody>
      </p:sp>
    </p:spTree>
    <p:extLst>
      <p:ext uri="{BB962C8B-B14F-4D97-AF65-F5344CB8AC3E}">
        <p14:creationId xmlns:p14="http://schemas.microsoft.com/office/powerpoint/2010/main" val="2940901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86CDD-9C2D-3A15-0136-7BA3BBDF3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A6BD8F5B-7952-8439-9DA6-2CB7F1D1A399}"/>
              </a:ext>
            </a:extLst>
          </p:cNvPr>
          <p:cNvSpPr txBox="1">
            <a:spLocks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54000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39750"/>
            <a:r>
              <a:rPr lang="pt-BR" sz="3600" b="0"/>
              <a:t>O problema da regressão de caixas</a:t>
            </a:r>
            <a:endParaRPr lang="pt-BR"/>
          </a:p>
        </p:txBody>
      </p:sp>
      <p:sp>
        <p:nvSpPr>
          <p:cNvPr id="15" name="Oval 14"/>
          <p:cNvSpPr/>
          <p:nvPr/>
        </p:nvSpPr>
        <p:spPr>
          <a:xfrm>
            <a:off x="896112" y="2039112"/>
            <a:ext cx="96012" cy="96012"/>
          </a:xfrm>
          <a:prstGeom prst="ellipse">
            <a:avLst/>
          </a:prstGeom>
          <a:solidFill>
            <a:srgbClr val="005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97864" y="1911095"/>
            <a:ext cx="10104119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0" i="0">
                <a:solidFill>
                  <a:srgbClr val="1D2639"/>
                </a:solidFill>
                <a:latin typeface="Arial"/>
              </a:defRPr>
            </a:pPr>
            <a:r>
              <a:t>Predição tradicional: coordenadas (x, y, w, h) ou distâncias às bordas.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2971800"/>
            <a:ext cx="96012" cy="96012"/>
          </a:xfrm>
          <a:prstGeom prst="ellipse">
            <a:avLst/>
          </a:prstGeom>
          <a:solidFill>
            <a:srgbClr val="005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97864" y="2843784"/>
            <a:ext cx="10104119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0" i="0">
                <a:solidFill>
                  <a:srgbClr val="1D2639"/>
                </a:solidFill>
                <a:latin typeface="Arial"/>
              </a:defRPr>
            </a:pPr>
            <a:r>
              <a:t>Perdas L1 e IoU avaliam a qualidade da caixa final.</a:t>
            </a:r>
          </a:p>
        </p:txBody>
      </p:sp>
      <p:sp>
        <p:nvSpPr>
          <p:cNvPr id="19" name="Oval 18"/>
          <p:cNvSpPr/>
          <p:nvPr/>
        </p:nvSpPr>
        <p:spPr>
          <a:xfrm>
            <a:off x="896112" y="3904487"/>
            <a:ext cx="96012" cy="96012"/>
          </a:xfrm>
          <a:prstGeom prst="ellipse">
            <a:avLst/>
          </a:prstGeom>
          <a:solidFill>
            <a:srgbClr val="005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97864" y="3776472"/>
            <a:ext cx="10104119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0" i="0">
                <a:solidFill>
                  <a:srgbClr val="1D2639"/>
                </a:solidFill>
                <a:latin typeface="Arial"/>
              </a:defRPr>
            </a:pPr>
            <a:r>
              <a:t>O treinamento fornece pouca estrutura para corrigir cada borda de forma granular.</a:t>
            </a:r>
          </a:p>
        </p:txBody>
      </p:sp>
      <p:sp>
        <p:nvSpPr>
          <p:cNvPr id="21" name="Oval 20"/>
          <p:cNvSpPr/>
          <p:nvPr/>
        </p:nvSpPr>
        <p:spPr>
          <a:xfrm>
            <a:off x="896112" y="4837176"/>
            <a:ext cx="96012" cy="96012"/>
          </a:xfrm>
          <a:prstGeom prst="ellipse">
            <a:avLst/>
          </a:prstGeom>
          <a:solidFill>
            <a:srgbClr val="005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97864" y="4709160"/>
            <a:ext cx="10104119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0" i="0">
                <a:solidFill>
                  <a:srgbClr val="1D2639"/>
                </a:solidFill>
                <a:latin typeface="Arial"/>
              </a:defRPr>
            </a:pPr>
            <a:r>
              <a:t>Erros de localização são especialmente importantes em alvos pequenos e ambíguos.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5660136"/>
            <a:ext cx="10881360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41156"/>
                </a:solidFill>
                <a:latin typeface="Arial"/>
              </a:defRPr>
            </a:pPr>
            <a:r>
              <a:t>Pergunta central: como aperfeiçoar a regressão sem aumentar excessivamente o custo?</a:t>
            </a:r>
          </a:p>
        </p:txBody>
      </p:sp>
    </p:spTree>
    <p:extLst>
      <p:ext uri="{BB962C8B-B14F-4D97-AF65-F5344CB8AC3E}">
        <p14:creationId xmlns:p14="http://schemas.microsoft.com/office/powerpoint/2010/main" val="3943068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D436EA92-4BA7-CB93-A954-16522D701CD0}"/>
              </a:ext>
            </a:extLst>
          </p:cNvPr>
          <p:cNvSpPr txBox="1">
            <a:spLocks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54000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39750"/>
            <a:r>
              <a:rPr lang="pt-BR" sz="3600" b="0"/>
              <a:t>A proposta D-FINE</a:t>
            </a:r>
            <a:endParaRPr lang="pt-BR"/>
          </a:p>
        </p:txBody>
      </p:sp>
      <p:sp>
        <p:nvSpPr>
          <p:cNvPr id="15" name="TextBox 14"/>
          <p:cNvSpPr txBox="1"/>
          <p:nvPr/>
        </p:nvSpPr>
        <p:spPr>
          <a:xfrm>
            <a:off x="859536" y="1837943"/>
            <a:ext cx="9144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41156"/>
                </a:solidFill>
                <a:latin typeface="Arial"/>
              </a:defRPr>
            </a:pPr>
            <a:r>
              <a:t>Duas contribuições centrais</a:t>
            </a:r>
          </a:p>
        </p:txBody>
      </p:sp>
      <p:sp>
        <p:nvSpPr>
          <p:cNvPr id="16" name="Oval 15"/>
          <p:cNvSpPr/>
          <p:nvPr/>
        </p:nvSpPr>
        <p:spPr>
          <a:xfrm>
            <a:off x="841248" y="2569464"/>
            <a:ext cx="310896" cy="310896"/>
          </a:xfrm>
          <a:prstGeom prst="ellipse">
            <a:avLst/>
          </a:prstGeom>
          <a:solidFill>
            <a:srgbClr val="041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2587752"/>
            <a:ext cx="310896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62456" y="2459736"/>
            <a:ext cx="9875520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041156"/>
                </a:solidFill>
                <a:latin typeface="Arial"/>
              </a:defRPr>
            </a:pPr>
            <a:r>
              <a:t>FDR — Fine-grained Distribution Refinement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62456" y="2834640"/>
            <a:ext cx="969264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D2639"/>
                </a:solidFill>
                <a:latin typeface="Arial"/>
              </a:defRPr>
            </a:pPr>
            <a:r>
              <a:t>Distribuições discretas para refinar iterativamente as quatro bordas.</a:t>
            </a:r>
          </a:p>
        </p:txBody>
      </p:sp>
      <p:sp>
        <p:nvSpPr>
          <p:cNvPr id="20" name="Oval 19"/>
          <p:cNvSpPr/>
          <p:nvPr/>
        </p:nvSpPr>
        <p:spPr>
          <a:xfrm>
            <a:off x="841248" y="3913631"/>
            <a:ext cx="310896" cy="310896"/>
          </a:xfrm>
          <a:prstGeom prst="ellipse">
            <a:avLst/>
          </a:prstGeom>
          <a:solidFill>
            <a:srgbClr val="041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" y="3931920"/>
            <a:ext cx="310896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62456" y="3803904"/>
            <a:ext cx="9875520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041156"/>
                </a:solidFill>
                <a:latin typeface="Arial"/>
              </a:defRPr>
            </a:pPr>
            <a:r>
              <a:t>GO-LSD — Global Optimal Localization Self-Distillation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62456" y="4178807"/>
            <a:ext cx="969264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D2639"/>
                </a:solidFill>
                <a:latin typeface="Arial"/>
              </a:defRPr>
            </a:pPr>
            <a:r>
              <a:t>A última camada ensina as anteriores a localizar melhor.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5468112"/>
            <a:ext cx="10012680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041156"/>
                </a:solidFill>
                <a:latin typeface="Arial"/>
              </a:defRPr>
            </a:pPr>
            <a:r>
              <a:t>Base: RT-DETR + alterações arquiteturais de eficiência.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D436EA92-4BA7-CB93-A954-16522D701CD0}"/>
              </a:ext>
            </a:extLst>
          </p:cNvPr>
          <p:cNvSpPr txBox="1">
            <a:spLocks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54000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39750"/>
            <a:r>
              <a:rPr lang="pt-BR" sz="3600" b="0"/>
              <a:t>FDR: refinamento de distribuições</a:t>
            </a:r>
            <a:endParaRPr lang="pt-BR"/>
          </a:p>
        </p:txBody>
      </p:sp>
      <p:pic>
        <p:nvPicPr>
          <p:cNvPr id="15" name="Picture 14" descr="fd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071" y="1773936"/>
            <a:ext cx="8702249" cy="36118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13816" y="5385816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041156"/>
                </a:solidFill>
                <a:latin typeface="Arial"/>
              </a:defRPr>
            </a:pPr>
            <a:r>
              <a:t>Cada camada refina as distribuições de correção das quatro bordas.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5961888"/>
            <a:ext cx="99212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C6577"/>
                </a:solidFill>
                <a:latin typeface="Arial"/>
              </a:defRPr>
            </a:pPr>
            <a:r>
              <a:t>Fonte: Peng et al. (2024), Figura 2, p. 5 (recorte).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D436EA92-4BA7-CB93-A954-16522D701CD0}"/>
              </a:ext>
            </a:extLst>
          </p:cNvPr>
          <p:cNvSpPr txBox="1">
            <a:spLocks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54000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39750"/>
            <a:r>
              <a:rPr lang="pt-BR" sz="3600" b="0"/>
              <a:t>FDR: formulação matemática</a:t>
            </a:r>
            <a:endParaRPr lang="pt-BR"/>
          </a:p>
        </p:txBody>
      </p:sp>
      <p:sp>
        <p:nvSpPr>
          <p:cNvPr id="15" name="TextBox 14"/>
          <p:cNvSpPr txBox="1"/>
          <p:nvPr/>
        </p:nvSpPr>
        <p:spPr>
          <a:xfrm>
            <a:off x="841248" y="1810512"/>
            <a:ext cx="100584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041156"/>
                </a:solidFill>
                <a:latin typeface="Arial"/>
              </a:defRPr>
            </a:pPr>
            <a:r>
              <a:t>Atualização residual dos logits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331720"/>
            <a:ext cx="10058400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41156"/>
                </a:solidFill>
                <a:latin typeface="Arial"/>
              </a:defRPr>
            </a:pPr>
            <a:r>
              <a:t>pₑ⁽ˡ⁾(n) = softmax[zₑ⁽ˡ⁻¹⁾(n) + Δzₑ⁽ˡ⁾(n)]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273552"/>
            <a:ext cx="100584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041156"/>
                </a:solidFill>
                <a:latin typeface="Arial"/>
              </a:defRPr>
            </a:pPr>
            <a:r>
              <a:t>Conversão da distribuição em deslocamento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3803904"/>
            <a:ext cx="10058400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41156"/>
                </a:solidFill>
                <a:latin typeface="Arial"/>
              </a:defRPr>
            </a:pPr>
            <a:r>
              <a:t>dₑ⁽ˡ⁾ = dₑ⁽⁰⁾ + sₑ · Σₙ w(n) pₑ⁽ˡ⁾(n)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46320"/>
            <a:ext cx="10515600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0" i="0">
                <a:solidFill>
                  <a:srgbClr val="1D2639"/>
                </a:solidFill>
                <a:latin typeface="Arial"/>
              </a:defRPr>
            </a:pPr>
            <a:r>
              <a:t>e: borda  •  w(n): deslocamento do bin  •  sₑ: W ou H da caixa inicial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5961888"/>
            <a:ext cx="99212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C6577"/>
                </a:solidFill>
                <a:latin typeface="Arial"/>
              </a:defRPr>
            </a:pPr>
            <a:r>
              <a:t>Fonte: Peng et al. (2024), Equações 2 e 3, pp. 4–5.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D436EA92-4BA7-CB93-A954-16522D701CD0}"/>
              </a:ext>
            </a:extLst>
          </p:cNvPr>
          <p:cNvSpPr txBox="1">
            <a:spLocks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54000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39750"/>
            <a:r>
              <a:rPr lang="pt-BR" sz="3600" b="0"/>
              <a:t>O papel dos bins não uniformes</a:t>
            </a:r>
            <a:endParaRPr lang="pt-BR"/>
          </a:p>
        </p:txBody>
      </p:sp>
      <p:cxnSp>
        <p:nvCxnSpPr>
          <p:cNvPr id="15" name="Connector 14"/>
          <p:cNvCxnSpPr/>
          <p:nvPr/>
        </p:nvCxnSpPr>
        <p:spPr>
          <a:xfrm>
            <a:off x="978408" y="4142232"/>
            <a:ext cx="7543800" cy="0"/>
          </a:xfrm>
          <a:prstGeom prst="line">
            <a:avLst/>
          </a:prstGeom>
          <a:ln w="16510">
            <a:solidFill>
              <a:srgbClr val="6F7E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78408" y="2843784"/>
            <a:ext cx="0" cy="2596896"/>
          </a:xfrm>
          <a:prstGeom prst="line">
            <a:avLst/>
          </a:prstGeom>
          <a:ln w="16510">
            <a:solidFill>
              <a:srgbClr val="6F7E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978408" y="4754880"/>
            <a:ext cx="235743" cy="612648"/>
          </a:xfrm>
          <a:prstGeom prst="line">
            <a:avLst/>
          </a:prstGeom>
          <a:ln w="33020">
            <a:solidFill>
              <a:srgbClr val="005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214151" y="4689979"/>
            <a:ext cx="235744" cy="64901"/>
          </a:xfrm>
          <a:prstGeom prst="line">
            <a:avLst/>
          </a:prstGeom>
          <a:ln w="33020">
            <a:solidFill>
              <a:srgbClr val="005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449895" y="4629662"/>
            <a:ext cx="235744" cy="60317"/>
          </a:xfrm>
          <a:prstGeom prst="line">
            <a:avLst/>
          </a:prstGeom>
          <a:ln w="33020">
            <a:solidFill>
              <a:srgbClr val="005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685639" y="4573605"/>
            <a:ext cx="235744" cy="56057"/>
          </a:xfrm>
          <a:prstGeom prst="line">
            <a:avLst/>
          </a:prstGeom>
          <a:ln w="33020">
            <a:solidFill>
              <a:srgbClr val="005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921383" y="4521506"/>
            <a:ext cx="235743" cy="52099"/>
          </a:xfrm>
          <a:prstGeom prst="line">
            <a:avLst/>
          </a:prstGeom>
          <a:ln w="33020">
            <a:solidFill>
              <a:srgbClr val="005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157126" y="4473087"/>
            <a:ext cx="235744" cy="48419"/>
          </a:xfrm>
          <a:prstGeom prst="line">
            <a:avLst/>
          </a:prstGeom>
          <a:ln w="33020">
            <a:solidFill>
              <a:srgbClr val="005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92870" y="4428088"/>
            <a:ext cx="235744" cy="44999"/>
          </a:xfrm>
          <a:prstGeom prst="line">
            <a:avLst/>
          </a:prstGeom>
          <a:ln w="33020">
            <a:solidFill>
              <a:srgbClr val="005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628614" y="4386266"/>
            <a:ext cx="235744" cy="41822"/>
          </a:xfrm>
          <a:prstGeom prst="line">
            <a:avLst/>
          </a:prstGeom>
          <a:ln w="33020">
            <a:solidFill>
              <a:srgbClr val="005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864358" y="4347398"/>
            <a:ext cx="235743" cy="38868"/>
          </a:xfrm>
          <a:prstGeom prst="line">
            <a:avLst/>
          </a:prstGeom>
          <a:ln w="33020">
            <a:solidFill>
              <a:srgbClr val="005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100101" y="4311275"/>
            <a:ext cx="235744" cy="36123"/>
          </a:xfrm>
          <a:prstGeom prst="line">
            <a:avLst/>
          </a:prstGeom>
          <a:ln w="33020">
            <a:solidFill>
              <a:srgbClr val="005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335845" y="4277703"/>
            <a:ext cx="235744" cy="33572"/>
          </a:xfrm>
          <a:prstGeom prst="line">
            <a:avLst/>
          </a:prstGeom>
          <a:ln w="33020">
            <a:solidFill>
              <a:srgbClr val="005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571589" y="4246502"/>
            <a:ext cx="235744" cy="31201"/>
          </a:xfrm>
          <a:prstGeom prst="line">
            <a:avLst/>
          </a:prstGeom>
          <a:ln w="33020">
            <a:solidFill>
              <a:srgbClr val="005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807333" y="4217505"/>
            <a:ext cx="235743" cy="28997"/>
          </a:xfrm>
          <a:prstGeom prst="line">
            <a:avLst/>
          </a:prstGeom>
          <a:ln w="33020">
            <a:solidFill>
              <a:srgbClr val="005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4043076" y="4190555"/>
            <a:ext cx="235744" cy="26950"/>
          </a:xfrm>
          <a:prstGeom prst="line">
            <a:avLst/>
          </a:prstGeom>
          <a:ln w="33020">
            <a:solidFill>
              <a:srgbClr val="005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278820" y="4165509"/>
            <a:ext cx="235744" cy="25046"/>
          </a:xfrm>
          <a:prstGeom prst="line">
            <a:avLst/>
          </a:prstGeom>
          <a:ln w="33020">
            <a:solidFill>
              <a:srgbClr val="005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514564" y="4142232"/>
            <a:ext cx="235744" cy="23277"/>
          </a:xfrm>
          <a:prstGeom prst="line">
            <a:avLst/>
          </a:prstGeom>
          <a:ln w="33020">
            <a:solidFill>
              <a:srgbClr val="005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750308" y="4118954"/>
            <a:ext cx="235743" cy="23278"/>
          </a:xfrm>
          <a:prstGeom prst="line">
            <a:avLst/>
          </a:prstGeom>
          <a:ln w="33020">
            <a:solidFill>
              <a:srgbClr val="005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4986051" y="4093908"/>
            <a:ext cx="235744" cy="25046"/>
          </a:xfrm>
          <a:prstGeom prst="line">
            <a:avLst/>
          </a:prstGeom>
          <a:ln w="33020">
            <a:solidFill>
              <a:srgbClr val="005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5221795" y="4066958"/>
            <a:ext cx="235744" cy="26950"/>
          </a:xfrm>
          <a:prstGeom prst="line">
            <a:avLst/>
          </a:prstGeom>
          <a:ln w="33020">
            <a:solidFill>
              <a:srgbClr val="005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457539" y="4037961"/>
            <a:ext cx="235744" cy="28997"/>
          </a:xfrm>
          <a:prstGeom prst="line">
            <a:avLst/>
          </a:prstGeom>
          <a:ln w="33020">
            <a:solidFill>
              <a:srgbClr val="005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5693283" y="4006760"/>
            <a:ext cx="235743" cy="31201"/>
          </a:xfrm>
          <a:prstGeom prst="line">
            <a:avLst/>
          </a:prstGeom>
          <a:ln w="33020">
            <a:solidFill>
              <a:srgbClr val="005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929026" y="3973188"/>
            <a:ext cx="235744" cy="33572"/>
          </a:xfrm>
          <a:prstGeom prst="line">
            <a:avLst/>
          </a:prstGeom>
          <a:ln w="33020">
            <a:solidFill>
              <a:srgbClr val="005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6164770" y="3937065"/>
            <a:ext cx="235744" cy="36123"/>
          </a:xfrm>
          <a:prstGeom prst="line">
            <a:avLst/>
          </a:prstGeom>
          <a:ln w="33020">
            <a:solidFill>
              <a:srgbClr val="005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400514" y="3898197"/>
            <a:ext cx="235744" cy="38868"/>
          </a:xfrm>
          <a:prstGeom prst="line">
            <a:avLst/>
          </a:prstGeom>
          <a:ln w="33020">
            <a:solidFill>
              <a:srgbClr val="005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6636258" y="3856375"/>
            <a:ext cx="235743" cy="41822"/>
          </a:xfrm>
          <a:prstGeom prst="line">
            <a:avLst/>
          </a:prstGeom>
          <a:ln w="33020">
            <a:solidFill>
              <a:srgbClr val="005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6872001" y="3811376"/>
            <a:ext cx="235744" cy="44999"/>
          </a:xfrm>
          <a:prstGeom prst="line">
            <a:avLst/>
          </a:prstGeom>
          <a:ln w="33020">
            <a:solidFill>
              <a:srgbClr val="005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107745" y="3762957"/>
            <a:ext cx="235744" cy="48419"/>
          </a:xfrm>
          <a:prstGeom prst="line">
            <a:avLst/>
          </a:prstGeom>
          <a:ln w="33020">
            <a:solidFill>
              <a:srgbClr val="005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7343489" y="3710858"/>
            <a:ext cx="235744" cy="52099"/>
          </a:xfrm>
          <a:prstGeom prst="line">
            <a:avLst/>
          </a:prstGeom>
          <a:ln w="33020">
            <a:solidFill>
              <a:srgbClr val="005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7579233" y="3654801"/>
            <a:ext cx="235743" cy="56057"/>
          </a:xfrm>
          <a:prstGeom prst="line">
            <a:avLst/>
          </a:prstGeom>
          <a:ln w="33020">
            <a:solidFill>
              <a:srgbClr val="005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814976" y="3594484"/>
            <a:ext cx="235744" cy="60317"/>
          </a:xfrm>
          <a:prstGeom prst="line">
            <a:avLst/>
          </a:prstGeom>
          <a:ln w="33020">
            <a:solidFill>
              <a:srgbClr val="005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050720" y="3529584"/>
            <a:ext cx="235744" cy="64900"/>
          </a:xfrm>
          <a:prstGeom prst="line">
            <a:avLst/>
          </a:prstGeom>
          <a:ln w="33020">
            <a:solidFill>
              <a:srgbClr val="005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8286464" y="2916936"/>
            <a:ext cx="235744" cy="612648"/>
          </a:xfrm>
          <a:prstGeom prst="line">
            <a:avLst/>
          </a:prstGeom>
          <a:ln w="33020">
            <a:solidFill>
              <a:srgbClr val="005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78408" y="4091940"/>
            <a:ext cx="0" cy="100584"/>
          </a:xfrm>
          <a:prstGeom prst="line">
            <a:avLst/>
          </a:prstGeom>
          <a:ln w="8890">
            <a:solidFill>
              <a:srgbClr val="5A64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68680" y="4251960"/>
            <a:ext cx="43891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C6577"/>
                </a:solidFill>
                <a:latin typeface="Arial"/>
              </a:defRPr>
            </a:pPr>
            <a:r>
              <a:t>0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864358" y="4091940"/>
            <a:ext cx="0" cy="100584"/>
          </a:xfrm>
          <a:prstGeom prst="line">
            <a:avLst/>
          </a:prstGeom>
          <a:ln w="8890">
            <a:solidFill>
              <a:srgbClr val="5A64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754630" y="4251960"/>
            <a:ext cx="43891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C6577"/>
                </a:solidFill>
                <a:latin typeface="Arial"/>
              </a:defRPr>
            </a:pPr>
            <a:r>
              <a:t>8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750308" y="4091940"/>
            <a:ext cx="0" cy="100584"/>
          </a:xfrm>
          <a:prstGeom prst="line">
            <a:avLst/>
          </a:prstGeom>
          <a:ln w="8890">
            <a:solidFill>
              <a:srgbClr val="5A64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640580" y="4251960"/>
            <a:ext cx="43891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C6577"/>
                </a:solidFill>
                <a:latin typeface="Arial"/>
              </a:defRPr>
            </a:pPr>
            <a:r>
              <a:t>16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636258" y="4091940"/>
            <a:ext cx="0" cy="100584"/>
          </a:xfrm>
          <a:prstGeom prst="line">
            <a:avLst/>
          </a:prstGeom>
          <a:ln w="8890">
            <a:solidFill>
              <a:srgbClr val="5A64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526530" y="4251960"/>
            <a:ext cx="43891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C6577"/>
                </a:solidFill>
                <a:latin typeface="Arial"/>
              </a:defRPr>
            </a:pPr>
            <a:r>
              <a:t>24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8522208" y="4091940"/>
            <a:ext cx="0" cy="100584"/>
          </a:xfrm>
          <a:prstGeom prst="line">
            <a:avLst/>
          </a:prstGeom>
          <a:ln w="8890">
            <a:solidFill>
              <a:srgbClr val="5A64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412480" y="4251960"/>
            <a:ext cx="43891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C6577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2104" y="352958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041156"/>
                </a:solidFill>
                <a:latin typeface="Arial"/>
              </a:defRPr>
            </a:pPr>
            <a:r>
              <a:t>w(n)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42048" y="493776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5C6577"/>
                </a:solidFill>
                <a:latin typeface="Arial"/>
              </a:defRPr>
            </a:pPr>
            <a:r>
              <a:t>bin (n)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87384" y="2130552"/>
            <a:ext cx="2359152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041156"/>
                </a:solidFill>
                <a:latin typeface="Arial"/>
              </a:defRPr>
            </a:pPr>
            <a:r>
              <a:t>Bins extremos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041156"/>
                </a:solidFill>
                <a:latin typeface="Arial"/>
              </a:defRPr>
            </a:pPr>
            <a:r>
              <a:t>correções amplas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87384" y="3986784"/>
            <a:ext cx="2331720" cy="932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0" i="0">
                <a:solidFill>
                  <a:srgbClr val="1D2639"/>
                </a:solidFill>
                <a:latin typeface="Arial"/>
              </a:defRPr>
            </a:pPr>
            <a:r>
              <a:t>Bins centrais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900" b="0" i="0">
                <a:solidFill>
                  <a:srgbClr val="1D2639"/>
                </a:solidFill>
                <a:latin typeface="Arial"/>
              </a:defRPr>
            </a:pPr>
            <a:r>
              <a:t>ajustes finos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4672" y="5961888"/>
            <a:ext cx="99212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C6577"/>
                </a:solidFill>
                <a:latin typeface="Arial"/>
              </a:defRPr>
            </a:pPr>
            <a:r>
              <a:t>Função W(n) ilustrada com N=32, a=0,5, c=0,25 (configuração D-FINE-L; Equação 4).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D436EA92-4BA7-CB93-A954-16522D701CD0}"/>
              </a:ext>
            </a:extLst>
          </p:cNvPr>
          <p:cNvSpPr txBox="1">
            <a:spLocks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54000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39750"/>
            <a:r>
              <a:rPr lang="pt-BR" sz="3600" b="0"/>
              <a:t>Perda FGL: localização fina</a:t>
            </a:r>
            <a:endParaRPr lang="pt-BR"/>
          </a:p>
        </p:txBody>
      </p:sp>
      <p:sp>
        <p:nvSpPr>
          <p:cNvPr id="15" name="TextBox 14"/>
          <p:cNvSpPr txBox="1"/>
          <p:nvPr/>
        </p:nvSpPr>
        <p:spPr>
          <a:xfrm>
            <a:off x="850392" y="1856231"/>
            <a:ext cx="99669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41156"/>
                </a:solidFill>
                <a:latin typeface="Arial"/>
              </a:defRPr>
            </a:pPr>
            <a:r>
              <a:t>Fine-Grained Localization (FGL)</a:t>
            </a:r>
          </a:p>
        </p:txBody>
      </p:sp>
      <p:sp>
        <p:nvSpPr>
          <p:cNvPr id="16" name="Oval 15"/>
          <p:cNvSpPr/>
          <p:nvPr/>
        </p:nvSpPr>
        <p:spPr>
          <a:xfrm>
            <a:off x="896112" y="2606040"/>
            <a:ext cx="96012" cy="96012"/>
          </a:xfrm>
          <a:prstGeom prst="ellipse">
            <a:avLst/>
          </a:prstGeom>
          <a:solidFill>
            <a:srgbClr val="005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97864" y="2478024"/>
            <a:ext cx="10104119" cy="722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D2639"/>
                </a:solidFill>
                <a:latin typeface="Arial"/>
              </a:defRPr>
            </a:pPr>
            <a:r>
              <a:t>Deslocamento verdadeiro localizado entre dois bins vizinhos.</a:t>
            </a:r>
          </a:p>
        </p:txBody>
      </p:sp>
      <p:sp>
        <p:nvSpPr>
          <p:cNvPr id="18" name="Oval 17"/>
          <p:cNvSpPr/>
          <p:nvPr/>
        </p:nvSpPr>
        <p:spPr>
          <a:xfrm>
            <a:off x="896112" y="3364992"/>
            <a:ext cx="96012" cy="96012"/>
          </a:xfrm>
          <a:prstGeom prst="ellipse">
            <a:avLst/>
          </a:prstGeom>
          <a:solidFill>
            <a:srgbClr val="005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97864" y="3236976"/>
            <a:ext cx="10104119" cy="722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D2639"/>
                </a:solidFill>
                <a:latin typeface="Arial"/>
              </a:defRPr>
            </a:pPr>
            <a:r>
              <a:t>Entropia cruzada interpolada orienta a distribuição por borda.</a:t>
            </a:r>
          </a:p>
        </p:txBody>
      </p:sp>
      <p:sp>
        <p:nvSpPr>
          <p:cNvPr id="20" name="Oval 19"/>
          <p:cNvSpPr/>
          <p:nvPr/>
        </p:nvSpPr>
        <p:spPr>
          <a:xfrm>
            <a:off x="896112" y="4123944"/>
            <a:ext cx="96012" cy="96012"/>
          </a:xfrm>
          <a:prstGeom prst="ellipse">
            <a:avLst/>
          </a:prstGeom>
          <a:solidFill>
            <a:srgbClr val="005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97864" y="3995928"/>
            <a:ext cx="10104119" cy="722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D2639"/>
                </a:solidFill>
                <a:latin typeface="Arial"/>
              </a:defRPr>
            </a:pPr>
            <a:r>
              <a:t>Ponderação por IoU incorpora a qualidade da localização.</a:t>
            </a:r>
          </a:p>
        </p:txBody>
      </p:sp>
      <p:sp>
        <p:nvSpPr>
          <p:cNvPr id="22" name="Oval 21"/>
          <p:cNvSpPr/>
          <p:nvPr/>
        </p:nvSpPr>
        <p:spPr>
          <a:xfrm>
            <a:off x="896112" y="4882895"/>
            <a:ext cx="96012" cy="96012"/>
          </a:xfrm>
          <a:prstGeom prst="ellipse">
            <a:avLst/>
          </a:prstGeom>
          <a:solidFill>
            <a:srgbClr val="005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97864" y="4754879"/>
            <a:ext cx="10104119" cy="722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D2639"/>
                </a:solidFill>
                <a:latin typeface="Arial"/>
              </a:defRPr>
            </a:pPr>
            <a:r>
              <a:t>A FGL complementa as perdas de classificação e de caixa.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961888"/>
            <a:ext cx="99212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C6577"/>
                </a:solidFill>
                <a:latin typeface="Arial"/>
              </a:defRPr>
            </a:pPr>
            <a:r>
              <a:t>Fonte: Peng et al. (2024), Equação 5, p. 5.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D436EA92-4BA7-CB93-A954-16522D701CD0}"/>
              </a:ext>
            </a:extLst>
          </p:cNvPr>
          <p:cNvSpPr txBox="1">
            <a:spLocks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54000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39750"/>
            <a:r>
              <a:rPr lang="pt-BR" sz="3600" b="0"/>
              <a:t>Como a FDR muda a predição?</a:t>
            </a:r>
            <a:endParaRPr lang="pt-BR"/>
          </a:p>
        </p:txBody>
      </p:sp>
      <p:sp>
        <p:nvSpPr>
          <p:cNvPr id="15" name="TextBox 14"/>
          <p:cNvSpPr txBox="1"/>
          <p:nvPr/>
        </p:nvSpPr>
        <p:spPr>
          <a:xfrm>
            <a:off x="859536" y="1938528"/>
            <a:ext cx="106984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41156"/>
                </a:solidFill>
                <a:latin typeface="Arial"/>
              </a:defRPr>
            </a:pPr>
            <a:r>
              <a:t>Refinamento residual da caixa inicial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59536" y="2779776"/>
            <a:ext cx="2286000" cy="0"/>
          </a:xfrm>
          <a:prstGeom prst="line">
            <a:avLst/>
          </a:prstGeom>
          <a:ln w="27940">
            <a:solidFill>
              <a:srgbClr val="005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59536" y="2962656"/>
            <a:ext cx="25146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041156"/>
                </a:solidFill>
                <a:latin typeface="Arial"/>
              </a:defRPr>
            </a:pPr>
            <a:r>
              <a:t>Caixa inicial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3538728"/>
            <a:ext cx="2514600" cy="941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D2639"/>
                </a:solidFill>
                <a:latin typeface="Arial"/>
              </a:defRPr>
            </a:pPr>
            <a:r>
              <a:t>(x, y, W, 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27832" y="3090672"/>
            <a:ext cx="43891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005FB2"/>
                </a:solidFill>
                <a:latin typeface="Arial"/>
              </a:defRPr>
            </a:pPr>
            <a:r>
              <a:t>→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712464" y="2779776"/>
            <a:ext cx="2286000" cy="0"/>
          </a:xfrm>
          <a:prstGeom prst="line">
            <a:avLst/>
          </a:prstGeom>
          <a:ln w="27940">
            <a:solidFill>
              <a:srgbClr val="005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712464" y="2962656"/>
            <a:ext cx="25146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041156"/>
                </a:solidFill>
                <a:latin typeface="Arial"/>
              </a:defRPr>
            </a:pPr>
            <a:r>
              <a:t>Distribuições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12464" y="3538728"/>
            <a:ext cx="2514600" cy="941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D2639"/>
                </a:solidFill>
                <a:latin typeface="Arial"/>
              </a:defRPr>
            </a:pPr>
            <a:r>
              <a:t>topo · base · esquerda · direita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3090672"/>
            <a:ext cx="43891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005FB2"/>
                </a:solidFill>
                <a:latin typeface="Arial"/>
              </a:defRPr>
            </a:pPr>
            <a:r>
              <a:t>→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65392" y="2779776"/>
            <a:ext cx="2286000" cy="0"/>
          </a:xfrm>
          <a:prstGeom prst="line">
            <a:avLst/>
          </a:prstGeom>
          <a:ln w="27940">
            <a:solidFill>
              <a:srgbClr val="005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65392" y="2962656"/>
            <a:ext cx="25146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041156"/>
                </a:solidFill>
                <a:latin typeface="Arial"/>
              </a:defRPr>
            </a:pPr>
            <a:r>
              <a:t>Offsets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3538728"/>
            <a:ext cx="2514600" cy="941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D2639"/>
                </a:solidFill>
                <a:latin typeface="Arial"/>
              </a:defRPr>
            </a:pPr>
            <a:r>
              <a:t>Σ w(n) · p(n)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3688" y="3090672"/>
            <a:ext cx="43891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005FB2"/>
                </a:solidFill>
                <a:latin typeface="Arial"/>
              </a:defRPr>
            </a:pPr>
            <a:r>
              <a:t>→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418319" y="2779776"/>
            <a:ext cx="2286000" cy="0"/>
          </a:xfrm>
          <a:prstGeom prst="line">
            <a:avLst/>
          </a:prstGeom>
          <a:ln w="27940">
            <a:solidFill>
              <a:srgbClr val="005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418319" y="2962656"/>
            <a:ext cx="25146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041156"/>
                </a:solidFill>
                <a:latin typeface="Arial"/>
              </a:defRPr>
            </a:pPr>
            <a:r>
              <a:t>Caixa refinada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19" y="3538728"/>
            <a:ext cx="2514600" cy="941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D2639"/>
                </a:solidFill>
                <a:latin typeface="Arial"/>
              </a:defRPr>
            </a:pPr>
            <a:r>
              <a:t>limites ajustados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" y="5038344"/>
            <a:ext cx="10744200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041156"/>
                </a:solidFill>
                <a:latin typeface="Arial"/>
              </a:defRPr>
            </a:pPr>
            <a:r>
              <a:t>A distribuição descreve correções relativas, não probabilidades de caixas completas.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D436EA92-4BA7-CB93-A954-16522D701CD0}"/>
              </a:ext>
            </a:extLst>
          </p:cNvPr>
          <p:cNvSpPr txBox="1">
            <a:spLocks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54000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39750"/>
            <a:r>
              <a:rPr lang="pt-BR" sz="3600" b="0"/>
              <a:t>GO-LSD: auto destilação entre camadas</a:t>
            </a:r>
            <a:endParaRPr lang="pt-BR"/>
          </a:p>
        </p:txBody>
      </p:sp>
      <p:pic>
        <p:nvPicPr>
          <p:cNvPr id="15" name="Picture 14" descr="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1" y="2053292"/>
            <a:ext cx="10927080" cy="289771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77824" y="5330952"/>
            <a:ext cx="106070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041156"/>
                </a:solidFill>
                <a:latin typeface="Arial"/>
              </a:defRPr>
            </a:pPr>
            <a:r>
              <a:t>A última camada (professora) orienta as distribuições das camadas iniciais.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5961888"/>
            <a:ext cx="99212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C6577"/>
                </a:solidFill>
                <a:latin typeface="Arial"/>
              </a:defRPr>
            </a:pPr>
            <a:r>
              <a:t>Fonte: Peng et al. (2024), Figura 3, p. 6 (recorte).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D436EA92-4BA7-CB93-A954-16522D701CD0}"/>
              </a:ext>
            </a:extLst>
          </p:cNvPr>
          <p:cNvSpPr txBox="1">
            <a:spLocks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54000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39750"/>
            <a:r>
              <a:rPr lang="pt-BR" sz="3600" b="0"/>
              <a:t>GO-LSD: matching e perda DDF</a:t>
            </a:r>
            <a:endParaRPr lang="pt-BR"/>
          </a:p>
        </p:txBody>
      </p:sp>
      <p:sp>
        <p:nvSpPr>
          <p:cNvPr id="15" name="Oval 14"/>
          <p:cNvSpPr/>
          <p:nvPr/>
        </p:nvSpPr>
        <p:spPr>
          <a:xfrm>
            <a:off x="841248" y="2048256"/>
            <a:ext cx="310896" cy="310896"/>
          </a:xfrm>
          <a:prstGeom prst="ellipse">
            <a:avLst/>
          </a:prstGeom>
          <a:solidFill>
            <a:srgbClr val="041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" y="2066544"/>
            <a:ext cx="310896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62456" y="1938528"/>
            <a:ext cx="9875520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041156"/>
                </a:solidFill>
                <a:latin typeface="Arial"/>
              </a:defRPr>
            </a:pPr>
            <a:r>
              <a:t>Matching global de localização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62456" y="2313432"/>
            <a:ext cx="969264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D2639"/>
                </a:solidFill>
                <a:latin typeface="Arial"/>
              </a:defRPr>
            </a:pPr>
            <a:r>
              <a:t>União dos índices húngaros de todas as camadas.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3255264"/>
            <a:ext cx="310896" cy="310896"/>
          </a:xfrm>
          <a:prstGeom prst="ellipse">
            <a:avLst/>
          </a:prstGeom>
          <a:solidFill>
            <a:srgbClr val="041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" y="3273552"/>
            <a:ext cx="310896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62456" y="3145536"/>
            <a:ext cx="9875520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041156"/>
                </a:solidFill>
                <a:latin typeface="Arial"/>
              </a:defRPr>
            </a:pPr>
            <a:r>
              <a:t>Distilação por divergência KL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62456" y="3520440"/>
            <a:ext cx="969264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D2639"/>
                </a:solidFill>
                <a:latin typeface="Arial"/>
              </a:defRPr>
            </a:pPr>
            <a:r>
              <a:t>Comparação entre distribuições rasas e final com temperatura T.</a:t>
            </a:r>
          </a:p>
        </p:txBody>
      </p:sp>
      <p:sp>
        <p:nvSpPr>
          <p:cNvPr id="23" name="Oval 22"/>
          <p:cNvSpPr/>
          <p:nvPr/>
        </p:nvSpPr>
        <p:spPr>
          <a:xfrm>
            <a:off x="841248" y="4507992"/>
            <a:ext cx="310896" cy="310896"/>
          </a:xfrm>
          <a:prstGeom prst="ellipse">
            <a:avLst/>
          </a:prstGeom>
          <a:solidFill>
            <a:srgbClr val="041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8" y="4526280"/>
            <a:ext cx="310896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62456" y="4398264"/>
            <a:ext cx="9875520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041156"/>
                </a:solidFill>
                <a:latin typeface="Arial"/>
              </a:defRPr>
            </a:pPr>
            <a:r>
              <a:t>Ponderação desacoplada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62456" y="4773168"/>
            <a:ext cx="969264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D2639"/>
                </a:solidFill>
                <a:latin typeface="Arial"/>
              </a:defRPr>
            </a:pPr>
            <a:r>
              <a:t>Matched: IoU  |  Unmatched: confiança de classificação.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961888"/>
            <a:ext cx="99212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C6577"/>
                </a:solidFill>
                <a:latin typeface="Arial"/>
              </a:defRPr>
            </a:pPr>
            <a:r>
              <a:t>Fonte: Peng et al. (2024), seção 4.2 e Equação 6, p. 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D436EA92-4BA7-CB93-A954-16522D701CD0}"/>
              </a:ext>
            </a:extLst>
          </p:cNvPr>
          <p:cNvSpPr txBox="1">
            <a:spLocks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54000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39750"/>
            <a:r>
              <a:rPr lang="pt-BR" sz="3600" b="0"/>
              <a:t>GO-LSD: o que muda no treinamento?</a:t>
            </a:r>
            <a:endParaRPr lang="pt-BR"/>
          </a:p>
        </p:txBody>
      </p:sp>
      <p:sp>
        <p:nvSpPr>
          <p:cNvPr id="15" name="TextBox 14"/>
          <p:cNvSpPr txBox="1"/>
          <p:nvPr/>
        </p:nvSpPr>
        <p:spPr>
          <a:xfrm>
            <a:off x="905256" y="1993392"/>
            <a:ext cx="46634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041156"/>
                </a:solidFill>
                <a:latin typeface="Arial"/>
              </a:defRPr>
            </a:pPr>
            <a:r>
              <a:t>Treinamento</a:t>
            </a:r>
          </a:p>
        </p:txBody>
      </p:sp>
      <p:sp>
        <p:nvSpPr>
          <p:cNvPr id="16" name="Oval 15"/>
          <p:cNvSpPr/>
          <p:nvPr/>
        </p:nvSpPr>
        <p:spPr>
          <a:xfrm>
            <a:off x="923544" y="2743200"/>
            <a:ext cx="96012" cy="96012"/>
          </a:xfrm>
          <a:prstGeom prst="ellipse">
            <a:avLst/>
          </a:prstGeom>
          <a:solidFill>
            <a:srgbClr val="005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25296" y="2615184"/>
            <a:ext cx="9573767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D2639"/>
                </a:solidFill>
                <a:latin typeface="Arial"/>
              </a:defRPr>
            </a:pPr>
            <a:r>
              <a:t>Supervisão adicional nas camadas rasas.</a:t>
            </a:r>
          </a:p>
        </p:txBody>
      </p:sp>
      <p:sp>
        <p:nvSpPr>
          <p:cNvPr id="18" name="Oval 17"/>
          <p:cNvSpPr/>
          <p:nvPr/>
        </p:nvSpPr>
        <p:spPr>
          <a:xfrm>
            <a:off x="923544" y="3474720"/>
            <a:ext cx="96012" cy="96012"/>
          </a:xfrm>
          <a:prstGeom prst="ellipse">
            <a:avLst/>
          </a:prstGeom>
          <a:solidFill>
            <a:srgbClr val="005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25296" y="3346704"/>
            <a:ext cx="9573767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D2639"/>
                </a:solidFill>
                <a:latin typeface="Arial"/>
              </a:defRPr>
            </a:pPr>
            <a:r>
              <a:t>Uso da própria camada final como professora.</a:t>
            </a:r>
          </a:p>
        </p:txBody>
      </p:sp>
      <p:sp>
        <p:nvSpPr>
          <p:cNvPr id="20" name="Oval 19"/>
          <p:cNvSpPr/>
          <p:nvPr/>
        </p:nvSpPr>
        <p:spPr>
          <a:xfrm>
            <a:off x="923544" y="4206240"/>
            <a:ext cx="96012" cy="96012"/>
          </a:xfrm>
          <a:prstGeom prst="ellipse">
            <a:avLst/>
          </a:prstGeom>
          <a:solidFill>
            <a:srgbClr val="005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25296" y="4078224"/>
            <a:ext cx="9573767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D2639"/>
                </a:solidFill>
                <a:latin typeface="Arial"/>
              </a:defRPr>
            </a:pPr>
            <a:r>
              <a:t>Perda DDF orientada à localização.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166360"/>
            <a:ext cx="10469880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41156"/>
                </a:solidFill>
                <a:latin typeface="Arial"/>
              </a:defRPr>
            </a:pPr>
            <a:r>
              <a:t>Inferência: não requer uma segunda rede professora.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D436EA92-4BA7-CB93-A954-16522D701CD0}"/>
              </a:ext>
            </a:extLst>
          </p:cNvPr>
          <p:cNvSpPr txBox="1">
            <a:spLocks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54000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39750"/>
            <a:r>
              <a:rPr lang="pt-BR" sz="3600" b="0"/>
              <a:t>Otimizações de eficiência</a:t>
            </a:r>
            <a:endParaRPr lang="pt-BR"/>
          </a:p>
        </p:txBody>
      </p:sp>
      <p:sp>
        <p:nvSpPr>
          <p:cNvPr id="15" name="Oval 14"/>
          <p:cNvSpPr/>
          <p:nvPr/>
        </p:nvSpPr>
        <p:spPr>
          <a:xfrm>
            <a:off x="896112" y="2139696"/>
            <a:ext cx="96012" cy="96012"/>
          </a:xfrm>
          <a:prstGeom prst="ellipse">
            <a:avLst/>
          </a:prstGeom>
          <a:solidFill>
            <a:srgbClr val="005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97864" y="2011680"/>
            <a:ext cx="10104119" cy="813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0" i="0">
                <a:solidFill>
                  <a:srgbClr val="1D2639"/>
                </a:solidFill>
                <a:latin typeface="Arial"/>
              </a:defRPr>
            </a:pPr>
            <a:r>
              <a:t>Remoção de projeções do decoder e inclusão de target gating.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2990088"/>
            <a:ext cx="96012" cy="96012"/>
          </a:xfrm>
          <a:prstGeom prst="ellipse">
            <a:avLst/>
          </a:prstGeom>
          <a:solidFill>
            <a:srgbClr val="005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97864" y="2862072"/>
            <a:ext cx="10104119" cy="813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0" i="0">
                <a:solidFill>
                  <a:srgbClr val="1D2639"/>
                </a:solidFill>
                <a:latin typeface="Arial"/>
              </a:defRPr>
            </a:pPr>
            <a:r>
              <a:t>Substituição de CSP por GELAN com dimensão interna reduzida.</a:t>
            </a:r>
          </a:p>
        </p:txBody>
      </p:sp>
      <p:sp>
        <p:nvSpPr>
          <p:cNvPr id="19" name="Oval 18"/>
          <p:cNvSpPr/>
          <p:nvPr/>
        </p:nvSpPr>
        <p:spPr>
          <a:xfrm>
            <a:off x="896112" y="3840480"/>
            <a:ext cx="96012" cy="96012"/>
          </a:xfrm>
          <a:prstGeom prst="ellipse">
            <a:avLst/>
          </a:prstGeom>
          <a:solidFill>
            <a:srgbClr val="005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97864" y="3712464"/>
            <a:ext cx="10104119" cy="813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0" i="0">
                <a:solidFill>
                  <a:srgbClr val="1D2639"/>
                </a:solidFill>
                <a:latin typeface="Arial"/>
              </a:defRPr>
            </a:pPr>
            <a:r>
              <a:t>Amostragem multiescala redistribuída: 3 / 6 / 3 pontos.</a:t>
            </a:r>
          </a:p>
        </p:txBody>
      </p:sp>
      <p:sp>
        <p:nvSpPr>
          <p:cNvPr id="21" name="Oval 20"/>
          <p:cNvSpPr/>
          <p:nvPr/>
        </p:nvSpPr>
        <p:spPr>
          <a:xfrm>
            <a:off x="896112" y="4690872"/>
            <a:ext cx="96012" cy="96012"/>
          </a:xfrm>
          <a:prstGeom prst="ellipse">
            <a:avLst/>
          </a:prstGeom>
          <a:solidFill>
            <a:srgbClr val="005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97864" y="4562856"/>
            <a:ext cx="10104119" cy="813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0" i="0">
                <a:solidFill>
                  <a:srgbClr val="1D2639"/>
                </a:solidFill>
                <a:latin typeface="Arial"/>
              </a:defRPr>
            </a:pPr>
            <a:r>
              <a:t>Estratégia de treinamento inspirada no RT-DETRv2.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5541264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041156"/>
                </a:solidFill>
                <a:latin typeface="Arial"/>
              </a:defRPr>
            </a:pPr>
            <a:r>
              <a:t>D-FINE completo ≠ RT-DETR com duas novas perdas.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D436EA92-4BA7-CB93-A954-16522D701CD0}"/>
              </a:ext>
            </a:extLst>
          </p:cNvPr>
          <p:cNvSpPr txBox="1">
            <a:spLocks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54000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39750"/>
            <a:r>
              <a:rPr lang="pt-BR" sz="3600" b="0"/>
              <a:t>Protocolo experimental</a:t>
            </a:r>
            <a:endParaRPr lang="pt-BR"/>
          </a:p>
        </p:txBody>
      </p:sp>
      <p:sp>
        <p:nvSpPr>
          <p:cNvPr id="15" name="TextBox 14"/>
          <p:cNvSpPr txBox="1"/>
          <p:nvPr/>
        </p:nvSpPr>
        <p:spPr>
          <a:xfrm>
            <a:off x="914400" y="2011680"/>
            <a:ext cx="39319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41156"/>
                </a:solidFill>
                <a:latin typeface="Arial"/>
              </a:defRPr>
            </a:pPr>
            <a:r>
              <a:t>Precisão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532888"/>
            <a:ext cx="4846320" cy="1773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D2639"/>
                </a:solidFill>
                <a:latin typeface="Arial"/>
              </a:defRPr>
            </a:pPr>
            <a:r>
              <a:t>COCO val2017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D2639"/>
                </a:solidFill>
                <a:latin typeface="Arial"/>
              </a:defRPr>
            </a:pPr>
            <a:r>
              <a:t>AP médio em IoU 0,50:0,95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D2639"/>
                </a:solidFill>
                <a:latin typeface="Arial"/>
              </a:defRPr>
            </a:pPr>
            <a:r>
              <a:t>AP₅₀, AP₇₅, APS, APM e APL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2011680"/>
            <a:ext cx="46634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41156"/>
                </a:solidFill>
                <a:latin typeface="Arial"/>
              </a:defRPr>
            </a:pPr>
            <a:r>
              <a:t>Velocidade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2532888"/>
            <a:ext cx="4764024" cy="1773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D2639"/>
                </a:solidFill>
                <a:latin typeface="Arial"/>
              </a:defRPr>
            </a:pPr>
            <a:r>
              <a:t>GPU NVIDIA T4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D2639"/>
                </a:solidFill>
                <a:latin typeface="Arial"/>
              </a:defRPr>
            </a:pPr>
            <a:r>
              <a:t>TensorRT FP16 • lote 1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D2639"/>
                </a:solidFill>
                <a:latin typeface="Arial"/>
              </a:defRPr>
            </a:pPr>
            <a:r>
              <a:t>Latência ponta a ponta (ms)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80176" y="1984248"/>
            <a:ext cx="0" cy="2468880"/>
          </a:xfrm>
          <a:prstGeom prst="line">
            <a:avLst/>
          </a:prstGeom>
          <a:ln w="15240">
            <a:solidFill>
              <a:srgbClr val="D6E1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14400" y="5166360"/>
            <a:ext cx="10607040" cy="649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041156"/>
                </a:solidFill>
                <a:latin typeface="Arial"/>
              </a:defRPr>
            </a:pPr>
            <a:r>
              <a:t>Os números não descrevem automaticamente desempenho em CPU, PyTorch ou outros dispositivos.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D436EA92-4BA7-CB93-A954-16522D701CD0}"/>
              </a:ext>
            </a:extLst>
          </p:cNvPr>
          <p:cNvSpPr txBox="1">
            <a:spLocks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54000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39750"/>
            <a:r>
              <a:rPr lang="pt-BR" sz="3600" b="0"/>
              <a:t>Família D-FINE: AP versus latência</a:t>
            </a:r>
            <a:endParaRPr lang="pt-BR"/>
          </a:p>
        </p:txBody>
      </p:sp>
      <p:cxnSp>
        <p:nvCxnSpPr>
          <p:cNvPr id="15" name="Connector 14"/>
          <p:cNvCxnSpPr/>
          <p:nvPr/>
        </p:nvCxnSpPr>
        <p:spPr>
          <a:xfrm>
            <a:off x="1197864" y="5084064"/>
            <a:ext cx="8823960" cy="0"/>
          </a:xfrm>
          <a:prstGeom prst="line">
            <a:avLst/>
          </a:prstGeom>
          <a:ln w="16510">
            <a:solidFill>
              <a:srgbClr val="5C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97864" y="2176271"/>
            <a:ext cx="0" cy="2907793"/>
          </a:xfrm>
          <a:prstGeom prst="line">
            <a:avLst/>
          </a:prstGeom>
          <a:ln w="16510">
            <a:solidFill>
              <a:srgbClr val="5C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97864" y="5084064"/>
            <a:ext cx="0" cy="64008"/>
          </a:xfrm>
          <a:prstGeom prst="line">
            <a:avLst/>
          </a:prstGeom>
          <a:ln w="8890">
            <a:solidFill>
              <a:srgbClr val="5C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33272" y="5202936"/>
            <a:ext cx="47548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C6577"/>
                </a:solidFill>
                <a:latin typeface="Arial"/>
              </a:defRPr>
            </a:pPr>
            <a:r>
              <a:t>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458429" y="5084064"/>
            <a:ext cx="0" cy="64008"/>
          </a:xfrm>
          <a:prstGeom prst="line">
            <a:avLst/>
          </a:prstGeom>
          <a:ln w="8890">
            <a:solidFill>
              <a:srgbClr val="5C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293837" y="5202936"/>
            <a:ext cx="47548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C6577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718995" y="5084064"/>
            <a:ext cx="0" cy="64008"/>
          </a:xfrm>
          <a:prstGeom prst="line">
            <a:avLst/>
          </a:prstGeom>
          <a:ln w="8890">
            <a:solidFill>
              <a:srgbClr val="5C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554403" y="5202936"/>
            <a:ext cx="47548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C6577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979561" y="5084064"/>
            <a:ext cx="0" cy="64008"/>
          </a:xfrm>
          <a:prstGeom prst="line">
            <a:avLst/>
          </a:prstGeom>
          <a:ln w="8890">
            <a:solidFill>
              <a:srgbClr val="5C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814969" y="5202936"/>
            <a:ext cx="47548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C6577"/>
                </a:solidFill>
                <a:latin typeface="Arial"/>
              </a:defRPr>
            </a:pPr>
            <a:r>
              <a:t>6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240126" y="5084064"/>
            <a:ext cx="0" cy="64008"/>
          </a:xfrm>
          <a:prstGeom prst="line">
            <a:avLst/>
          </a:prstGeom>
          <a:ln w="8890">
            <a:solidFill>
              <a:srgbClr val="5C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075534" y="5202936"/>
            <a:ext cx="47548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C6577"/>
                </a:solidFill>
                <a:latin typeface="Arial"/>
              </a:defRPr>
            </a:pPr>
            <a:r>
              <a:t>8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500692" y="5084064"/>
            <a:ext cx="0" cy="64008"/>
          </a:xfrm>
          <a:prstGeom prst="line">
            <a:avLst/>
          </a:prstGeom>
          <a:ln w="8890">
            <a:solidFill>
              <a:srgbClr val="5C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36100" y="5202936"/>
            <a:ext cx="47548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C6577"/>
                </a:solidFill>
                <a:latin typeface="Arial"/>
              </a:defRPr>
            </a:pPr>
            <a:r>
              <a:t>10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761258" y="5084064"/>
            <a:ext cx="0" cy="64008"/>
          </a:xfrm>
          <a:prstGeom prst="line">
            <a:avLst/>
          </a:prstGeom>
          <a:ln w="8890">
            <a:solidFill>
              <a:srgbClr val="5C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596666" y="5202936"/>
            <a:ext cx="47548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C6577"/>
                </a:solidFill>
                <a:latin typeface="Arial"/>
              </a:defRPr>
            </a:pPr>
            <a:r>
              <a:t>12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021824" y="5084064"/>
            <a:ext cx="0" cy="64008"/>
          </a:xfrm>
          <a:prstGeom prst="line">
            <a:avLst/>
          </a:prstGeom>
          <a:ln w="8890">
            <a:solidFill>
              <a:srgbClr val="5C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857232" y="5202936"/>
            <a:ext cx="47548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C6577"/>
                </a:solidFill>
                <a:latin typeface="Arial"/>
              </a:defRPr>
            </a:pPr>
            <a:r>
              <a:t>14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124712" y="5084064"/>
            <a:ext cx="73152" cy="0"/>
          </a:xfrm>
          <a:prstGeom prst="line">
            <a:avLst/>
          </a:prstGeom>
          <a:ln w="8890">
            <a:solidFill>
              <a:srgbClr val="5C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22376" y="4974336"/>
            <a:ext cx="393192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C6577"/>
                </a:solidFill>
                <a:latin typeface="Arial"/>
              </a:defRPr>
            </a:pPr>
            <a:r>
              <a:t>40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124712" y="4437887"/>
            <a:ext cx="73152" cy="0"/>
          </a:xfrm>
          <a:prstGeom prst="line">
            <a:avLst/>
          </a:prstGeom>
          <a:ln w="8890">
            <a:solidFill>
              <a:srgbClr val="5C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22376" y="4328159"/>
            <a:ext cx="393192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C6577"/>
                </a:solidFill>
                <a:latin typeface="Arial"/>
              </a:defRPr>
            </a:pPr>
            <a:r>
              <a:t>44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124712" y="3791712"/>
            <a:ext cx="73152" cy="0"/>
          </a:xfrm>
          <a:prstGeom prst="line">
            <a:avLst/>
          </a:prstGeom>
          <a:ln w="8890">
            <a:solidFill>
              <a:srgbClr val="5C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22376" y="3681983"/>
            <a:ext cx="393192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C6577"/>
                </a:solidFill>
                <a:latin typeface="Arial"/>
              </a:defRPr>
            </a:pPr>
            <a:r>
              <a:t>48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124712" y="3145535"/>
            <a:ext cx="73152" cy="0"/>
          </a:xfrm>
          <a:prstGeom prst="line">
            <a:avLst/>
          </a:prstGeom>
          <a:ln w="8890">
            <a:solidFill>
              <a:srgbClr val="5C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22376" y="3035807"/>
            <a:ext cx="393192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C6577"/>
                </a:solidFill>
                <a:latin typeface="Arial"/>
              </a:defRPr>
            </a:pPr>
            <a:r>
              <a:t>52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124712" y="2499359"/>
            <a:ext cx="73152" cy="0"/>
          </a:xfrm>
          <a:prstGeom prst="line">
            <a:avLst/>
          </a:prstGeom>
          <a:ln w="8890">
            <a:solidFill>
              <a:srgbClr val="5C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22376" y="2389631"/>
            <a:ext cx="393192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C6577"/>
                </a:solidFill>
                <a:latin typeface="Arial"/>
              </a:defRPr>
            </a:pPr>
            <a:r>
              <a:t>56</a:t>
            </a:r>
          </a:p>
        </p:txBody>
      </p:sp>
      <p:sp>
        <p:nvSpPr>
          <p:cNvPr id="43" name="Oval 42"/>
          <p:cNvSpPr/>
          <p:nvPr/>
        </p:nvSpPr>
        <p:spPr>
          <a:xfrm>
            <a:off x="2459082" y="4556760"/>
            <a:ext cx="149961" cy="149961"/>
          </a:xfrm>
          <a:prstGeom prst="ellipse">
            <a:avLst/>
          </a:prstGeom>
          <a:solidFill>
            <a:srgbClr val="005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680367" y="4512868"/>
            <a:ext cx="1600200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41156"/>
                </a:solidFill>
                <a:latin typeface="Arial"/>
              </a:defRPr>
            </a:pPr>
            <a:r>
              <a:t>N · 42.8 AP</a:t>
            </a:r>
          </a:p>
        </p:txBody>
      </p:sp>
      <p:sp>
        <p:nvSpPr>
          <p:cNvPr id="45" name="Oval 44"/>
          <p:cNvSpPr/>
          <p:nvPr/>
        </p:nvSpPr>
        <p:spPr>
          <a:xfrm>
            <a:off x="3322570" y="3635959"/>
            <a:ext cx="149961" cy="149961"/>
          </a:xfrm>
          <a:prstGeom prst="ellipse">
            <a:avLst/>
          </a:prstGeom>
          <a:solidFill>
            <a:srgbClr val="005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543855" y="3592067"/>
            <a:ext cx="1600200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41156"/>
                </a:solidFill>
                <a:latin typeface="Arial"/>
              </a:defRPr>
            </a:pPr>
            <a:r>
              <a:t>S · 48.5 AP</a:t>
            </a:r>
          </a:p>
        </p:txBody>
      </p:sp>
      <p:sp>
        <p:nvSpPr>
          <p:cNvPr id="47" name="Oval 46"/>
          <p:cNvSpPr/>
          <p:nvPr/>
        </p:nvSpPr>
        <p:spPr>
          <a:xfrm>
            <a:off x="4665072" y="3022092"/>
            <a:ext cx="149961" cy="149961"/>
          </a:xfrm>
          <a:prstGeom prst="ellipse">
            <a:avLst/>
          </a:prstGeom>
          <a:solidFill>
            <a:srgbClr val="005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886357" y="2978200"/>
            <a:ext cx="1600200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41156"/>
                </a:solidFill>
                <a:latin typeface="Arial"/>
              </a:defRPr>
            </a:pPr>
            <a:r>
              <a:t>M · 52.3 AP</a:t>
            </a:r>
          </a:p>
        </p:txBody>
      </p:sp>
      <p:sp>
        <p:nvSpPr>
          <p:cNvPr id="49" name="Oval 48"/>
          <p:cNvSpPr/>
          <p:nvPr/>
        </p:nvSpPr>
        <p:spPr>
          <a:xfrm>
            <a:off x="6209265" y="2747467"/>
            <a:ext cx="149961" cy="149961"/>
          </a:xfrm>
          <a:prstGeom prst="ellipse">
            <a:avLst/>
          </a:prstGeom>
          <a:solidFill>
            <a:srgbClr val="005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30550" y="2703575"/>
            <a:ext cx="1600200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41156"/>
                </a:solidFill>
                <a:latin typeface="Arial"/>
              </a:defRPr>
            </a:pPr>
            <a:r>
              <a:t>L · 54.0 AP</a:t>
            </a:r>
          </a:p>
        </p:txBody>
      </p:sp>
      <p:sp>
        <p:nvSpPr>
          <p:cNvPr id="51" name="Oval 50"/>
          <p:cNvSpPr/>
          <p:nvPr/>
        </p:nvSpPr>
        <p:spPr>
          <a:xfrm>
            <a:off x="9247229" y="2456688"/>
            <a:ext cx="149961" cy="149961"/>
          </a:xfrm>
          <a:prstGeom prst="ellipse">
            <a:avLst/>
          </a:prstGeom>
          <a:solidFill>
            <a:srgbClr val="005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468514" y="2412796"/>
            <a:ext cx="1600200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41156"/>
                </a:solidFill>
                <a:latin typeface="Arial"/>
              </a:defRPr>
            </a:pPr>
            <a:r>
              <a:t>X · 55.8 AP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71816" y="5422392"/>
            <a:ext cx="17830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5C6577"/>
                </a:solidFill>
                <a:latin typeface="Arial"/>
              </a:defRPr>
            </a:pPr>
            <a:r>
              <a:t>Latência (ms)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1993392"/>
            <a:ext cx="429768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5C6577"/>
                </a:solidFill>
                <a:latin typeface="Arial"/>
              </a:defRPr>
            </a:pPr>
            <a:r>
              <a:t>AP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672" y="5961888"/>
            <a:ext cx="99212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C6577"/>
                </a:solidFill>
                <a:latin typeface="Arial"/>
              </a:defRPr>
            </a:pPr>
            <a:r>
              <a:t>D-FINE-N/S/M/L/X: modelos treinados em COCO. Dados: repositório oficial e artigo.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Comparação visual do artigo</a:t>
            </a:r>
          </a:p>
        </p:txBody>
      </p:sp>
      <p:pic>
        <p:nvPicPr>
          <p:cNvPr id="3" name="Picture 2" descr="figure1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8079"/>
            <a:ext cx="7955279" cy="31709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49640" y="1508760"/>
            <a:ext cx="3200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376E"/>
                </a:solidFill>
              </a:defRPr>
            </a:pPr>
            <a:r>
              <a:t>Leitura rápida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D-FINE desloca a fronteira de desempenho, combinando maior AP com baixa latência.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A comparação é medida em TensorRT FP16 na NVIDIA T4.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A figura ajuda a visualizar que o ganho não vem apenas do aumento de parâmetros.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40680"/>
            <a:ext cx="7863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05050"/>
                </a:solidFill>
              </a:defRPr>
            </a:pPr>
            <a:r>
              <a:t>Figura 1 do artigo: comparação com outros detectores em termos de latência, tamanho do modelo e custo computacional.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D436EA92-4BA7-CB93-A954-16522D701CD0}"/>
              </a:ext>
            </a:extLst>
          </p:cNvPr>
          <p:cNvSpPr txBox="1">
            <a:spLocks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54000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39750"/>
            <a:r>
              <a:rPr lang="pt-BR" sz="3600" b="0"/>
              <a:t>D-FINE frente a detectores de tempo real</a:t>
            </a:r>
            <a:endParaRPr lang="pt-BR"/>
          </a:p>
        </p:txBody>
      </p:sp>
      <p:sp>
        <p:nvSpPr>
          <p:cNvPr id="15" name="TextBox 14"/>
          <p:cNvSpPr txBox="1"/>
          <p:nvPr/>
        </p:nvSpPr>
        <p:spPr>
          <a:xfrm>
            <a:off x="896112" y="2002536"/>
            <a:ext cx="323697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41156"/>
                </a:solidFill>
                <a:latin typeface="Arial"/>
              </a:defRPr>
            </a:pPr>
            <a:r>
              <a:t>Modelo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9976" y="2002536"/>
            <a:ext cx="15361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41156"/>
                </a:solidFill>
                <a:latin typeface="Arial"/>
              </a:defRPr>
            </a:pPr>
            <a:r>
              <a:t>Parâmetros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7064" y="2002536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41156"/>
                </a:solidFill>
                <a:latin typeface="Arial"/>
              </a:defRPr>
            </a:pPr>
            <a:r>
              <a:t>GFLOPs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9016" y="2002536"/>
            <a:ext cx="96926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41156"/>
                </a:solidFill>
                <a:latin typeface="Arial"/>
              </a:defRPr>
            </a:pPr>
            <a:r>
              <a:t>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0888" y="2002536"/>
            <a:ext cx="193852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41156"/>
                </a:solidFill>
                <a:latin typeface="Arial"/>
              </a:defRPr>
            </a:pPr>
            <a:r>
              <a:t>Latência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32104" y="2459736"/>
            <a:ext cx="10570463" cy="0"/>
          </a:xfrm>
          <a:prstGeom prst="line">
            <a:avLst/>
          </a:prstGeom>
          <a:ln w="29209">
            <a:solidFill>
              <a:srgbClr val="005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96112" y="2633472"/>
            <a:ext cx="3236976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D2639"/>
                </a:solidFill>
                <a:latin typeface="Arial"/>
              </a:defRPr>
            </a:pPr>
            <a:r>
              <a:t>RT-DETR-HG-L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9976" y="2633472"/>
            <a:ext cx="1536192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D2639"/>
                </a:solidFill>
                <a:latin typeface="Arial"/>
              </a:defRPr>
            </a:pPr>
            <a:r>
              <a:t>32 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27064" y="2633472"/>
            <a:ext cx="155448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D2639"/>
                </a:solidFill>
                <a:latin typeface="Arial"/>
              </a:defRPr>
            </a:pPr>
            <a:r>
              <a:t>107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9016" y="2633472"/>
            <a:ext cx="969264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D2639"/>
                </a:solidFill>
                <a:latin typeface="Arial"/>
              </a:defRPr>
            </a:pPr>
            <a:r>
              <a:t>53,0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90888" y="2633472"/>
            <a:ext cx="1938528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D2639"/>
                </a:solidFill>
                <a:latin typeface="Arial"/>
              </a:defRPr>
            </a:pPr>
            <a:r>
              <a:t>9,25 ms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2104" y="3337560"/>
            <a:ext cx="10570463" cy="0"/>
          </a:xfrm>
          <a:prstGeom prst="line">
            <a:avLst/>
          </a:prstGeom>
          <a:ln w="8890">
            <a:solidFill>
              <a:srgbClr val="D6E1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96112" y="3429000"/>
            <a:ext cx="3236976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D2639"/>
                </a:solidFill>
                <a:latin typeface="Arial"/>
              </a:defRPr>
            </a:pPr>
            <a:r>
              <a:t>YOLOv10-L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9976" y="3429000"/>
            <a:ext cx="1536192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D2639"/>
                </a:solidFill>
                <a:latin typeface="Arial"/>
              </a:defRPr>
            </a:pPr>
            <a:r>
              <a:t>24 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27064" y="3429000"/>
            <a:ext cx="155448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D2639"/>
                </a:solidFill>
                <a:latin typeface="Arial"/>
              </a:defRPr>
            </a:pPr>
            <a:r>
              <a:t>120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9016" y="3429000"/>
            <a:ext cx="969264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D2639"/>
                </a:solidFill>
                <a:latin typeface="Arial"/>
              </a:defRPr>
            </a:pPr>
            <a:r>
              <a:t>53,2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90888" y="3429000"/>
            <a:ext cx="1938528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D2639"/>
                </a:solidFill>
                <a:latin typeface="Arial"/>
              </a:defRPr>
            </a:pPr>
            <a:r>
              <a:t>7,66 ms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32104" y="4133087"/>
            <a:ext cx="10570463" cy="0"/>
          </a:xfrm>
          <a:prstGeom prst="line">
            <a:avLst/>
          </a:prstGeom>
          <a:ln w="8890">
            <a:solidFill>
              <a:srgbClr val="D6E1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96112" y="4224528"/>
            <a:ext cx="3236976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D2639"/>
                </a:solidFill>
                <a:latin typeface="Arial"/>
              </a:defRPr>
            </a:pPr>
            <a:r>
              <a:t>YOLO11-L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79976" y="4224528"/>
            <a:ext cx="1536192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D2639"/>
                </a:solidFill>
                <a:latin typeface="Arial"/>
              </a:defRPr>
            </a:pPr>
            <a:r>
              <a:t>25 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27064" y="4224528"/>
            <a:ext cx="155448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D2639"/>
                </a:solidFill>
                <a:latin typeface="Arial"/>
              </a:defRPr>
            </a:pPr>
            <a:r>
              <a:t>87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29016" y="4224528"/>
            <a:ext cx="969264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D2639"/>
                </a:solidFill>
                <a:latin typeface="Arial"/>
              </a:defRPr>
            </a:pPr>
            <a:r>
              <a:t>53,4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90888" y="4224528"/>
            <a:ext cx="1938528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D2639"/>
                </a:solidFill>
                <a:latin typeface="Arial"/>
              </a:defRPr>
            </a:pPr>
            <a:r>
              <a:t>10,28 ms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32104" y="4928616"/>
            <a:ext cx="10570463" cy="0"/>
          </a:xfrm>
          <a:prstGeom prst="line">
            <a:avLst/>
          </a:prstGeom>
          <a:ln w="8890">
            <a:solidFill>
              <a:srgbClr val="D6E1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96112" y="5020056"/>
            <a:ext cx="3236976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41156"/>
                </a:solidFill>
                <a:latin typeface="Arial"/>
              </a:defRPr>
            </a:pPr>
            <a:r>
              <a:t>D-FINE-L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79976" y="5020056"/>
            <a:ext cx="1536192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41156"/>
                </a:solidFill>
                <a:latin typeface="Arial"/>
              </a:defRPr>
            </a:pPr>
            <a:r>
              <a:t>31 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27064" y="5020056"/>
            <a:ext cx="155448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41156"/>
                </a:solidFill>
                <a:latin typeface="Arial"/>
              </a:defRPr>
            </a:pPr>
            <a:r>
              <a:t>91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29016" y="5020056"/>
            <a:ext cx="969264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41156"/>
                </a:solidFill>
                <a:latin typeface="Arial"/>
              </a:defRPr>
            </a:pPr>
            <a:r>
              <a:t>54,0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90888" y="5020056"/>
            <a:ext cx="1938528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41156"/>
                </a:solidFill>
                <a:latin typeface="Arial"/>
              </a:defRPr>
            </a:pPr>
            <a:r>
              <a:t>8,07 ms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32104" y="5724144"/>
            <a:ext cx="10570463" cy="0"/>
          </a:xfrm>
          <a:prstGeom prst="line">
            <a:avLst/>
          </a:prstGeom>
          <a:ln w="8890">
            <a:solidFill>
              <a:srgbClr val="D6E1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68680" y="5696712"/>
            <a:ext cx="10552176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5C6577"/>
                </a:solidFill>
                <a:latin typeface="Arial"/>
              </a:defRPr>
            </a:pPr>
            <a:r>
              <a:t>Mesma base COCO, conforme Tabela 1. Desempenhos dependem dos protocolos reportados.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D436EA92-4BA7-CB93-A954-16522D701CD0}"/>
              </a:ext>
            </a:extLst>
          </p:cNvPr>
          <p:cNvSpPr txBox="1">
            <a:spLocks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54000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39750"/>
            <a:r>
              <a:rPr lang="pt-BR" sz="3600" b="0"/>
              <a:t>O efeito do pré-treinamento</a:t>
            </a:r>
            <a:endParaRPr lang="pt-BR"/>
          </a:p>
        </p:txBody>
      </p:sp>
      <p:sp>
        <p:nvSpPr>
          <p:cNvPr id="15" name="TextBox 14"/>
          <p:cNvSpPr txBox="1"/>
          <p:nvPr/>
        </p:nvSpPr>
        <p:spPr>
          <a:xfrm>
            <a:off x="1051560" y="2048256"/>
            <a:ext cx="47548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041156"/>
                </a:solidFill>
                <a:latin typeface="Arial"/>
              </a:defRPr>
            </a:pPr>
            <a:r>
              <a:t>COCO apenas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2048256"/>
            <a:ext cx="48463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041156"/>
                </a:solidFill>
                <a:latin typeface="Arial"/>
              </a:defRPr>
            </a:pPr>
            <a:r>
              <a:t>Objects365 → COCO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2880360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041156"/>
                </a:solidFill>
                <a:latin typeface="Arial"/>
              </a:defRPr>
            </a:pPr>
            <a:r>
              <a:t>D-FINE-L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9856" y="2880360"/>
            <a:ext cx="1435608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400" b="0" i="0">
                <a:solidFill>
                  <a:srgbClr val="1D2639"/>
                </a:solidFill>
                <a:latin typeface="Arial"/>
              </a:defRPr>
            </a:pPr>
            <a:r>
              <a:t>54,0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9824" y="2880360"/>
            <a:ext cx="438912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05FB2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7416" y="2880360"/>
            <a:ext cx="1554480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041156"/>
                </a:solidFill>
                <a:latin typeface="Arial"/>
              </a:defRPr>
            </a:pPr>
            <a:r>
              <a:t>57,1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96265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5C6577"/>
                </a:solidFill>
                <a:latin typeface="Arial"/>
              </a:defRPr>
            </a:pPr>
            <a:r>
              <a:t>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3995928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041156"/>
                </a:solidFill>
                <a:latin typeface="Arial"/>
              </a:defRPr>
            </a:pPr>
            <a:r>
              <a:t>D-FINE-X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9856" y="3995928"/>
            <a:ext cx="1435608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400" b="0" i="0">
                <a:solidFill>
                  <a:srgbClr val="1D2639"/>
                </a:solidFill>
                <a:latin typeface="Arial"/>
              </a:defRPr>
            </a:pPr>
            <a:r>
              <a:t>55,8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9824" y="3995928"/>
            <a:ext cx="438912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05FB2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57416" y="3995928"/>
            <a:ext cx="1554480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041156"/>
                </a:solidFill>
                <a:latin typeface="Arial"/>
              </a:defRPr>
            </a:pPr>
            <a:r>
              <a:t>59,3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407822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5C6577"/>
                </a:solidFill>
                <a:latin typeface="Arial"/>
              </a:defRPr>
            </a:pPr>
            <a:r>
              <a:t>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330952"/>
            <a:ext cx="10570464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041156"/>
                </a:solidFill>
                <a:latin typeface="Arial"/>
              </a:defRPr>
            </a:pPr>
            <a:r>
              <a:t>O pré-treinamento amplia o orçamento de dados: resultados devem ser separados.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5961888"/>
            <a:ext cx="99212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C6577"/>
                </a:solidFill>
                <a:latin typeface="Arial"/>
              </a:defRPr>
            </a:pPr>
            <a:r>
              <a:t>Fonte: Peng et al. (2024), Tabela 1. Números da versão original do artigo.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D436EA92-4BA7-CB93-A954-16522D701CD0}"/>
              </a:ext>
            </a:extLst>
          </p:cNvPr>
          <p:cNvSpPr txBox="1">
            <a:spLocks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54000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39750"/>
            <a:r>
              <a:rPr lang="pt-BR" sz="3600" b="0"/>
              <a:t>Ablação: de RT-DETR a D-FINE</a:t>
            </a:r>
            <a:endParaRPr lang="pt-BR"/>
          </a:p>
        </p:txBody>
      </p:sp>
      <p:sp>
        <p:nvSpPr>
          <p:cNvPr id="15" name="TextBox 14"/>
          <p:cNvSpPr txBox="1"/>
          <p:nvPr/>
        </p:nvSpPr>
        <p:spPr>
          <a:xfrm>
            <a:off x="905256" y="2011680"/>
            <a:ext cx="504748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41156"/>
                </a:solidFill>
                <a:latin typeface="Arial"/>
              </a:defRPr>
            </a:pPr>
            <a:r>
              <a:t>Etapa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011680"/>
            <a:ext cx="129844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41156"/>
                </a:solidFill>
                <a:latin typeface="Arial"/>
              </a:defRPr>
            </a:pPr>
            <a:r>
              <a:t>AP COCO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2011680"/>
            <a:ext cx="1399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41156"/>
                </a:solidFill>
                <a:latin typeface="Arial"/>
              </a:defRPr>
            </a:pPr>
            <a:r>
              <a:t>GFLOPs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011680"/>
            <a:ext cx="161848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41156"/>
                </a:solidFill>
                <a:latin typeface="Arial"/>
              </a:defRPr>
            </a:pPr>
            <a:r>
              <a:t>Latência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41248" y="2468880"/>
            <a:ext cx="10451592" cy="0"/>
          </a:xfrm>
          <a:prstGeom prst="line">
            <a:avLst/>
          </a:prstGeom>
          <a:ln w="29209">
            <a:solidFill>
              <a:srgbClr val="005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05256" y="2642616"/>
            <a:ext cx="5047488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D2639"/>
                </a:solidFill>
                <a:latin typeface="Arial"/>
              </a:defRPr>
            </a:pPr>
            <a:r>
              <a:t>RT-DETR-HGNetv2-L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8776" y="2642616"/>
            <a:ext cx="1298448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D2639"/>
                </a:solidFill>
                <a:latin typeface="Arial"/>
              </a:defRPr>
            </a:pPr>
            <a:r>
              <a:t>53,0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5552" y="2642616"/>
            <a:ext cx="1399032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D2639"/>
                </a:solidFill>
                <a:latin typeface="Arial"/>
              </a:defRPr>
            </a:pPr>
            <a:r>
              <a:t>110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642616"/>
            <a:ext cx="1618488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D2639"/>
                </a:solidFill>
                <a:latin typeface="Arial"/>
              </a:defRPr>
            </a:pPr>
            <a:r>
              <a:t>9,25 ms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41248" y="3328416"/>
            <a:ext cx="10451592" cy="0"/>
          </a:xfrm>
          <a:prstGeom prst="line">
            <a:avLst/>
          </a:prstGeom>
          <a:ln w="8890">
            <a:solidFill>
              <a:srgbClr val="D6E1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05256" y="3419856"/>
            <a:ext cx="5047488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D2639"/>
                </a:solidFill>
                <a:latin typeface="Arial"/>
              </a:defRPr>
            </a:pPr>
            <a:r>
              <a:t>+ ajustes de eficiência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08776" y="3419856"/>
            <a:ext cx="1298448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D2639"/>
                </a:solidFill>
                <a:latin typeface="Arial"/>
              </a:defRPr>
            </a:pPr>
            <a:r>
              <a:t>53,0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45552" y="3419856"/>
            <a:ext cx="1399032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D2639"/>
                </a:solidFill>
                <a:latin typeface="Arial"/>
              </a:defRPr>
            </a:pPr>
            <a:r>
              <a:t>91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419856"/>
            <a:ext cx="1618488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D2639"/>
                </a:solidFill>
                <a:latin typeface="Arial"/>
              </a:defRPr>
            </a:pPr>
            <a:r>
              <a:t>7,90 ms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41248" y="4105656"/>
            <a:ext cx="10451592" cy="0"/>
          </a:xfrm>
          <a:prstGeom prst="line">
            <a:avLst/>
          </a:prstGeom>
          <a:ln w="8890">
            <a:solidFill>
              <a:srgbClr val="D6E1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05256" y="4197096"/>
            <a:ext cx="5047488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D2639"/>
                </a:solidFill>
                <a:latin typeface="Arial"/>
              </a:defRPr>
            </a:pPr>
            <a:r>
              <a:t>+ FDR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08776" y="4197096"/>
            <a:ext cx="1298448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D2639"/>
                </a:solidFill>
                <a:latin typeface="Arial"/>
              </a:defRPr>
            </a:pPr>
            <a:r>
              <a:t>53,5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45552" y="4197096"/>
            <a:ext cx="1399032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D2639"/>
                </a:solidFill>
                <a:latin typeface="Arial"/>
              </a:defRPr>
            </a:pPr>
            <a:r>
              <a:t>91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4197096"/>
            <a:ext cx="1618488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D2639"/>
                </a:solidFill>
                <a:latin typeface="Arial"/>
              </a:defRPr>
            </a:pPr>
            <a:r>
              <a:t>8,07 ms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" y="4882896"/>
            <a:ext cx="10451592" cy="0"/>
          </a:xfrm>
          <a:prstGeom prst="line">
            <a:avLst/>
          </a:prstGeom>
          <a:ln w="8890">
            <a:solidFill>
              <a:srgbClr val="D6E1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05256" y="4974336"/>
            <a:ext cx="5047488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41156"/>
                </a:solidFill>
                <a:latin typeface="Arial"/>
              </a:defRPr>
            </a:pPr>
            <a:r>
              <a:t>+ GO-LSD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8776" y="4974336"/>
            <a:ext cx="1298448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41156"/>
                </a:solidFill>
                <a:latin typeface="Arial"/>
              </a:defRPr>
            </a:pPr>
            <a:r>
              <a:t>54,0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45552" y="4974336"/>
            <a:ext cx="1399032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41156"/>
                </a:solidFill>
                <a:latin typeface="Arial"/>
              </a:defRPr>
            </a:pPr>
            <a:r>
              <a:t>91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4974336"/>
            <a:ext cx="1618488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41156"/>
                </a:solidFill>
                <a:latin typeface="Arial"/>
              </a:defRPr>
            </a:pPr>
            <a:r>
              <a:t>8,07 ms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41248" y="5660136"/>
            <a:ext cx="10451592" cy="0"/>
          </a:xfrm>
          <a:prstGeom prst="line">
            <a:avLst/>
          </a:prstGeom>
          <a:ln w="8890">
            <a:solidFill>
              <a:srgbClr val="D6E1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86968" y="5733288"/>
            <a:ext cx="10671048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41156"/>
                </a:solidFill>
                <a:latin typeface="Arial"/>
              </a:defRPr>
            </a:pPr>
            <a:r>
              <a:t>Arquitetura reduz custo. FDR e GO-LSD elevam AP sobre o baseline otimizado.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D436EA92-4BA7-CB93-A954-16522D701CD0}"/>
              </a:ext>
            </a:extLst>
          </p:cNvPr>
          <p:cNvSpPr txBox="1">
            <a:spLocks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54000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39750"/>
            <a:r>
              <a:rPr lang="pt-BR" sz="3600" b="0"/>
              <a:t>Ablação: destilação de localização</a:t>
            </a:r>
            <a:endParaRPr lang="pt-BR"/>
          </a:p>
        </p:txBody>
      </p:sp>
      <p:sp>
        <p:nvSpPr>
          <p:cNvPr id="15" name="TextBox 14"/>
          <p:cNvSpPr txBox="1"/>
          <p:nvPr/>
        </p:nvSpPr>
        <p:spPr>
          <a:xfrm>
            <a:off x="886968" y="1901952"/>
            <a:ext cx="3913631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41156"/>
                </a:solidFill>
                <a:latin typeface="Arial"/>
              </a:defRPr>
            </a:pPr>
            <a:r>
              <a:t>Método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3208" y="1901952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41156"/>
                </a:solidFill>
                <a:latin typeface="Arial"/>
              </a:defRPr>
            </a:pPr>
            <a:r>
              <a:t>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1901952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41156"/>
                </a:solidFill>
                <a:latin typeface="Arial"/>
              </a:defRPr>
            </a:pPr>
            <a:r>
              <a:t>Tempo/época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0264" y="190195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41156"/>
                </a:solidFill>
                <a:latin typeface="Arial"/>
              </a:defRPr>
            </a:pPr>
            <a:r>
              <a:t>Memória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2960" y="2359152"/>
            <a:ext cx="10415016" cy="0"/>
          </a:xfrm>
          <a:prstGeom prst="line">
            <a:avLst/>
          </a:prstGeom>
          <a:ln w="29209">
            <a:solidFill>
              <a:srgbClr val="005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86968" y="2532888"/>
            <a:ext cx="3913631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D2639"/>
                </a:solidFill>
                <a:latin typeface="Arial"/>
              </a:defRPr>
            </a:pPr>
            <a:r>
              <a:t>Baseline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208" y="2532888"/>
            <a:ext cx="1097280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D2639"/>
                </a:solidFill>
                <a:latin typeface="Arial"/>
              </a:defRPr>
            </a:pPr>
            <a:r>
              <a:t>53,0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532888"/>
            <a:ext cx="2057400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D2639"/>
                </a:solidFill>
                <a:latin typeface="Arial"/>
              </a:defRPr>
            </a:pPr>
            <a:r>
              <a:t>29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0264" y="2532888"/>
            <a:ext cx="2194560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D2639"/>
                </a:solidFill>
                <a:latin typeface="Arial"/>
              </a:defRPr>
            </a:pPr>
            <a:r>
              <a:t>8.552 MB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22960" y="3081528"/>
            <a:ext cx="10415016" cy="0"/>
          </a:xfrm>
          <a:prstGeom prst="line">
            <a:avLst/>
          </a:prstGeom>
          <a:ln w="8890">
            <a:solidFill>
              <a:srgbClr val="D6E1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86968" y="3172968"/>
            <a:ext cx="3913631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D2639"/>
                </a:solidFill>
                <a:latin typeface="Arial"/>
              </a:defRPr>
            </a:pPr>
            <a:r>
              <a:t>Logit Mimicking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93208" y="3172968"/>
            <a:ext cx="1097280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D2639"/>
                </a:solidFill>
                <a:latin typeface="Arial"/>
              </a:defRPr>
            </a:pPr>
            <a:r>
              <a:t>52,6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3172968"/>
            <a:ext cx="2057400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D2639"/>
                </a:solidFill>
                <a:latin typeface="Arial"/>
              </a:defRPr>
            </a:pPr>
            <a:r>
              <a:t>31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70264" y="3172968"/>
            <a:ext cx="2194560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D2639"/>
                </a:solidFill>
                <a:latin typeface="Arial"/>
              </a:defRPr>
            </a:pPr>
            <a:r>
              <a:t>8.554 MB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2960" y="3721608"/>
            <a:ext cx="10415016" cy="0"/>
          </a:xfrm>
          <a:prstGeom prst="line">
            <a:avLst/>
          </a:prstGeom>
          <a:ln w="8890">
            <a:solidFill>
              <a:srgbClr val="D6E1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86968" y="3813048"/>
            <a:ext cx="3913631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D2639"/>
                </a:solidFill>
                <a:latin typeface="Arial"/>
              </a:defRPr>
            </a:pPr>
            <a:r>
              <a:t>Feature Imitation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93208" y="3813048"/>
            <a:ext cx="1097280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D2639"/>
                </a:solidFill>
                <a:latin typeface="Arial"/>
              </a:defRPr>
            </a:pPr>
            <a:r>
              <a:t>52,9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1968" y="3813048"/>
            <a:ext cx="2057400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D2639"/>
                </a:solidFill>
                <a:latin typeface="Arial"/>
              </a:defRPr>
            </a:pPr>
            <a:r>
              <a:t>31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70264" y="3813048"/>
            <a:ext cx="2194560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D2639"/>
                </a:solidFill>
                <a:latin typeface="Arial"/>
              </a:defRPr>
            </a:pPr>
            <a:r>
              <a:t>8.554 MB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22960" y="4361688"/>
            <a:ext cx="10415016" cy="0"/>
          </a:xfrm>
          <a:prstGeom prst="line">
            <a:avLst/>
          </a:prstGeom>
          <a:ln w="8890">
            <a:solidFill>
              <a:srgbClr val="D6E1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86968" y="4453128"/>
            <a:ext cx="3913631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D2639"/>
                </a:solidFill>
                <a:latin typeface="Arial"/>
              </a:defRPr>
            </a:pPr>
            <a:r>
              <a:t>Baseline + FDR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93208" y="4453128"/>
            <a:ext cx="1097280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D2639"/>
                </a:solidFill>
                <a:latin typeface="Arial"/>
              </a:defRPr>
            </a:pPr>
            <a:r>
              <a:t>53,8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4453128"/>
            <a:ext cx="2057400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D2639"/>
                </a:solidFill>
                <a:latin typeface="Arial"/>
              </a:defRPr>
            </a:pPr>
            <a:r>
              <a:t>30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70264" y="4453128"/>
            <a:ext cx="2194560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D2639"/>
                </a:solidFill>
                <a:latin typeface="Arial"/>
              </a:defRPr>
            </a:pPr>
            <a:r>
              <a:t>8.730 MB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22960" y="5001768"/>
            <a:ext cx="10415016" cy="0"/>
          </a:xfrm>
          <a:prstGeom prst="line">
            <a:avLst/>
          </a:prstGeom>
          <a:ln w="8890">
            <a:solidFill>
              <a:srgbClr val="D6E1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86968" y="5093208"/>
            <a:ext cx="3913631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41156"/>
                </a:solidFill>
                <a:latin typeface="Arial"/>
              </a:defRPr>
            </a:pPr>
            <a:r>
              <a:t>GO-LSD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93208" y="5093208"/>
            <a:ext cx="1097280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41156"/>
                </a:solidFill>
                <a:latin typeface="Arial"/>
              </a:defRPr>
            </a:pPr>
            <a:r>
              <a:t>54,5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01968" y="5093208"/>
            <a:ext cx="2057400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41156"/>
                </a:solidFill>
                <a:latin typeface="Arial"/>
              </a:defRPr>
            </a:pPr>
            <a:r>
              <a:t>31 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70264" y="5093208"/>
            <a:ext cx="2194560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41156"/>
                </a:solidFill>
                <a:latin typeface="Arial"/>
              </a:defRPr>
            </a:pPr>
            <a:r>
              <a:t>8.734 MB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22960" y="5641848"/>
            <a:ext cx="10415016" cy="0"/>
          </a:xfrm>
          <a:prstGeom prst="line">
            <a:avLst/>
          </a:prstGeom>
          <a:ln w="8890">
            <a:solidFill>
              <a:srgbClr val="D6E1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96112" y="5742432"/>
            <a:ext cx="10543032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41156"/>
                </a:solidFill>
                <a:latin typeface="Arial"/>
              </a:defRPr>
            </a:pPr>
            <a:r>
              <a:t>Atenção: configuração de ablação sem otimizações leves; não é o D-FINE-L completo.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D436EA92-4BA7-CB93-A954-16522D701CD0}"/>
              </a:ext>
            </a:extLst>
          </p:cNvPr>
          <p:cNvSpPr txBox="1">
            <a:spLocks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54000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39750"/>
            <a:r>
              <a:rPr lang="pt-BR" sz="3600" b="0"/>
              <a:t>Transferência para outros modelos DETR</a:t>
            </a:r>
            <a:endParaRPr lang="pt-BR"/>
          </a:p>
        </p:txBody>
      </p:sp>
      <p:sp>
        <p:nvSpPr>
          <p:cNvPr id="15" name="TextBox 14"/>
          <p:cNvSpPr txBox="1"/>
          <p:nvPr/>
        </p:nvSpPr>
        <p:spPr>
          <a:xfrm>
            <a:off x="896112" y="1975104"/>
            <a:ext cx="4041648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D2639"/>
                </a:solidFill>
                <a:latin typeface="Arial"/>
              </a:defRPr>
            </a:pPr>
            <a:r>
              <a:t>Deformable DETR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56632" y="2002536"/>
            <a:ext cx="3233318" cy="256032"/>
          </a:xfrm>
          <a:prstGeom prst="rect">
            <a:avLst/>
          </a:prstGeom>
          <a:solidFill>
            <a:srgbClr val="005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4542" y="1965960"/>
            <a:ext cx="1444752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41156"/>
                </a:solidFill>
                <a:latin typeface="Arial"/>
              </a:defRPr>
            </a:pPr>
            <a:r>
              <a:t>+3.4 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2660904"/>
            <a:ext cx="4041648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D2639"/>
                </a:solidFill>
                <a:latin typeface="Arial"/>
              </a:defRPr>
            </a:pPr>
            <a:r>
              <a:t>DAB-DETR (12 épocas)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56632" y="2688336"/>
            <a:ext cx="5040172" cy="256032"/>
          </a:xfrm>
          <a:prstGeom prst="rect">
            <a:avLst/>
          </a:prstGeom>
          <a:solidFill>
            <a:srgbClr val="005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61396" y="2651760"/>
            <a:ext cx="1444752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41156"/>
                </a:solidFill>
                <a:latin typeface="Arial"/>
              </a:defRPr>
            </a:pPr>
            <a:r>
              <a:t>+5.3 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346704"/>
            <a:ext cx="4041648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D2639"/>
                </a:solidFill>
                <a:latin typeface="Arial"/>
              </a:defRPr>
            </a:pPr>
            <a:r>
              <a:t>DN-DETR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56632" y="3374136"/>
            <a:ext cx="3518611" cy="256032"/>
          </a:xfrm>
          <a:prstGeom prst="rect">
            <a:avLst/>
          </a:prstGeom>
          <a:solidFill>
            <a:srgbClr val="005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39835" y="3337560"/>
            <a:ext cx="1444752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41156"/>
                </a:solidFill>
                <a:latin typeface="Arial"/>
              </a:defRPr>
            </a:pPr>
            <a:r>
              <a:t>+3.7 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032504"/>
            <a:ext cx="4041648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D2639"/>
                </a:solidFill>
                <a:latin typeface="Arial"/>
              </a:defRPr>
            </a:pPr>
            <a:r>
              <a:t>DINO (12 épocas)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56632" y="4059936"/>
            <a:ext cx="2472537" cy="256032"/>
          </a:xfrm>
          <a:prstGeom prst="rect">
            <a:avLst/>
          </a:prstGeom>
          <a:solidFill>
            <a:srgbClr val="005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93761" y="4023360"/>
            <a:ext cx="1444752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41156"/>
                </a:solidFill>
                <a:latin typeface="Arial"/>
              </a:defRPr>
            </a:pPr>
            <a:r>
              <a:t>+2.6 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4718304"/>
            <a:ext cx="4041648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D2639"/>
                </a:solidFill>
                <a:latin typeface="Arial"/>
              </a:defRPr>
            </a:pPr>
            <a:r>
              <a:t>DINO (24 épocas)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56632" y="4745736"/>
            <a:ext cx="1901952" cy="256032"/>
          </a:xfrm>
          <a:prstGeom prst="rect">
            <a:avLst/>
          </a:prstGeom>
          <a:solidFill>
            <a:srgbClr val="005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23176" y="4709160"/>
            <a:ext cx="1444752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41156"/>
                </a:solidFill>
                <a:latin typeface="Arial"/>
              </a:defRPr>
            </a:pPr>
            <a:r>
              <a:t>+2.0 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5614416"/>
            <a:ext cx="103327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41156"/>
                </a:solidFill>
                <a:latin typeface="Arial"/>
              </a:defRPr>
            </a:pPr>
            <a:r>
              <a:t>Ganho de AP observado com FDR + GO-LSD nas configurações estudadas.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D436EA92-4BA7-CB93-A954-16522D701CD0}"/>
              </a:ext>
            </a:extLst>
          </p:cNvPr>
          <p:cNvSpPr txBox="1">
            <a:spLocks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54000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39750"/>
            <a:r>
              <a:rPr lang="pt-BR" sz="3600" b="0"/>
              <a:t>Visualização dos refinamentos</a:t>
            </a:r>
            <a:endParaRPr lang="pt-BR"/>
          </a:p>
        </p:txBody>
      </p:sp>
      <p:pic>
        <p:nvPicPr>
          <p:cNvPr id="15" name="Picture 14" descr="visual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361" y="1810512"/>
            <a:ext cx="9955924" cy="3429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59536" y="5358384"/>
            <a:ext cx="1060704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041156"/>
                </a:solidFill>
                <a:latin typeface="Arial"/>
              </a:defRPr>
            </a:pPr>
            <a:r>
              <a:t>Vermelho: caixa inicial   |   Verde: caixa após o refinamento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5961888"/>
            <a:ext cx="99212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C6577"/>
                </a:solidFill>
                <a:latin typeface="Arial"/>
              </a:defRPr>
            </a:pPr>
            <a:r>
              <a:t>Fonte: Peng et al. (2024), Figura 4, p. 10 (três exemplos qualitativos).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Exemplos qualitativos do D-FINE-X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08760"/>
            <a:ext cx="7498079" cy="49691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164592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376E"/>
                </a:solidFill>
              </a:defRPr>
            </a:pPr>
            <a:r>
              <a:t>O que observar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Robustez em oclusão e cenas densas.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Comportamento sob baixa iluminação e motion blur.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Diversidade de categorias e situações reais.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D436EA92-4BA7-CB93-A954-16522D701CD0}"/>
              </a:ext>
            </a:extLst>
          </p:cNvPr>
          <p:cNvSpPr txBox="1">
            <a:spLocks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54000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39750"/>
            <a:r>
              <a:rPr lang="pt-BR" sz="3600" b="0"/>
              <a:t>Limitações e leitura crítica</a:t>
            </a:r>
            <a:endParaRPr lang="pt-BR"/>
          </a:p>
        </p:txBody>
      </p:sp>
      <p:sp>
        <p:nvSpPr>
          <p:cNvPr id="15" name="Oval 14"/>
          <p:cNvSpPr/>
          <p:nvPr/>
        </p:nvSpPr>
        <p:spPr>
          <a:xfrm>
            <a:off x="896112" y="2011680"/>
            <a:ext cx="96012" cy="96012"/>
          </a:xfrm>
          <a:prstGeom prst="ellipse">
            <a:avLst/>
          </a:prstGeom>
          <a:solidFill>
            <a:srgbClr val="005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97864" y="1883664"/>
            <a:ext cx="10104119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D2639"/>
                </a:solidFill>
                <a:latin typeface="Arial"/>
              </a:defRPr>
            </a:pPr>
            <a:r>
              <a:t>Avaliação quantitativa concentrada no conjunto COCO val2017.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2752344"/>
            <a:ext cx="96012" cy="96012"/>
          </a:xfrm>
          <a:prstGeom prst="ellipse">
            <a:avLst/>
          </a:prstGeom>
          <a:solidFill>
            <a:srgbClr val="005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97864" y="2624328"/>
            <a:ext cx="10104119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D2639"/>
                </a:solidFill>
                <a:latin typeface="Arial"/>
              </a:defRPr>
            </a:pPr>
            <a:r>
              <a:t>Latência reportada para TensorRT FP16 na GPU NVIDIA T4.</a:t>
            </a:r>
          </a:p>
        </p:txBody>
      </p:sp>
      <p:sp>
        <p:nvSpPr>
          <p:cNvPr id="19" name="Oval 18"/>
          <p:cNvSpPr/>
          <p:nvPr/>
        </p:nvSpPr>
        <p:spPr>
          <a:xfrm>
            <a:off x="896112" y="3493008"/>
            <a:ext cx="96012" cy="96012"/>
          </a:xfrm>
          <a:prstGeom prst="ellipse">
            <a:avLst/>
          </a:prstGeom>
          <a:solidFill>
            <a:srgbClr val="005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97864" y="3364992"/>
            <a:ext cx="10104119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D2639"/>
                </a:solidFill>
                <a:latin typeface="Arial"/>
              </a:defRPr>
            </a:pPr>
            <a:r>
              <a:t>Objects365 aumenta o orçamento de pré-treinamento.</a:t>
            </a:r>
          </a:p>
        </p:txBody>
      </p:sp>
      <p:sp>
        <p:nvSpPr>
          <p:cNvPr id="21" name="Oval 20"/>
          <p:cNvSpPr/>
          <p:nvPr/>
        </p:nvSpPr>
        <p:spPr>
          <a:xfrm>
            <a:off x="896112" y="4233672"/>
            <a:ext cx="96012" cy="96012"/>
          </a:xfrm>
          <a:prstGeom prst="ellipse">
            <a:avLst/>
          </a:prstGeom>
          <a:solidFill>
            <a:srgbClr val="005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97864" y="4105656"/>
            <a:ext cx="10104119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D2639"/>
                </a:solidFill>
                <a:latin typeface="Arial"/>
              </a:defRPr>
            </a:pPr>
            <a:r>
              <a:t>Não há avaliação abrangente da calibração de incerteza das caixas.</a:t>
            </a:r>
          </a:p>
        </p:txBody>
      </p:sp>
      <p:sp>
        <p:nvSpPr>
          <p:cNvPr id="23" name="Oval 22"/>
          <p:cNvSpPr/>
          <p:nvPr/>
        </p:nvSpPr>
        <p:spPr>
          <a:xfrm>
            <a:off x="896112" y="4974336"/>
            <a:ext cx="96012" cy="96012"/>
          </a:xfrm>
          <a:prstGeom prst="ellipse">
            <a:avLst/>
          </a:prstGeom>
          <a:solidFill>
            <a:srgbClr val="005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97864" y="4846320"/>
            <a:ext cx="10104119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D2639"/>
                </a:solidFill>
                <a:latin typeface="Arial"/>
              </a:defRPr>
            </a:pPr>
            <a:r>
              <a:t>Resultados do sistema combinam método e otimizações arquiteturais.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D436EA92-4BA7-CB93-A954-16522D701CD0}"/>
              </a:ext>
            </a:extLst>
          </p:cNvPr>
          <p:cNvSpPr txBox="1">
            <a:spLocks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54000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39750"/>
            <a:r>
              <a:rPr lang="pt-BR" sz="3600" b="0"/>
              <a:t>Conclusões</a:t>
            </a:r>
            <a:endParaRPr lang="pt-BR"/>
          </a:p>
        </p:txBody>
      </p:sp>
      <p:sp>
        <p:nvSpPr>
          <p:cNvPr id="15" name="Oval 14"/>
          <p:cNvSpPr/>
          <p:nvPr/>
        </p:nvSpPr>
        <p:spPr>
          <a:xfrm>
            <a:off x="896112" y="2048256"/>
            <a:ext cx="96012" cy="96012"/>
          </a:xfrm>
          <a:prstGeom prst="ellipse">
            <a:avLst/>
          </a:prstGeom>
          <a:solidFill>
            <a:srgbClr val="005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97864" y="1920240"/>
            <a:ext cx="10104119" cy="8229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0" i="0">
                <a:solidFill>
                  <a:srgbClr val="1D2639"/>
                </a:solidFill>
                <a:latin typeface="Arial"/>
              </a:defRPr>
            </a:pPr>
            <a:r>
              <a:t>A regressão é reformulada como refinamento progressivo de distribuições.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2907792"/>
            <a:ext cx="96012" cy="96012"/>
          </a:xfrm>
          <a:prstGeom prst="ellipse">
            <a:avLst/>
          </a:prstGeom>
          <a:solidFill>
            <a:srgbClr val="005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97864" y="2779776"/>
            <a:ext cx="10104119" cy="8229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0" i="0">
                <a:solidFill>
                  <a:srgbClr val="1D2639"/>
                </a:solidFill>
                <a:latin typeface="Arial"/>
              </a:defRPr>
            </a:pPr>
            <a:r>
              <a:t>FDR oferece sinais mais granulares para ajustar as quatro bordas.</a:t>
            </a:r>
          </a:p>
        </p:txBody>
      </p:sp>
      <p:sp>
        <p:nvSpPr>
          <p:cNvPr id="19" name="Oval 18"/>
          <p:cNvSpPr/>
          <p:nvPr/>
        </p:nvSpPr>
        <p:spPr>
          <a:xfrm>
            <a:off x="896112" y="3767328"/>
            <a:ext cx="96012" cy="96012"/>
          </a:xfrm>
          <a:prstGeom prst="ellipse">
            <a:avLst/>
          </a:prstGeom>
          <a:solidFill>
            <a:srgbClr val="005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97864" y="3639312"/>
            <a:ext cx="10104119" cy="8229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0" i="0">
                <a:solidFill>
                  <a:srgbClr val="1D2639"/>
                </a:solidFill>
                <a:latin typeface="Arial"/>
              </a:defRPr>
            </a:pPr>
            <a:r>
              <a:t>GO-LSD melhora as camadas rasas usando a camada final como professora.</a:t>
            </a:r>
          </a:p>
        </p:txBody>
      </p:sp>
      <p:sp>
        <p:nvSpPr>
          <p:cNvPr id="21" name="Oval 20"/>
          <p:cNvSpPr/>
          <p:nvPr/>
        </p:nvSpPr>
        <p:spPr>
          <a:xfrm>
            <a:off x="896112" y="4626864"/>
            <a:ext cx="96012" cy="96012"/>
          </a:xfrm>
          <a:prstGeom prst="ellipse">
            <a:avLst/>
          </a:prstGeom>
          <a:solidFill>
            <a:srgbClr val="005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97864" y="4498848"/>
            <a:ext cx="10104119" cy="8229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0" i="0">
                <a:solidFill>
                  <a:srgbClr val="1D2639"/>
                </a:solidFill>
                <a:latin typeface="Arial"/>
              </a:defRPr>
            </a:pPr>
            <a:r>
              <a:t>D-FINE-L: 54,0 AP e 8,07 ms no protocolo de avaliação do artigo.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" y="5678424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41156"/>
                </a:solidFill>
                <a:latin typeface="Arial"/>
              </a:defRPr>
            </a:pPr>
            <a:r>
              <a:t>Mensagem-chave: melhor representação + supervisão da localização.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3">
            <a:extLst>
              <a:ext uri="{FF2B5EF4-FFF2-40B4-BE49-F238E27FC236}">
                <a16:creationId xmlns:a16="http://schemas.microsoft.com/office/drawing/2014/main" id="{D436EA92-4BA7-CB93-A954-16522D701CD0}"/>
              </a:ext>
            </a:extLst>
          </p:cNvPr>
          <p:cNvSpPr txBox="1">
            <a:spLocks/>
          </p:cNvSpPr>
          <p:nvPr/>
        </p:nvSpPr>
        <p:spPr>
          <a:xfrm>
            <a:off x="0" y="781"/>
            <a:ext cx="11423004" cy="21171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54000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baseline="0">
                <a:solidFill>
                  <a:srgbClr val="00095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39750"/>
            <a:r>
              <a:rPr lang="pt-BR" sz="3600" b="0"/>
              <a:t>Referências</a:t>
            </a:r>
            <a:endParaRPr lang="pt-BR"/>
          </a:p>
        </p:txBody>
      </p:sp>
      <p:sp>
        <p:nvSpPr>
          <p:cNvPr id="15" name="TextBox 14"/>
          <p:cNvSpPr txBox="1"/>
          <p:nvPr/>
        </p:nvSpPr>
        <p:spPr>
          <a:xfrm>
            <a:off x="896112" y="1938528"/>
            <a:ext cx="10469880" cy="1014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0" i="0">
                <a:solidFill>
                  <a:srgbClr val="1D2639"/>
                </a:solidFill>
                <a:latin typeface="Arial"/>
              </a:defRPr>
            </a:pPr>
            <a:r>
              <a:t>PENG, Y. et al. D-FINE: Redefine Regression Task in DETRs as Fine-grained Distribution Refinement. arXiv:2410.13842, 2024. ICLR 2025 Spotlight.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05256" y="3099816"/>
            <a:ext cx="10177272" cy="0"/>
          </a:xfrm>
          <a:prstGeom prst="line">
            <a:avLst/>
          </a:prstGeom>
          <a:ln w="12700">
            <a:solidFill>
              <a:srgbClr val="D6E1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96112" y="3401568"/>
            <a:ext cx="1046988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0" i="0">
                <a:solidFill>
                  <a:srgbClr val="041156"/>
                </a:solidFill>
                <a:latin typeface="Arial"/>
              </a:defRPr>
            </a:pPr>
            <a:r>
              <a:t>Artigo: https://arxiv.org/abs/2410.13842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995928"/>
            <a:ext cx="1046988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 b="0" i="0">
                <a:solidFill>
                  <a:srgbClr val="041156"/>
                </a:solidFill>
                <a:latin typeface="Arial"/>
              </a:defRPr>
            </a:pPr>
            <a:r>
              <a:t>Código: https://github.com/Peterande/D-FINE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983480"/>
            <a:ext cx="10625328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D2639"/>
                </a:solidFill>
                <a:latin typeface="Arial"/>
              </a:defRPr>
            </a:pPr>
            <a:r>
              <a:t>Todas as figuras e os resultados apresentados são atribuídos à obra original.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Seminário de Mestrado · D-FINE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2240280"/>
            <a:ext cx="7223760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900" b="1" i="0">
                <a:solidFill>
                  <a:srgbClr val="FFFFFF"/>
                </a:solidFill>
                <a:latin typeface="Arial"/>
              </a:defRPr>
            </a:pPr>
            <a:r>
              <a:t>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3182112"/>
            <a:ext cx="6336792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600" b="0" i="0">
                <a:solidFill>
                  <a:srgbClr val="FFFFFF"/>
                </a:solidFill>
                <a:latin typeface="Arial"/>
              </a:defRPr>
            </a:pPr>
            <a:r>
              <a:t>Perguntas?</a:t>
            </a:r>
          </a:p>
        </p:txBody>
      </p:sp>
    </p:spTree>
    <p:extLst>
      <p:ext uri="{BB962C8B-B14F-4D97-AF65-F5344CB8AC3E}">
        <p14:creationId xmlns:p14="http://schemas.microsoft.com/office/powerpoint/2010/main" val="283815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177F71-0AEA-E5DE-EFF9-B05436A84DA1}"/>
              </a:ext>
            </a:extLst>
          </p:cNvPr>
          <p:cNvSpPr txBox="1"/>
          <p:nvPr/>
        </p:nvSpPr>
        <p:spPr>
          <a:xfrm>
            <a:off x="1859126" y="4353038"/>
            <a:ext cx="4240648" cy="701731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https://forms.gle/12QtepQPTXS1Pej17</a:t>
            </a:r>
          </a:p>
          <a:p>
            <a:pPr algn="ctr">
              <a:lnSpc>
                <a:spcPct val="90000"/>
              </a:lnSpc>
            </a:pPr>
            <a:endParaRPr lang="en-US" sz="2400" dirty="0" err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E95FFF-7182-1457-5FBB-7FFAA93A37E6}"/>
              </a:ext>
            </a:extLst>
          </p:cNvPr>
          <p:cNvSpPr txBox="1"/>
          <p:nvPr/>
        </p:nvSpPr>
        <p:spPr>
          <a:xfrm>
            <a:off x="7120625" y="4076455"/>
            <a:ext cx="3642360" cy="1255728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https://github.com/Mestrado-Alvaro-Ribeiro/alvaro-ribeiro-985-tp558/tree/main/seminar4</a:t>
            </a:r>
          </a:p>
          <a:p>
            <a:pPr algn="ctr">
              <a:lnSpc>
                <a:spcPct val="90000"/>
              </a:lnSpc>
            </a:pPr>
            <a:endParaRPr lang="en-US" sz="2400" dirty="0" err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1E4D71-FE97-7DF9-9DEC-F9796B9AF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324" y="1239516"/>
            <a:ext cx="2952128" cy="29206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25DF51-10D5-5255-1A81-709843068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626" y="1313769"/>
            <a:ext cx="2778474" cy="277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183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inha do tempo&#10;&#10;O conteúdo gerado por IA pode estar incorreto.">
            <a:extLst>
              <a:ext uri="{FF2B5EF4-FFF2-40B4-BE49-F238E27FC236}">
                <a16:creationId xmlns:a16="http://schemas.microsoft.com/office/drawing/2014/main" id="{11DEF53A-92C9-B185-B069-63DF71B2A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593" y="187623"/>
            <a:ext cx="11708812" cy="653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094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0D5E8-5CA9-F932-C8AA-218F87FFC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Diagrama&#10;&#10;O conteúdo gerado por IA pode estar incorreto.">
            <a:extLst>
              <a:ext uri="{FF2B5EF4-FFF2-40B4-BE49-F238E27FC236}">
                <a16:creationId xmlns:a16="http://schemas.microsoft.com/office/drawing/2014/main" id="{83E65806-F848-C8C5-876E-B97AF7237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92" y="143807"/>
            <a:ext cx="11779652" cy="657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52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presentação de relatório mundial de país">
  <a:themeElements>
    <a:clrScheme name="Personalizada 8">
      <a:dk1>
        <a:sysClr val="windowText" lastClr="000000"/>
      </a:dk1>
      <a:lt1>
        <a:sysClr val="window" lastClr="FFFFFF"/>
      </a:lt1>
      <a:dk2>
        <a:srgbClr val="002459"/>
      </a:dk2>
      <a:lt2>
        <a:srgbClr val="DBEFF9"/>
      </a:lt2>
      <a:accent1>
        <a:srgbClr val="0053D7"/>
      </a:accent1>
      <a:accent2>
        <a:srgbClr val="FF00E2"/>
      </a:accent2>
      <a:accent3>
        <a:srgbClr val="9DFF00"/>
      </a:accent3>
      <a:accent4>
        <a:srgbClr val="FF2900"/>
      </a:accent4>
      <a:accent5>
        <a:srgbClr val="00B0F0"/>
      </a:accent5>
      <a:accent6>
        <a:srgbClr val="BE32DA"/>
      </a:accent6>
      <a:hlink>
        <a:srgbClr val="FE811A"/>
      </a:hlink>
      <a:folHlink>
        <a:srgbClr val="10CF9B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sz="2400"/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  <a:lnDef>
      <a:spPr>
        <a:ln/>
      </a:spPr>
      <a:bodyPr/>
      <a:lstStyle/>
      <a:style>
        <a:lnRef idx="3">
          <a:schemeClr val="accent1"/>
        </a:lnRef>
        <a:fillRef idx="0">
          <a:schemeClr val="accent1"/>
        </a:fillRef>
        <a:effectRef idx="2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none" rtlCol="0">
        <a:spAutoFit/>
      </a:bodyPr>
      <a:lstStyle>
        <a:defPPr>
          <a:lnSpc>
            <a:spcPct val="90000"/>
          </a:lnSpc>
          <a:defRPr sz="2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16308877_TF03460629" id="{77A25CC9-953C-4BFA-9BCE-9DD001878FBD}" vid="{EDE676E1-F100-42D7-96C5-D51C901EC0D4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de relatório de países do mundo</Template>
  <Application>Microsoft Office PowerPoint</Application>
  <PresentationFormat>Custom</PresentationFormat>
  <Slides>33</Slides>
  <Notes>30</Notes>
  <HiddenSlides>2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Apresentação de relatório mundial de país</vt:lpstr>
      <vt:lpstr>PowerPoint Presentation</vt:lpstr>
      <vt:lpstr>D-FINE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Comparação visual do artigo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Exemplos qualitativos do D-FINE-X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Nome do seu país</dc:title>
  <dc:creator>Isis Brandão Pereira</dc:creator>
  <cp:revision>89</cp:revision>
  <dcterms:created xsi:type="dcterms:W3CDTF">2024-08-05T17:40:51Z</dcterms:created>
  <dcterms:modified xsi:type="dcterms:W3CDTF">2026-10-12T21:48:57Z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74068500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