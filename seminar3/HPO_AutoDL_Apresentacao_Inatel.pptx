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12188825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0" dt="2026-09-21T12:34:45.760"/>
    <p1510:client id="{6B3898BB-5A23-482F-4C5A-5859426BA07D}" v="12" dt="2026-09-21T14:24:21.707"/>
    <p1510:client id="{97869BF6-A094-A496-B9B2-EB5B7EF18AF0}" v="29" dt="2026-09-21T22:10:54.398"/>
    <p1510:client id="{C639F3EB-B032-5E43-3829-4E75908F19A1}" v="20" dt="2026-09-21T13:13:51.091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lvaro Lúcio Almeida Ribeiro" userId="S::ribeiro.alvaro@inatel.br::7df6deca-1dfa-4007-b18d-c907498a89f3" providerId="AD" clId="Web-{97869BF6-A094-A496-B9B2-EB5B7EF18AF0}"/>
    <pc:docChg chg="addSld modSld">
      <pc:chgData name="Álvaro Lúcio Almeida Ribeiro" userId="S::ribeiro.alvaro@inatel.br::7df6deca-1dfa-4007-b18d-c907498a89f3" providerId="AD" clId="Web-{97869BF6-A094-A496-B9B2-EB5B7EF18AF0}" dt="2026-09-21T22:10:54.398" v="105" actId="1076"/>
      <pc:docMkLst>
        <pc:docMk/>
      </pc:docMkLst>
      <pc:sldChg chg="modNotes">
        <pc:chgData name="Álvaro Lúcio Almeida Ribeiro" userId="S::ribeiro.alvaro@inatel.br::7df6deca-1dfa-4007-b18d-c907498a89f3" providerId="AD" clId="Web-{97869BF6-A094-A496-B9B2-EB5B7EF18AF0}" dt="2026-09-21T21:45:18.009" v="28"/>
        <pc:sldMkLst>
          <pc:docMk/>
          <pc:sldMk cId="3691931451" sldId="256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45:26.259" v="31"/>
        <pc:sldMkLst>
          <pc:docMk/>
          <pc:sldMk cId="288708291" sldId="257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46:29.727" v="33"/>
        <pc:sldMkLst>
          <pc:docMk/>
          <pc:sldMk cId="2558564212" sldId="258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47:50.993" v="36"/>
        <pc:sldMkLst>
          <pc:docMk/>
          <pc:sldMk cId="1271481010" sldId="259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48:02.008" v="38"/>
        <pc:sldMkLst>
          <pc:docMk/>
          <pc:sldMk cId="2940901777" sldId="260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48:14.274" v="40"/>
        <pc:sldMkLst>
          <pc:docMk/>
          <pc:sldMk cId="3943068733" sldId="261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49:40.446" v="42"/>
        <pc:sldMkLst>
          <pc:docMk/>
          <pc:sldMk cId="723740976" sldId="262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49:48.852" v="45"/>
        <pc:sldMkLst>
          <pc:docMk/>
          <pc:sldMk cId="213664167" sldId="263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0:14.571" v="48"/>
        <pc:sldMkLst>
          <pc:docMk/>
          <pc:sldMk cId="706673690" sldId="264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0:19.305" v="50"/>
        <pc:sldMkLst>
          <pc:docMk/>
          <pc:sldMk cId="1339880914" sldId="265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0:35.477" v="53"/>
        <pc:sldMkLst>
          <pc:docMk/>
          <pc:sldMk cId="2099345200" sldId="266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0:47.696" v="56"/>
        <pc:sldMkLst>
          <pc:docMk/>
          <pc:sldMk cId="1220952819" sldId="267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1:07.805" v="60"/>
        <pc:sldMkLst>
          <pc:docMk/>
          <pc:sldMk cId="876829442" sldId="268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1:12.414" v="64"/>
        <pc:sldMkLst>
          <pc:docMk/>
          <pc:sldMk cId="799960997" sldId="269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1:21.118" v="66"/>
        <pc:sldMkLst>
          <pc:docMk/>
          <pc:sldMk cId="1548721806" sldId="270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1:34.789" v="69"/>
        <pc:sldMkLst>
          <pc:docMk/>
          <pc:sldMk cId="1141843823" sldId="271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3:37.742" v="72"/>
        <pc:sldMkLst>
          <pc:docMk/>
          <pc:sldMk cId="90262842" sldId="272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3:57.742" v="76"/>
        <pc:sldMkLst>
          <pc:docMk/>
          <pc:sldMk cId="973573366" sldId="273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4:13.055" v="79"/>
        <pc:sldMkLst>
          <pc:docMk/>
          <pc:sldMk cId="406392142" sldId="274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4:17.836" v="82"/>
        <pc:sldMkLst>
          <pc:docMk/>
          <pc:sldMk cId="377457768" sldId="275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4:26.946" v="86"/>
        <pc:sldMkLst>
          <pc:docMk/>
          <pc:sldMk cId="799348803" sldId="276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4:37.649" v="89"/>
        <pc:sldMkLst>
          <pc:docMk/>
          <pc:sldMk cId="920765825" sldId="277"/>
        </pc:sldMkLst>
      </pc:sldChg>
      <pc:sldChg chg="modNotes">
        <pc:chgData name="Álvaro Lúcio Almeida Ribeiro" userId="S::ribeiro.alvaro@inatel.br::7df6deca-1dfa-4007-b18d-c907498a89f3" providerId="AD" clId="Web-{97869BF6-A094-A496-B9B2-EB5B7EF18AF0}" dt="2026-09-21T21:54:50.852" v="91"/>
        <pc:sldMkLst>
          <pc:docMk/>
          <pc:sldMk cId="283815630" sldId="278"/>
        </pc:sldMkLst>
      </pc:sldChg>
      <pc:sldChg chg="addSp modSp">
        <pc:chgData name="Álvaro Lúcio Almeida Ribeiro" userId="S::ribeiro.alvaro@inatel.br::7df6deca-1dfa-4007-b18d-c907498a89f3" providerId="AD" clId="Web-{97869BF6-A094-A496-B9B2-EB5B7EF18AF0}" dt="2026-09-21T22:10:54.398" v="105" actId="1076"/>
        <pc:sldMkLst>
          <pc:docMk/>
          <pc:sldMk cId="797382081" sldId="279"/>
        </pc:sldMkLst>
        <pc:spChg chg="add mod">
          <ac:chgData name="Álvaro Lúcio Almeida Ribeiro" userId="S::ribeiro.alvaro@inatel.br::7df6deca-1dfa-4007-b18d-c907498a89f3" providerId="AD" clId="Web-{97869BF6-A094-A496-B9B2-EB5B7EF18AF0}" dt="2026-09-21T22:05:54.992" v="97" actId="1076"/>
          <ac:spMkLst>
            <pc:docMk/>
            <pc:sldMk cId="797382081" sldId="279"/>
            <ac:spMk id="2" creationId="{720E5C68-AD4A-2E71-318E-7751D66BA646}"/>
          </ac:spMkLst>
        </pc:spChg>
        <pc:picChg chg="add mod">
          <ac:chgData name="Álvaro Lúcio Almeida Ribeiro" userId="S::ribeiro.alvaro@inatel.br::7df6deca-1dfa-4007-b18d-c907498a89f3" providerId="AD" clId="Web-{97869BF6-A094-A496-B9B2-EB5B7EF18AF0}" dt="2026-09-21T22:10:54.398" v="105" actId="1076"/>
          <ac:picMkLst>
            <pc:docMk/>
            <pc:sldMk cId="797382081" sldId="279"/>
            <ac:picMk id="5" creationId="{55EC0CB1-50F5-58FF-6B96-40623E2FF45F}"/>
          </ac:picMkLst>
        </pc:picChg>
      </pc:sldChg>
      <pc:sldChg chg="addSp modSp new">
        <pc:chgData name="Álvaro Lúcio Almeida Ribeiro" userId="S::ribeiro.alvaro@inatel.br::7df6deca-1dfa-4007-b18d-c907498a89f3" providerId="AD" clId="Web-{97869BF6-A094-A496-B9B2-EB5B7EF18AF0}" dt="2026-09-21T22:09:01.992" v="98"/>
        <pc:sldMkLst>
          <pc:docMk/>
          <pc:sldMk cId="4126335383" sldId="280"/>
        </pc:sldMkLst>
        <pc:picChg chg="add mod">
          <ac:chgData name="Álvaro Lúcio Almeida Ribeiro" userId="S::ribeiro.alvaro@inatel.br::7df6deca-1dfa-4007-b18d-c907498a89f3" providerId="AD" clId="Web-{97869BF6-A094-A496-B9B2-EB5B7EF18AF0}" dt="2026-09-21T22:09:01.992" v="98"/>
          <ac:picMkLst>
            <pc:docMk/>
            <pc:sldMk cId="4126335383" sldId="280"/>
            <ac:picMk id="2" creationId="{135D3403-DDA8-E152-858C-742FCF4022EA}"/>
          </ac:picMkLst>
        </pc:picChg>
      </pc:sldChg>
      <pc:sldChg chg="addSp modSp new">
        <pc:chgData name="Álvaro Lúcio Almeida Ribeiro" userId="S::ribeiro.alvaro@inatel.br::7df6deca-1dfa-4007-b18d-c907498a89f3" providerId="AD" clId="Web-{97869BF6-A094-A496-B9B2-EB5B7EF18AF0}" dt="2026-09-21T22:09:21.148" v="102" actId="1076"/>
        <pc:sldMkLst>
          <pc:docMk/>
          <pc:sldMk cId="3241999637" sldId="281"/>
        </pc:sldMkLst>
        <pc:picChg chg="add mod">
          <ac:chgData name="Álvaro Lúcio Almeida Ribeiro" userId="S::ribeiro.alvaro@inatel.br::7df6deca-1dfa-4007-b18d-c907498a89f3" providerId="AD" clId="Web-{97869BF6-A094-A496-B9B2-EB5B7EF18AF0}" dt="2026-09-21T22:09:21.148" v="102" actId="1076"/>
          <ac:picMkLst>
            <pc:docMk/>
            <pc:sldMk cId="3241999637" sldId="281"/>
            <ac:picMk id="2" creationId="{84947F5C-9872-CB3F-A676-81CAC83553C5}"/>
          </ac:picMkLst>
        </pc:picChg>
      </pc:sldChg>
    </pc:docChg>
  </pc:docChgLst>
  <pc:docChgLst>
    <pc:chgData name="Álvaro Lúcio Almeida Ribeiro" userId="S::ribeiro.alvaro@inatel.br::7df6deca-1dfa-4007-b18d-c907498a89f3" providerId="AD" clId="Web-{6B3898BB-5A23-482F-4C5A-5859426BA07D}"/>
    <pc:docChg chg="addSld delSld modSld">
      <pc:chgData name="Álvaro Lúcio Almeida Ribeiro" userId="S::ribeiro.alvaro@inatel.br::7df6deca-1dfa-4007-b18d-c907498a89f3" providerId="AD" clId="Web-{6B3898BB-5A23-482F-4C5A-5859426BA07D}" dt="2026-09-21T14:24:21.707" v="11" actId="1076"/>
      <pc:docMkLst>
        <pc:docMk/>
      </pc:docMkLst>
      <pc:sldChg chg="addSp delSp modSp add del">
        <pc:chgData name="Álvaro Lúcio Almeida Ribeiro" userId="S::ribeiro.alvaro@inatel.br::7df6deca-1dfa-4007-b18d-c907498a89f3" providerId="AD" clId="Web-{6B3898BB-5A23-482F-4C5A-5859426BA07D}" dt="2026-09-21T14:24:21.707" v="11" actId="1076"/>
        <pc:sldMkLst>
          <pc:docMk/>
          <pc:sldMk cId="2940901777" sldId="260"/>
        </pc:sldMkLst>
        <pc:spChg chg="mod">
          <ac:chgData name="Álvaro Lúcio Almeida Ribeiro" userId="S::ribeiro.alvaro@inatel.br::7df6deca-1dfa-4007-b18d-c907498a89f3" providerId="AD" clId="Web-{6B3898BB-5A23-482F-4C5A-5859426BA07D}" dt="2026-09-21T14:24:17.659" v="8" actId="1076"/>
          <ac:spMkLst>
            <pc:docMk/>
            <pc:sldMk cId="2940901777" sldId="260"/>
            <ac:spMk id="27" creationId="{CD962223-CF49-4C15-A492-403DAA2ABB73}"/>
          </ac:spMkLst>
        </pc:spChg>
        <pc:picChg chg="add mod">
          <ac:chgData name="Álvaro Lúcio Almeida Ribeiro" userId="S::ribeiro.alvaro@inatel.br::7df6deca-1dfa-4007-b18d-c907498a89f3" providerId="AD" clId="Web-{6B3898BB-5A23-482F-4C5A-5859426BA07D}" dt="2026-09-21T14:24:21.707" v="11" actId="1076"/>
          <ac:picMkLst>
            <pc:docMk/>
            <pc:sldMk cId="2940901777" sldId="260"/>
            <ac:picMk id="2" creationId="{172B422C-D574-0786-28A8-E0DEEC795C3A}"/>
          </ac:picMkLst>
        </pc:picChg>
        <pc:picChg chg="add del mod">
          <ac:chgData name="Álvaro Lúcio Almeida Ribeiro" userId="S::ribeiro.alvaro@inatel.br::7df6deca-1dfa-4007-b18d-c907498a89f3" providerId="AD" clId="Web-{6B3898BB-5A23-482F-4C5A-5859426BA07D}" dt="2026-09-21T13:40:54.646" v="4"/>
          <ac:picMkLst>
            <pc:docMk/>
            <pc:sldMk cId="2940901777" sldId="260"/>
            <ac:picMk id="2" creationId="{5AF526F5-1BFD-329F-633D-F19D77A33EDD}"/>
          </ac:picMkLst>
        </pc:picChg>
      </pc:sldChg>
    </pc:docChg>
  </pc:docChgLst>
  <pc:docChgLst>
    <pc:chgData name="Álvaro Lúcio Almeida Ribeiro" userId="S::ribeiro.alvaro@inatel.br::7df6deca-1dfa-4007-b18d-c907498a89f3" providerId="AD" clId="Web-{C639F3EB-B032-5E43-3829-4E75908F19A1}"/>
    <pc:docChg chg="modSld">
      <pc:chgData name="Álvaro Lúcio Almeida Ribeiro" userId="S::ribeiro.alvaro@inatel.br::7df6deca-1dfa-4007-b18d-c907498a89f3" providerId="AD" clId="Web-{C639F3EB-B032-5E43-3829-4E75908F19A1}" dt="2026-09-21T13:13:51.091" v="19"/>
      <pc:docMkLst>
        <pc:docMk/>
      </pc:docMkLst>
      <pc:sldChg chg="addSp delSp modSp">
        <pc:chgData name="Álvaro Lúcio Almeida Ribeiro" userId="S::ribeiro.alvaro@inatel.br::7df6deca-1dfa-4007-b18d-c907498a89f3" providerId="AD" clId="Web-{C639F3EB-B032-5E43-3829-4E75908F19A1}" dt="2026-09-21T13:13:51.091" v="19"/>
        <pc:sldMkLst>
          <pc:docMk/>
          <pc:sldMk cId="2940901777" sldId="260"/>
        </pc:sldMkLst>
        <pc:spChg chg="del">
          <ac:chgData name="Álvaro Lúcio Almeida Ribeiro" userId="S::ribeiro.alvaro@inatel.br::7df6deca-1dfa-4007-b18d-c907498a89f3" providerId="AD" clId="Web-{C639F3EB-B032-5E43-3829-4E75908F19A1}" dt="2026-09-21T13:13:43.170" v="15"/>
          <ac:spMkLst>
            <pc:docMk/>
            <pc:sldMk cId="2940901777" sldId="260"/>
            <ac:spMk id="21" creationId="{5651EF0D-E05D-4F84-BCF1-76457C37AFDF}"/>
          </ac:spMkLst>
        </pc:spChg>
        <pc:spChg chg="del">
          <ac:chgData name="Álvaro Lúcio Almeida Ribeiro" userId="S::ribeiro.alvaro@inatel.br::7df6deca-1dfa-4007-b18d-c907498a89f3" providerId="AD" clId="Web-{C639F3EB-B032-5E43-3829-4E75908F19A1}" dt="2026-09-21T13:13:43.170" v="14"/>
          <ac:spMkLst>
            <pc:docMk/>
            <pc:sldMk cId="2940901777" sldId="260"/>
            <ac:spMk id="22" creationId="{DC90A1C7-E4DE-4768-8C0E-7877E6D303A5}"/>
          </ac:spMkLst>
        </pc:spChg>
        <pc:picChg chg="add del mod">
          <ac:chgData name="Álvaro Lúcio Almeida Ribeiro" userId="S::ribeiro.alvaro@inatel.br::7df6deca-1dfa-4007-b18d-c907498a89f3" providerId="AD" clId="Web-{C639F3EB-B032-5E43-3829-4E75908F19A1}" dt="2026-09-21T13:13:51.091" v="19"/>
          <ac:picMkLst>
            <pc:docMk/>
            <pc:sldMk cId="2940901777" sldId="260"/>
            <ac:picMk id="2" creationId="{D3E107CE-0E11-5BE7-9499-3FDACBCF6450}"/>
          </ac:picMkLst>
        </pc:picChg>
      </pc:sldChg>
      <pc:sldChg chg="addSp delSp modSp">
        <pc:chgData name="Álvaro Lúcio Almeida Ribeiro" userId="S::ribeiro.alvaro@inatel.br::7df6deca-1dfa-4007-b18d-c907498a89f3" providerId="AD" clId="Web-{C639F3EB-B032-5E43-3829-4E75908F19A1}" dt="2026-09-21T13:08:07.669" v="13" actId="1076"/>
        <pc:sldMkLst>
          <pc:docMk/>
          <pc:sldMk cId="3943068733" sldId="261"/>
        </pc:sldMkLst>
        <pc:spChg chg="del">
          <ac:chgData name="Álvaro Lúcio Almeida Ribeiro" userId="S::ribeiro.alvaro@inatel.br::7df6deca-1dfa-4007-b18d-c907498a89f3" providerId="AD" clId="Web-{C639F3EB-B032-5E43-3829-4E75908F19A1}" dt="2026-09-21T13:07:43.794" v="6"/>
          <ac:spMkLst>
            <pc:docMk/>
            <pc:sldMk cId="3943068733" sldId="261"/>
            <ac:spMk id="17" creationId="{7771A746-1FB7-45B1-93CE-F1B4113CE7AA}"/>
          </ac:spMkLst>
        </pc:spChg>
        <pc:spChg chg="mod">
          <ac:chgData name="Álvaro Lúcio Almeida Ribeiro" userId="S::ribeiro.alvaro@inatel.br::7df6deca-1dfa-4007-b18d-c907498a89f3" providerId="AD" clId="Web-{C639F3EB-B032-5E43-3829-4E75908F19A1}" dt="2026-09-21T13:08:04.700" v="12" actId="1076"/>
          <ac:spMkLst>
            <pc:docMk/>
            <pc:sldMk cId="3943068733" sldId="261"/>
            <ac:spMk id="18" creationId="{BE3EF6C8-E211-4FC2-800D-6995CD1BFBC9}"/>
          </ac:spMkLst>
        </pc:spChg>
        <pc:spChg chg="del mod">
          <ac:chgData name="Álvaro Lúcio Almeida Ribeiro" userId="S::ribeiro.alvaro@inatel.br::7df6deca-1dfa-4007-b18d-c907498a89f3" providerId="AD" clId="Web-{C639F3EB-B032-5E43-3829-4E75908F19A1}" dt="2026-09-21T13:07:40.825" v="5"/>
          <ac:spMkLst>
            <pc:docMk/>
            <pc:sldMk cId="3943068733" sldId="261"/>
            <ac:spMk id="19" creationId="{A0FB6CCA-66FD-45EF-BE47-8498771D12D2}"/>
          </ac:spMkLst>
        </pc:spChg>
        <pc:spChg chg="mod">
          <ac:chgData name="Álvaro Lúcio Almeida Ribeiro" userId="S::ribeiro.alvaro@inatel.br::7df6deca-1dfa-4007-b18d-c907498a89f3" providerId="AD" clId="Web-{C639F3EB-B032-5E43-3829-4E75908F19A1}" dt="2026-09-21T13:08:07.669" v="13" actId="1076"/>
          <ac:spMkLst>
            <pc:docMk/>
            <pc:sldMk cId="3943068733" sldId="261"/>
            <ac:spMk id="20" creationId="{03A48A30-5BEE-40CA-87A4-35564BE79A3A}"/>
          </ac:spMkLst>
        </pc:spChg>
        <pc:picChg chg="add mod">
          <ac:chgData name="Álvaro Lúcio Almeida Ribeiro" userId="S::ribeiro.alvaro@inatel.br::7df6deca-1dfa-4007-b18d-c907498a89f3" providerId="AD" clId="Web-{C639F3EB-B032-5E43-3829-4E75908F19A1}" dt="2026-09-21T13:07:57.607" v="10" actId="1076"/>
          <ac:picMkLst>
            <pc:docMk/>
            <pc:sldMk cId="3943068733" sldId="261"/>
            <ac:picMk id="2" creationId="{3C80CD9F-F010-F916-2AFB-21479BA68116}"/>
          </ac:picMkLst>
        </pc:picChg>
      </pc:sldChg>
    </pc:docChg>
  </pc:docChgLst>
  <pc:docChgLst>
    <pc:chgData name="Álvaro Lúcio Almeida Ribeiro" userId="S::ribeiro.alvaro@inatel.br::7df6deca-1dfa-4007-b18d-c907498a89f3" providerId="AD" clId="Web-{00000000-0000-0000-0000-000000000000}"/>
    <pc:docChg chg="addSld delSld modSld sldOrd">
      <pc:chgData name="Álvaro Lúcio Almeida Ribeiro" userId="S::ribeiro.alvaro@inatel.br::7df6deca-1dfa-4007-b18d-c907498a89f3" providerId="AD" clId="Web-{00000000-0000-0000-0000-000000000000}" dt="2026-09-21T12:34:45.760" v="37" actId="1076"/>
      <pc:docMkLst>
        <pc:docMk/>
      </pc:docMkLst>
      <pc:sldChg chg="delSp">
        <pc:chgData name="Álvaro Lúcio Almeida Ribeiro" userId="S::ribeiro.alvaro@inatel.br::7df6deca-1dfa-4007-b18d-c907498a89f3" providerId="AD" clId="Web-{00000000-0000-0000-0000-000000000000}" dt="2026-09-21T12:17:24.280" v="0"/>
        <pc:sldMkLst>
          <pc:docMk/>
          <pc:sldMk cId="3691931451" sldId="256"/>
        </pc:sldMkLst>
        <pc:spChg chg="del">
          <ac:chgData name="Álvaro Lúcio Almeida Ribeiro" userId="S::ribeiro.alvaro@inatel.br::7df6deca-1dfa-4007-b18d-c907498a89f3" providerId="AD" clId="Web-{00000000-0000-0000-0000-000000000000}" dt="2026-09-21T12:17:24.280" v="0"/>
          <ac:spMkLst>
            <pc:docMk/>
            <pc:sldMk cId="3691931451" sldId="256"/>
            <ac:spMk id="3" creationId="{457D43CA-BEA3-47A4-9062-93E35B268284}"/>
          </ac:spMkLst>
        </pc:spChg>
      </pc:sldChg>
      <pc:sldChg chg="addSp delSp">
        <pc:chgData name="Álvaro Lúcio Almeida Ribeiro" userId="S::ribeiro.alvaro@inatel.br::7df6deca-1dfa-4007-b18d-c907498a89f3" providerId="AD" clId="Web-{00000000-0000-0000-0000-000000000000}" dt="2026-09-21T12:17:42.077" v="5"/>
        <pc:sldMkLst>
          <pc:docMk/>
          <pc:sldMk cId="288708291" sldId="257"/>
        </pc:sldMkLst>
        <pc:spChg chg="del">
          <ac:chgData name="Álvaro Lúcio Almeida Ribeiro" userId="S::ribeiro.alvaro@inatel.br::7df6deca-1dfa-4007-b18d-c907498a89f3" providerId="AD" clId="Web-{00000000-0000-0000-0000-000000000000}" dt="2026-09-21T12:17:37.843" v="3"/>
          <ac:spMkLst>
            <pc:docMk/>
            <pc:sldMk cId="288708291" sldId="257"/>
            <ac:spMk id="4" creationId="{215D1D48-32DB-45B5-A801-F5E9BBF1B198}"/>
          </ac:spMkLst>
        </pc:spChg>
        <pc:spChg chg="del">
          <ac:chgData name="Álvaro Lúcio Almeida Ribeiro" userId="S::ribeiro.alvaro@inatel.br::7df6deca-1dfa-4007-b18d-c907498a89f3" providerId="AD" clId="Web-{00000000-0000-0000-0000-000000000000}" dt="2026-09-21T12:17:39.890" v="4"/>
          <ac:spMkLst>
            <pc:docMk/>
            <pc:sldMk cId="288708291" sldId="257"/>
            <ac:spMk id="5" creationId="{605C9745-ACEF-4B4F-AACC-896D08EFC345}"/>
          </ac:spMkLst>
        </pc:spChg>
        <pc:spChg chg="del">
          <ac:chgData name="Álvaro Lúcio Almeida Ribeiro" userId="S::ribeiro.alvaro@inatel.br::7df6deca-1dfa-4007-b18d-c907498a89f3" providerId="AD" clId="Web-{00000000-0000-0000-0000-000000000000}" dt="2026-09-21T12:17:42.077" v="5"/>
          <ac:spMkLst>
            <pc:docMk/>
            <pc:sldMk cId="288708291" sldId="257"/>
            <ac:spMk id="6" creationId="{A95936CE-B9B5-4A8F-915D-EDA922BE9B4C}"/>
          </ac:spMkLst>
        </pc:spChg>
        <pc:spChg chg="add del">
          <ac:chgData name="Álvaro Lúcio Almeida Ribeiro" userId="S::ribeiro.alvaro@inatel.br::7df6deca-1dfa-4007-b18d-c907498a89f3" providerId="AD" clId="Web-{00000000-0000-0000-0000-000000000000}" dt="2026-09-21T12:17:33.733" v="2"/>
          <ac:spMkLst>
            <pc:docMk/>
            <pc:sldMk cId="288708291" sldId="257"/>
            <ac:spMk id="8" creationId="{9C201BE3-AE0F-48BD-964E-3E96AD1EA297}"/>
          </ac:spMkLst>
        </pc:spChg>
      </pc:sldChg>
      <pc:sldChg chg="delSp modSp">
        <pc:chgData name="Álvaro Lúcio Almeida Ribeiro" userId="S::ribeiro.alvaro@inatel.br::7df6deca-1dfa-4007-b18d-c907498a89f3" providerId="AD" clId="Web-{00000000-0000-0000-0000-000000000000}" dt="2026-09-21T12:18:04.672" v="17" actId="1076"/>
        <pc:sldMkLst>
          <pc:docMk/>
          <pc:sldMk cId="2558564212" sldId="258"/>
        </pc:sldMkLst>
        <pc:spChg chg="del mod">
          <ac:chgData name="Álvaro Lúcio Almeida Ribeiro" userId="S::ribeiro.alvaro@inatel.br::7df6deca-1dfa-4007-b18d-c907498a89f3" providerId="AD" clId="Web-{00000000-0000-0000-0000-000000000000}" dt="2026-09-21T12:17:53.406" v="9"/>
          <ac:spMkLst>
            <pc:docMk/>
            <pc:sldMk cId="2558564212" sldId="258"/>
            <ac:spMk id="3" creationId="{199136F5-7C67-B276-7D79-02F6BD106729}"/>
          </ac:spMkLst>
        </pc:spChg>
        <pc:spChg chg="del">
          <ac:chgData name="Álvaro Lúcio Almeida Ribeiro" userId="S::ribeiro.alvaro@inatel.br::7df6deca-1dfa-4007-b18d-c907498a89f3" providerId="AD" clId="Web-{00000000-0000-0000-0000-000000000000}" dt="2026-09-21T12:17:48.140" v="6"/>
          <ac:spMkLst>
            <pc:docMk/>
            <pc:sldMk cId="2558564212" sldId="258"/>
            <ac:spMk id="4" creationId="{F44A3C4D-4D0A-6BF7-9F5B-EB5375052216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9-21T12:18:04.641" v="14" actId="1076"/>
          <ac:spMkLst>
            <pc:docMk/>
            <pc:sldMk cId="2558564212" sldId="258"/>
            <ac:spMk id="12" creationId="{9F6E6318-2D6B-45DF-9CF9-415F552F6CF3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9-21T12:18:04.656" v="15" actId="1076"/>
          <ac:spMkLst>
            <pc:docMk/>
            <pc:sldMk cId="2558564212" sldId="258"/>
            <ac:spMk id="13" creationId="{6FA07889-B5F4-4BC5-B86C-D8DE149A5CB5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9-21T12:18:04.672" v="16" actId="1076"/>
          <ac:spMkLst>
            <pc:docMk/>
            <pc:sldMk cId="2558564212" sldId="258"/>
            <ac:spMk id="14" creationId="{0C307134-4147-4F3E-B350-5073D428BA65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9-21T12:18:04.672" v="17" actId="1076"/>
          <ac:spMkLst>
            <pc:docMk/>
            <pc:sldMk cId="2558564212" sldId="258"/>
            <ac:spMk id="15" creationId="{F61EEC89-30B5-438F-AB11-D7DCD8F2100A}"/>
          </ac:spMkLst>
        </pc:spChg>
        <pc:spChg chg="del">
          <ac:chgData name="Álvaro Lúcio Almeida Ribeiro" userId="S::ribeiro.alvaro@inatel.br::7df6deca-1dfa-4007-b18d-c907498a89f3" providerId="AD" clId="Web-{00000000-0000-0000-0000-000000000000}" dt="2026-09-21T12:17:50.140" v="7"/>
          <ac:spMkLst>
            <pc:docMk/>
            <pc:sldMk cId="2558564212" sldId="258"/>
            <ac:spMk id="16" creationId="{9D200672-EBB6-4A9D-B56F-1ABC4BA85DE2}"/>
          </ac:spMkLst>
        </pc:spChg>
      </pc:sldChg>
      <pc:sldChg chg="delSp">
        <pc:chgData name="Álvaro Lúcio Almeida Ribeiro" userId="S::ribeiro.alvaro@inatel.br::7df6deca-1dfa-4007-b18d-c907498a89f3" providerId="AD" clId="Web-{00000000-0000-0000-0000-000000000000}" dt="2026-09-21T12:18:11.563" v="18"/>
        <pc:sldMkLst>
          <pc:docMk/>
          <pc:sldMk cId="1271481010" sldId="259"/>
        </pc:sldMkLst>
        <pc:spChg chg="del">
          <ac:chgData name="Álvaro Lúcio Almeida Ribeiro" userId="S::ribeiro.alvaro@inatel.br::7df6deca-1dfa-4007-b18d-c907498a89f3" providerId="AD" clId="Web-{00000000-0000-0000-0000-000000000000}" dt="2026-09-21T12:18:11.563" v="18"/>
          <ac:spMkLst>
            <pc:docMk/>
            <pc:sldMk cId="1271481010" sldId="259"/>
            <ac:spMk id="4" creationId="{AD0226D6-3A15-093C-3DE1-64FF7EC7C206}"/>
          </ac:spMkLst>
        </pc:spChg>
      </pc:sldChg>
      <pc:sldChg chg="delSp">
        <pc:chgData name="Álvaro Lúcio Almeida Ribeiro" userId="S::ribeiro.alvaro@inatel.br::7df6deca-1dfa-4007-b18d-c907498a89f3" providerId="AD" clId="Web-{00000000-0000-0000-0000-000000000000}" dt="2026-09-21T12:18:20.938" v="19"/>
        <pc:sldMkLst>
          <pc:docMk/>
          <pc:sldMk cId="2940901777" sldId="260"/>
        </pc:sldMkLst>
        <pc:spChg chg="del">
          <ac:chgData name="Álvaro Lúcio Almeida Ribeiro" userId="S::ribeiro.alvaro@inatel.br::7df6deca-1dfa-4007-b18d-c907498a89f3" providerId="AD" clId="Web-{00000000-0000-0000-0000-000000000000}" dt="2026-09-21T12:18:20.938" v="19"/>
          <ac:spMkLst>
            <pc:docMk/>
            <pc:sldMk cId="2940901777" sldId="260"/>
            <ac:spMk id="4" creationId="{512FF579-5328-3E69-7886-FFC92041035C}"/>
          </ac:spMkLst>
        </pc:spChg>
      </pc:sldChg>
      <pc:sldChg chg="delSp">
        <pc:chgData name="Álvaro Lúcio Almeida Ribeiro" userId="S::ribeiro.alvaro@inatel.br::7df6deca-1dfa-4007-b18d-c907498a89f3" providerId="AD" clId="Web-{00000000-0000-0000-0000-000000000000}" dt="2026-09-21T12:18:28.595" v="20"/>
        <pc:sldMkLst>
          <pc:docMk/>
          <pc:sldMk cId="3943068733" sldId="261"/>
        </pc:sldMkLst>
        <pc:spChg chg="del">
          <ac:chgData name="Álvaro Lúcio Almeida Ribeiro" userId="S::ribeiro.alvaro@inatel.br::7df6deca-1dfa-4007-b18d-c907498a89f3" providerId="AD" clId="Web-{00000000-0000-0000-0000-000000000000}" dt="2026-09-21T12:18:28.595" v="20"/>
          <ac:spMkLst>
            <pc:docMk/>
            <pc:sldMk cId="3943068733" sldId="261"/>
            <ac:spMk id="4" creationId="{C221AB49-C58B-CA67-E243-E4DD12EFF536}"/>
          </ac:spMkLst>
        </pc:spChg>
      </pc:sldChg>
      <pc:sldChg chg="delSp add del">
        <pc:chgData name="Álvaro Lúcio Almeida Ribeiro" userId="S::ribeiro.alvaro@inatel.br::7df6deca-1dfa-4007-b18d-c907498a89f3" providerId="AD" clId="Web-{00000000-0000-0000-0000-000000000000}" dt="2026-09-21T12:19:41.160" v="28"/>
        <pc:sldMkLst>
          <pc:docMk/>
          <pc:sldMk cId="283815630" sldId="278"/>
        </pc:sldMkLst>
        <pc:spChg chg="del">
          <ac:chgData name="Álvaro Lúcio Almeida Ribeiro" userId="S::ribeiro.alvaro@inatel.br::7df6deca-1dfa-4007-b18d-c907498a89f3" providerId="AD" clId="Web-{00000000-0000-0000-0000-000000000000}" dt="2026-09-21T12:19:21.503" v="21"/>
          <ac:spMkLst>
            <pc:docMk/>
            <pc:sldMk cId="283815630" sldId="278"/>
            <ac:spMk id="3" creationId="{22985D20-BB33-4C5D-8B1B-8627B02C9F07}"/>
          </ac:spMkLst>
        </pc:spChg>
        <pc:spChg chg="del">
          <ac:chgData name="Álvaro Lúcio Almeida Ribeiro" userId="S::ribeiro.alvaro@inatel.br::7df6deca-1dfa-4007-b18d-c907498a89f3" providerId="AD" clId="Web-{00000000-0000-0000-0000-000000000000}" dt="2026-09-21T12:19:25.519" v="22"/>
          <ac:spMkLst>
            <pc:docMk/>
            <pc:sldMk cId="283815630" sldId="278"/>
            <ac:spMk id="5" creationId="{403A8CC2-D482-4796-BEC4-85BEC26209E2}"/>
          </ac:spMkLst>
        </pc:spChg>
      </pc:sldChg>
      <pc:sldChg chg="addSp delSp modSp new mod modClrScheme chgLayout">
        <pc:chgData name="Álvaro Lúcio Almeida Ribeiro" userId="S::ribeiro.alvaro@inatel.br::7df6deca-1dfa-4007-b18d-c907498a89f3" providerId="AD" clId="Web-{00000000-0000-0000-0000-000000000000}" dt="2026-09-21T12:34:45.760" v="37" actId="1076"/>
        <pc:sldMkLst>
          <pc:docMk/>
          <pc:sldMk cId="797382081" sldId="279"/>
        </pc:sldMkLst>
        <pc:spChg chg="del">
          <ac:chgData name="Álvaro Lúcio Almeida Ribeiro" userId="S::ribeiro.alvaro@inatel.br::7df6deca-1dfa-4007-b18d-c907498a89f3" providerId="AD" clId="Web-{00000000-0000-0000-0000-000000000000}" dt="2026-09-21T12:19:45.535" v="30"/>
          <ac:spMkLst>
            <pc:docMk/>
            <pc:sldMk cId="797382081" sldId="279"/>
            <ac:spMk id="2" creationId="{40585689-33D8-FF83-04D9-2153B69B90F6}"/>
          </ac:spMkLst>
        </pc:spChg>
        <pc:spChg chg="add mod">
          <ac:chgData name="Álvaro Lúcio Almeida Ribeiro" userId="S::ribeiro.alvaro@inatel.br::7df6deca-1dfa-4007-b18d-c907498a89f3" providerId="AD" clId="Web-{00000000-0000-0000-0000-000000000000}" dt="2026-09-21T12:32:50.568" v="34" actId="1076"/>
          <ac:spMkLst>
            <pc:docMk/>
            <pc:sldMk cId="797382081" sldId="279"/>
            <ac:spMk id="3" creationId="{E20DCE00-55C8-D402-663C-40612C5191DE}"/>
          </ac:spMkLst>
        </pc:spChg>
        <pc:picChg chg="add mod">
          <ac:chgData name="Álvaro Lúcio Almeida Ribeiro" userId="S::ribeiro.alvaro@inatel.br::7df6deca-1dfa-4007-b18d-c907498a89f3" providerId="AD" clId="Web-{00000000-0000-0000-0000-000000000000}" dt="2026-09-21T12:34:45.760" v="37" actId="1076"/>
          <ac:picMkLst>
            <pc:docMk/>
            <pc:sldMk cId="797382081" sldId="279"/>
            <ac:picMk id="4" creationId="{78BEB0CE-7197-E64F-CA4A-E5E726893E82}"/>
          </ac:picMkLst>
        </pc:picChg>
      </pc:sldChg>
      <pc:sldChg chg="new del ord">
        <pc:chgData name="Álvaro Lúcio Almeida Ribeiro" userId="S::ribeiro.alvaro@inatel.br::7df6deca-1dfa-4007-b18d-c907498a89f3" providerId="AD" clId="Web-{00000000-0000-0000-0000-000000000000}" dt="2026-09-21T12:19:41.410" v="29"/>
        <pc:sldMkLst>
          <pc:docMk/>
          <pc:sldMk cId="4240760313" sldId="28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-data-snapshot-00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-data-snapshot-00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TPE</c:v>
          </c:tx>
          <c:spPr>
            <a:solidFill>
              <a:srgbClr val="0053D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8263A"/>
                    </a:solidFill>
                    <a:latin typeface="Trebuchet MS"/>
                    <a:ea typeface="Trebuchet MS"/>
                    <a:cs typeface="Trebuchet M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convex</c:v>
                </c:pt>
                <c:pt idx="1">
                  <c:v>MRBI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14.13</c:v>
                </c:pt>
                <c:pt idx="1">
                  <c:v>44.55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178-420D-B669-31B640D2F6B8}"/>
            </c:ext>
          </c:extLst>
        </c:ser>
        <c:ser>
          <c:idx val="1"/>
          <c:order val="1"/>
          <c:tx>
            <c:v>GP</c:v>
          </c:tx>
          <c:spPr>
            <a:solidFill>
              <a:srgbClr val="00B0F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8263A"/>
                    </a:solidFill>
                    <a:latin typeface="Trebuchet MS"/>
                    <a:ea typeface="Trebuchet MS"/>
                    <a:cs typeface="Trebuchet M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convex</c:v>
                </c:pt>
                <c:pt idx="1">
                  <c:v>MRBI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16.7</c:v>
                </c:pt>
                <c:pt idx="1">
                  <c:v>47.08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178-420D-B669-31B640D2F6B8}"/>
            </c:ext>
          </c:extLst>
        </c:ser>
        <c:ser>
          <c:idx val="2"/>
          <c:order val="2"/>
          <c:tx>
            <c:v>Manual</c:v>
          </c:tx>
          <c:spPr>
            <a:solidFill>
              <a:srgbClr val="5A68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8263A"/>
                    </a:solidFill>
                    <a:latin typeface="Trebuchet MS"/>
                    <a:ea typeface="Trebuchet MS"/>
                    <a:cs typeface="Trebuchet M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convex</c:v>
                </c:pt>
                <c:pt idx="1">
                  <c:v>MRBI</c:v>
                </c:pt>
              </c:strCache>
            </c:str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18.63</c:v>
                </c:pt>
                <c:pt idx="1">
                  <c:v>47.39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178-420D-B669-31B640D2F6B8}"/>
            </c:ext>
          </c:extLst>
        </c:ser>
        <c:ser>
          <c:idx val="3"/>
          <c:order val="3"/>
          <c:tx>
            <c:v>Random</c:v>
          </c:tx>
          <c:spPr>
            <a:solidFill>
              <a:srgbClr val="FE811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8263A"/>
                    </a:solidFill>
                    <a:latin typeface="Trebuchet MS"/>
                    <a:ea typeface="Trebuchet MS"/>
                    <a:cs typeface="Trebuchet M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convex</c:v>
                </c:pt>
                <c:pt idx="1">
                  <c:v>MRBI</c:v>
                </c:pt>
              </c:strCache>
            </c:strRef>
          </c:cat>
          <c:val>
            <c:numRef>
              <c:f>'Chart Data'!$H$2:$H$3</c:f>
              <c:numCache>
                <c:formatCode>General</c:formatCode>
                <c:ptCount val="2"/>
                <c:pt idx="0">
                  <c:v>18.97</c:v>
                </c:pt>
                <c:pt idx="1">
                  <c:v>50.52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0178-420D-B669-31B640D2F6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Trebuchet MS"/>
                <a:ea typeface="Trebuchet MS"/>
                <a:cs typeface="Trebuchet M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D8E0E7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pt-BR">
                    <a:latin typeface="Trebuchet MS"/>
                    <a:ea typeface="Trebuchet MS"/>
                    <a:cs typeface="Trebuchet MS"/>
                  </a:rPr>
                  <a:t>Erro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Trebuchet MS"/>
                <a:ea typeface="Trebuchet MS"/>
                <a:cs typeface="Trebuchet MS"/>
              </a:defRPr>
            </a:pPr>
            <a:endParaRPr lang="pt-BR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>
              <a:latin typeface="Trebuchet MS"/>
              <a:ea typeface="Trebuchet MS"/>
              <a:cs typeface="Trebuchet MS"/>
            </a:defRPr>
          </a:pPr>
          <a:endParaRPr lang="pt-BR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Não adaptativo</c:v>
          </c:tx>
          <c:spPr>
            <a:solidFill>
              <a:srgbClr val="0053D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8263A"/>
                    </a:solidFill>
                    <a:latin typeface="Trebuchet MS"/>
                    <a:ea typeface="Trebuchet MS"/>
                    <a:cs typeface="Trebuchet M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12 vs 25</c:v>
                </c:pt>
                <c:pt idx="1">
                  <c:v>25 vs 50</c:v>
                </c:pt>
                <c:pt idx="2">
                  <c:v>12 vs 50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0.94</c:v>
                </c:pt>
                <c:pt idx="1">
                  <c:v>0.96</c:v>
                </c:pt>
                <c:pt idx="2">
                  <c:v>0.91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DC5-4B5F-99F6-069D10958E5F}"/>
            </c:ext>
          </c:extLst>
        </c:ser>
        <c:ser>
          <c:idx val="1"/>
          <c:order val="1"/>
          <c:tx>
            <c:v>Adaptativo</c:v>
          </c:tx>
          <c:spPr>
            <a:solidFill>
              <a:srgbClr val="00B0F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8263A"/>
                    </a:solidFill>
                    <a:latin typeface="Trebuchet MS"/>
                    <a:ea typeface="Trebuchet MS"/>
                    <a:cs typeface="Trebuchet M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12 vs 25</c:v>
                </c:pt>
                <c:pt idx="1">
                  <c:v>25 vs 50</c:v>
                </c:pt>
                <c:pt idx="2">
                  <c:v>12 vs 50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0.95</c:v>
                </c:pt>
                <c:pt idx="1">
                  <c:v>0.94</c:v>
                </c:pt>
                <c:pt idx="2">
                  <c:v>0.88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DC5-4B5F-99F6-069D10958E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>
                    <a:latin typeface="Trebuchet MS"/>
                    <a:ea typeface="Trebuchet MS"/>
                    <a:cs typeface="Trebuchet MS"/>
                  </a:rPr>
                  <a:t>Épocas comparadas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Trebuchet MS"/>
                <a:ea typeface="Trebuchet MS"/>
                <a:cs typeface="Trebuchet M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.8"/>
        </c:scaling>
        <c:delete val="0"/>
        <c:axPos val="l"/>
        <c:majorGridlines>
          <c:spPr>
            <a:ln w="9525">
              <a:solidFill>
                <a:srgbClr val="D8E0E7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pt-BR">
                    <a:latin typeface="Trebuchet MS"/>
                    <a:ea typeface="Trebuchet MS"/>
                    <a:cs typeface="Trebuchet MS"/>
                  </a:rPr>
                  <a:t>Spearman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Trebuchet MS"/>
                <a:ea typeface="Trebuchet MS"/>
                <a:cs typeface="Trebuchet MS"/>
              </a:defRPr>
            </a:pPr>
            <a:endParaRPr lang="pt-BR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>
              <a:latin typeface="Trebuchet MS"/>
              <a:ea typeface="Trebuchet MS"/>
              <a:cs typeface="Trebuchet MS"/>
            </a:defRPr>
          </a:pPr>
          <a:endParaRPr lang="pt-BR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Erro de teste (%)</c:v>
          </c:tx>
          <c:spPr>
            <a:solidFill>
              <a:srgbClr val="0053D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8263A"/>
                    </a:solidFill>
                    <a:latin typeface="Trebuchet MS"/>
                    <a:ea typeface="Trebuchet MS"/>
                    <a:cs typeface="Trebuchet M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AutoNet 2.0</c:v>
                </c:pt>
                <c:pt idx="1">
                  <c:v>Auto-PyTorch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31.78</c:v>
                </c:pt>
                <c:pt idx="1">
                  <c:v>3.14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B2A-437D-9275-F5337F69AA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Trebuchet MS"/>
                <a:ea typeface="Trebuchet MS"/>
                <a:cs typeface="Trebuchet M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9525">
              <a:solidFill>
                <a:srgbClr val="D8E0E7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pt-BR">
                    <a:latin typeface="Trebuchet MS"/>
                    <a:ea typeface="Trebuchet MS"/>
                    <a:cs typeface="Trebuchet MS"/>
                  </a:rPr>
                  <a:t>Erro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Trebuchet MS"/>
                <a:ea typeface="Trebuchet MS"/>
                <a:cs typeface="Trebuchet MS"/>
              </a:defRPr>
            </a:pPr>
            <a:endParaRPr lang="pt-BR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Nesta </a:t>
            </a:r>
            <a:r>
              <a:rPr lang="en-US" dirty="0" err="1"/>
              <a:t>apresentação</a:t>
            </a:r>
            <a:r>
              <a:rPr lang="en-US" dirty="0"/>
              <a:t>, </a:t>
            </a:r>
            <a:r>
              <a:rPr lang="en-US" dirty="0" err="1"/>
              <a:t>vou</a:t>
            </a:r>
            <a:r>
              <a:rPr lang="en-US" dirty="0"/>
              <a:t> </a:t>
            </a:r>
            <a:r>
              <a:rPr lang="en-US" dirty="0" err="1"/>
              <a:t>abordar</a:t>
            </a:r>
            <a:r>
              <a:rPr lang="en-US" dirty="0"/>
              <a:t> a </a:t>
            </a:r>
            <a:r>
              <a:rPr lang="en-US" dirty="0" err="1"/>
              <a:t>evolução</a:t>
            </a:r>
            <a:r>
              <a:rPr lang="en-US" dirty="0"/>
              <a:t> das </a:t>
            </a:r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estratégias</a:t>
            </a:r>
            <a:r>
              <a:rPr lang="en-US" dirty="0"/>
              <a:t> de </a:t>
            </a:r>
            <a:r>
              <a:rPr lang="en-US" dirty="0" err="1"/>
              <a:t>otimização</a:t>
            </a:r>
            <a:r>
              <a:rPr lang="en-US" dirty="0"/>
              <a:t> de </a:t>
            </a:r>
            <a:r>
              <a:rPr lang="en-US" dirty="0" err="1"/>
              <a:t>hiperparâmetros</a:t>
            </a:r>
            <a:r>
              <a:rPr lang="en-US" dirty="0"/>
              <a:t>, </a:t>
            </a:r>
            <a:r>
              <a:rPr lang="en-US" dirty="0" err="1"/>
              <a:t>começando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Grid Search e Random Search, </a:t>
            </a:r>
            <a:r>
              <a:rPr lang="en-US" dirty="0" err="1"/>
              <a:t>passando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TPE e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Optuna</a:t>
            </a:r>
            <a:r>
              <a:rPr lang="en-US" dirty="0"/>
              <a:t>, </a:t>
            </a:r>
            <a:r>
              <a:rPr lang="en-US" dirty="0" err="1"/>
              <a:t>até</a:t>
            </a:r>
            <a:r>
              <a:rPr lang="en-US" dirty="0"/>
              <a:t> </a:t>
            </a:r>
            <a:r>
              <a:rPr lang="en-US" dirty="0" err="1"/>
              <a:t>chegar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com </a:t>
            </a:r>
            <a:r>
              <a:rPr lang="en-US" dirty="0" err="1"/>
              <a:t>múltiplas</a:t>
            </a:r>
            <a:r>
              <a:rPr lang="en-US" dirty="0"/>
              <a:t> </a:t>
            </a:r>
            <a:r>
              <a:rPr lang="en-US" dirty="0" err="1"/>
              <a:t>fidelidades</a:t>
            </a:r>
            <a:r>
              <a:rPr lang="en-US" dirty="0"/>
              <a:t> e </a:t>
            </a:r>
            <a:r>
              <a:rPr lang="en-US" dirty="0" err="1"/>
              <a:t>ao</a:t>
            </a:r>
            <a:r>
              <a:rPr lang="en-US" dirty="0"/>
              <a:t> Auto-</a:t>
            </a:r>
            <a:r>
              <a:rPr lang="en-US" dirty="0" err="1"/>
              <a:t>PyTorch</a:t>
            </a:r>
            <a:r>
              <a:rPr lang="en-US" dirty="0"/>
              <a:t>.</a:t>
            </a:r>
            <a:r>
              <a:rPr lang="pt-BR" dirty="0" err="1"/>
              <a:t>mo</a:t>
            </a:r>
            <a:r>
              <a:rPr dirty="0"/>
              <a:t> uma evolução das estratégias de busca. O objetivo é entender como cada método usa o orçamento computacional e em quais situações cada abordagem faz sentido.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pergunta</a:t>
            </a:r>
            <a:r>
              <a:rPr lang="en-US" dirty="0"/>
              <a:t> central da </a:t>
            </a:r>
            <a:r>
              <a:rPr lang="en-US" dirty="0" err="1"/>
              <a:t>apresentação</a:t>
            </a:r>
            <a:r>
              <a:rPr lang="en-US" dirty="0"/>
              <a:t> é: </a:t>
            </a:r>
            <a:r>
              <a:rPr lang="en-US" dirty="0" err="1"/>
              <a:t>como</a:t>
            </a:r>
            <a:r>
              <a:rPr lang="en-US" dirty="0"/>
              <a:t> encontrar boas </a:t>
            </a:r>
            <a:r>
              <a:rPr lang="en-US" dirty="0" err="1"/>
              <a:t>configurações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 </a:t>
            </a:r>
            <a:r>
              <a:rPr lang="en-US" dirty="0" err="1"/>
              <a:t>treinar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elas</a:t>
            </a:r>
            <a:r>
              <a:rPr lang="en-US" dirty="0"/>
              <a:t> </a:t>
            </a:r>
            <a:r>
              <a:rPr lang="en-US" dirty="0" err="1"/>
              <a:t>até</a:t>
            </a:r>
            <a:r>
              <a:rPr lang="en-US" dirty="0"/>
              <a:t> o final? Em </a:t>
            </a:r>
            <a:r>
              <a:rPr lang="en-US" dirty="0" err="1"/>
              <a:t>aprendizado</a:t>
            </a:r>
            <a:r>
              <a:rPr lang="en-US" dirty="0"/>
              <a:t> profundo,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treinamento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consumir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tempo e </a:t>
            </a:r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computacionais</a:t>
            </a:r>
            <a:r>
              <a:rPr lang="en-US" dirty="0"/>
              <a:t>. </a:t>
            </a:r>
            <a:r>
              <a:rPr lang="en-US" dirty="0" err="1"/>
              <a:t>Portanto</a:t>
            </a:r>
            <a:r>
              <a:rPr lang="en-US" dirty="0"/>
              <a:t>,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decidir</a:t>
            </a:r>
            <a:r>
              <a:rPr lang="en-US" dirty="0"/>
              <a:t> qual </a:t>
            </a:r>
            <a:r>
              <a:rPr lang="en-US" dirty="0" err="1"/>
              <a:t>configuração</a:t>
            </a:r>
            <a:r>
              <a:rPr lang="en-US" dirty="0"/>
              <a:t> </a:t>
            </a:r>
            <a:r>
              <a:rPr lang="en-US" dirty="0" err="1"/>
              <a:t>avaliar</a:t>
            </a:r>
            <a:r>
              <a:rPr lang="en-US" dirty="0"/>
              <a:t> e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orçamento</a:t>
            </a:r>
            <a:r>
              <a:rPr lang="en-US" dirty="0"/>
              <a:t> </a:t>
            </a:r>
            <a:r>
              <a:rPr lang="en-US" dirty="0" err="1"/>
              <a:t>dedicar</a:t>
            </a:r>
            <a:r>
              <a:rPr lang="en-US" dirty="0"/>
              <a:t> a </a:t>
            </a:r>
            <a:r>
              <a:rPr lang="en-US" dirty="0" err="1"/>
              <a:t>ela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Primeiro, </a:t>
            </a:r>
            <a:r>
              <a:rPr lang="en-US" dirty="0" err="1"/>
              <a:t>vou</a:t>
            </a:r>
            <a:r>
              <a:rPr lang="en-US" dirty="0"/>
              <a:t> </a:t>
            </a:r>
            <a:r>
              <a:rPr lang="en-US" dirty="0" err="1"/>
              <a:t>explicar</a:t>
            </a:r>
            <a:r>
              <a:rPr lang="en-US" dirty="0"/>
              <a:t> o </a:t>
            </a:r>
            <a:r>
              <a:rPr lang="en-US" dirty="0" err="1"/>
              <a:t>problema</a:t>
            </a:r>
            <a:r>
              <a:rPr lang="en-US" dirty="0"/>
              <a:t> de </a:t>
            </a:r>
            <a:r>
              <a:rPr lang="en-US" dirty="0" err="1"/>
              <a:t>otimização</a:t>
            </a:r>
            <a:r>
              <a:rPr lang="en-US" dirty="0"/>
              <a:t> de </a:t>
            </a:r>
            <a:r>
              <a:rPr lang="en-US" dirty="0" err="1"/>
              <a:t>hiperparâmetros</a:t>
            </a:r>
            <a:r>
              <a:rPr lang="en-US" dirty="0"/>
              <a:t>. </a:t>
            </a:r>
            <a:r>
              <a:rPr lang="en-US" dirty="0" err="1"/>
              <a:t>Depois</a:t>
            </a:r>
            <a:r>
              <a:rPr lang="en-US" dirty="0"/>
              <a:t>, </a:t>
            </a:r>
            <a:r>
              <a:rPr lang="en-US" dirty="0" err="1"/>
              <a:t>compararei</a:t>
            </a:r>
            <a:r>
              <a:rPr lang="en-US" dirty="0"/>
              <a:t> Grid Search, Random Search e TPE. Em </a:t>
            </a:r>
            <a:r>
              <a:rPr lang="en-US" dirty="0" err="1"/>
              <a:t>seguida</a:t>
            </a:r>
            <a:r>
              <a:rPr lang="en-US" dirty="0"/>
              <a:t>, </a:t>
            </a:r>
            <a:r>
              <a:rPr lang="en-US" dirty="0" err="1"/>
              <a:t>apresentarei</a:t>
            </a:r>
            <a:r>
              <a:rPr lang="en-US" dirty="0"/>
              <a:t> o </a:t>
            </a:r>
            <a:r>
              <a:rPr lang="en-US" dirty="0" err="1"/>
              <a:t>Optuna</a:t>
            </a:r>
            <a:r>
              <a:rPr lang="en-US" dirty="0"/>
              <a:t>, as </a:t>
            </a:r>
            <a:r>
              <a:rPr lang="en-US" dirty="0" err="1"/>
              <a:t>múltiplas</a:t>
            </a:r>
            <a:r>
              <a:rPr lang="en-US" dirty="0"/>
              <a:t> </a:t>
            </a:r>
            <a:r>
              <a:rPr lang="en-US" dirty="0" err="1"/>
              <a:t>fidelidades</a:t>
            </a:r>
            <a:r>
              <a:rPr lang="en-US" dirty="0"/>
              <a:t>, o BOHB e o Auto-</a:t>
            </a:r>
            <a:r>
              <a:rPr lang="en-US" dirty="0" err="1"/>
              <a:t>PyTorch</a:t>
            </a:r>
            <a:r>
              <a:rPr lang="en-US" dirty="0"/>
              <a:t>. </a:t>
            </a:r>
            <a:r>
              <a:rPr lang="en-US" dirty="0" err="1"/>
              <a:t>Finalizarei</a:t>
            </a:r>
            <a:r>
              <a:rPr lang="en-US" dirty="0"/>
              <a:t> com </a:t>
            </a:r>
            <a:r>
              <a:rPr lang="en-US" dirty="0" err="1"/>
              <a:t>resultados</a:t>
            </a:r>
            <a:r>
              <a:rPr lang="en-US" dirty="0"/>
              <a:t>, </a:t>
            </a:r>
            <a:r>
              <a:rPr lang="en-US" dirty="0" err="1"/>
              <a:t>limitações</a:t>
            </a:r>
            <a:r>
              <a:rPr lang="en-US" dirty="0"/>
              <a:t>, </a:t>
            </a:r>
            <a:r>
              <a:rPr lang="en-US" dirty="0" err="1"/>
              <a:t>conclusões</a:t>
            </a:r>
            <a:r>
              <a:rPr lang="en-US" dirty="0"/>
              <a:t> e </a:t>
            </a:r>
            <a:r>
              <a:rPr lang="en-US" dirty="0" err="1"/>
              <a:t>trabalhos</a:t>
            </a:r>
            <a:r>
              <a:rPr lang="en-US" dirty="0"/>
              <a:t> </a:t>
            </a:r>
            <a:r>
              <a:rPr lang="en-US" dirty="0" err="1"/>
              <a:t>futuros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Durante o treinamento, o modelo aprende seus parâmetros internos, como os pesos da rede. Porém, valores como taxa de aprendizado, regularização, arquitetura e batch </a:t>
            </a:r>
            <a:r>
              <a:rPr lang="pt-BR" dirty="0" err="1"/>
              <a:t>size</a:t>
            </a:r>
            <a:r>
              <a:rPr lang="pt-BR" dirty="0"/>
              <a:t> precisam ser escolhidos externamente. Cada configuração </a:t>
            </a:r>
            <a:r>
              <a:rPr lang="pt-BR" dirty="0" err="1"/>
              <a:t>xx</a:t>
            </a:r>
            <a:r>
              <a:rPr lang="pt-BR" dirty="0"/>
              <a:t> produz um erro de validação f(x)f(x), e nosso objetivo é encontrar a configuração que minimize esse erro. O problema é que cada avaliação pode exigir um treinamento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Grid Search define </a:t>
            </a:r>
            <a:r>
              <a:rPr lang="en-US" dirty="0" err="1"/>
              <a:t>previamente</a:t>
            </a:r>
            <a:r>
              <a:rPr lang="en-US" dirty="0"/>
              <a:t> </a:t>
            </a:r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hiperparâmetro</a:t>
            </a:r>
            <a:r>
              <a:rPr lang="en-US" dirty="0"/>
              <a:t> e </a:t>
            </a:r>
            <a:r>
              <a:rPr lang="en-US" dirty="0" err="1"/>
              <a:t>testa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combinações</a:t>
            </a:r>
            <a:r>
              <a:rPr lang="en-US" dirty="0"/>
              <a:t>. Neste </a:t>
            </a:r>
            <a:r>
              <a:rPr lang="en-US" dirty="0" err="1"/>
              <a:t>exemplo</a:t>
            </a:r>
            <a:r>
              <a:rPr lang="en-US" dirty="0"/>
              <a:t>, </a:t>
            </a:r>
            <a:r>
              <a:rPr lang="en-US" dirty="0" err="1"/>
              <a:t>quatro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para </a:t>
            </a:r>
            <a:r>
              <a:rPr lang="en-US" dirty="0" err="1"/>
              <a:t>cinco</a:t>
            </a:r>
            <a:r>
              <a:rPr lang="en-US" dirty="0"/>
              <a:t> </a:t>
            </a:r>
            <a:r>
              <a:rPr lang="en-US" dirty="0" err="1"/>
              <a:t>parâmetros</a:t>
            </a:r>
            <a:r>
              <a:rPr lang="en-US" dirty="0"/>
              <a:t> </a:t>
            </a:r>
            <a:r>
              <a:rPr lang="en-US" dirty="0" err="1"/>
              <a:t>geram</a:t>
            </a:r>
            <a:r>
              <a:rPr lang="en-US" dirty="0"/>
              <a:t> 1.024 </a:t>
            </a:r>
            <a:r>
              <a:rPr lang="en-US" dirty="0" err="1"/>
              <a:t>treinamentos</a:t>
            </a:r>
            <a:r>
              <a:rPr lang="en-US" dirty="0"/>
              <a:t>. O </a:t>
            </a:r>
            <a:r>
              <a:rPr lang="en-US" dirty="0" err="1"/>
              <a:t>método</a:t>
            </a:r>
            <a:r>
              <a:rPr lang="en-US" dirty="0"/>
              <a:t> é </a:t>
            </a:r>
            <a:r>
              <a:rPr lang="en-US" dirty="0" err="1"/>
              <a:t>determinístico</a:t>
            </a:r>
            <a:r>
              <a:rPr lang="en-US" dirty="0"/>
              <a:t> e </a:t>
            </a:r>
            <a:r>
              <a:rPr lang="en-US" dirty="0" err="1"/>
              <a:t>fácil</a:t>
            </a:r>
            <a:r>
              <a:rPr lang="en-US" dirty="0"/>
              <a:t> de </a:t>
            </a:r>
            <a:r>
              <a:rPr lang="en-US" dirty="0" err="1"/>
              <a:t>reproduzir</a:t>
            </a:r>
            <a:r>
              <a:rPr lang="en-US" dirty="0"/>
              <a:t>, mas </a:t>
            </a:r>
            <a:r>
              <a:rPr lang="en-US" dirty="0" err="1"/>
              <a:t>sofre</a:t>
            </a:r>
            <a:r>
              <a:rPr lang="en-US" dirty="0"/>
              <a:t> com a </a:t>
            </a:r>
            <a:r>
              <a:rPr lang="en-US" dirty="0" err="1"/>
              <a:t>explosão</a:t>
            </a:r>
            <a:r>
              <a:rPr lang="en-US" dirty="0"/>
              <a:t> </a:t>
            </a:r>
            <a:r>
              <a:rPr lang="en-US" dirty="0" err="1"/>
              <a:t>combinatória</a:t>
            </a:r>
            <a:r>
              <a:rPr lang="en-US" dirty="0"/>
              <a:t>. Ele </a:t>
            </a:r>
            <a:r>
              <a:rPr lang="en-US" dirty="0" err="1"/>
              <a:t>funciona</a:t>
            </a:r>
            <a:r>
              <a:rPr lang="en-US" dirty="0"/>
              <a:t> </a:t>
            </a:r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espaços</a:t>
            </a:r>
            <a:r>
              <a:rPr lang="en-US" dirty="0"/>
              <a:t> </a:t>
            </a:r>
            <a:r>
              <a:rPr lang="en-US" dirty="0" err="1"/>
              <a:t>pequenos</a:t>
            </a:r>
            <a:r>
              <a:rPr lang="en-US" dirty="0"/>
              <a:t> e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delimitados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Random Search escolhe as configurações de forma aleatória. Quando poucas dimensões realmente influenciam o resultado, ele testa mais valores diferentes nos parâmetros importantes do que o Grid Search. Também permite paralelismo direto. Sua principal limitação é não aprender com os resultados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Nestes</a:t>
            </a:r>
            <a:r>
              <a:rPr lang="en-US" dirty="0"/>
              <a:t> </a:t>
            </a:r>
            <a:r>
              <a:rPr lang="en-US" dirty="0" err="1"/>
              <a:t>experimentos</a:t>
            </a:r>
            <a:r>
              <a:rPr lang="en-US" dirty="0"/>
              <a:t>, o TPE </a:t>
            </a:r>
            <a:r>
              <a:rPr lang="en-US" dirty="0" err="1"/>
              <a:t>obteve</a:t>
            </a:r>
            <a:r>
              <a:rPr lang="en-US" dirty="0"/>
              <a:t> o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erro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dois</a:t>
            </a:r>
            <a:r>
              <a:rPr lang="en-US" dirty="0"/>
              <a:t> conjuntos </a:t>
            </a:r>
            <a:r>
              <a:rPr lang="en-US" dirty="0" err="1"/>
              <a:t>apresentados</a:t>
            </a:r>
            <a:r>
              <a:rPr lang="en-US" dirty="0"/>
              <a:t>. No conjunto convex, </a:t>
            </a:r>
            <a:r>
              <a:rPr lang="en-US" dirty="0" err="1"/>
              <a:t>alcançou</a:t>
            </a:r>
            <a:r>
              <a:rPr lang="en-US" dirty="0"/>
              <a:t> 14,13%, </a:t>
            </a:r>
            <a:r>
              <a:rPr lang="en-US" dirty="0" err="1"/>
              <a:t>enquanto</a:t>
            </a:r>
            <a:r>
              <a:rPr lang="en-US" dirty="0"/>
              <a:t> o Random Search </a:t>
            </a:r>
            <a:r>
              <a:rPr lang="en-US" dirty="0" err="1"/>
              <a:t>obteve</a:t>
            </a:r>
            <a:r>
              <a:rPr lang="en-US" dirty="0"/>
              <a:t> 18,97%. No MRBI, o TPE </a:t>
            </a:r>
            <a:r>
              <a:rPr lang="en-US" dirty="0" err="1"/>
              <a:t>obteve</a:t>
            </a:r>
            <a:r>
              <a:rPr lang="en-US" dirty="0"/>
              <a:t> 44,55%, contra 50,52% da </a:t>
            </a:r>
            <a:r>
              <a:rPr lang="en-US" dirty="0" err="1"/>
              <a:t>busca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. Esses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, mas </a:t>
            </a:r>
            <a:r>
              <a:rPr lang="en-US" dirty="0" err="1"/>
              <a:t>representam</a:t>
            </a:r>
            <a:r>
              <a:rPr lang="en-US" dirty="0"/>
              <a:t> </a:t>
            </a:r>
            <a:r>
              <a:rPr lang="en-US" dirty="0" err="1"/>
              <a:t>tarefas</a:t>
            </a:r>
            <a:r>
              <a:rPr lang="en-US" dirty="0"/>
              <a:t> </a:t>
            </a:r>
            <a:r>
              <a:rPr lang="en-US" dirty="0" err="1"/>
              <a:t>específicas</a:t>
            </a:r>
            <a:r>
              <a:rPr lang="en-US" dirty="0"/>
              <a:t> 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garantem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TPE sempre </a:t>
            </a:r>
            <a:r>
              <a:rPr lang="en-US" dirty="0" err="1"/>
              <a:t>será</a:t>
            </a:r>
            <a:r>
              <a:rPr lang="en-US" dirty="0"/>
              <a:t> superior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otimização</a:t>
            </a:r>
            <a:r>
              <a:rPr lang="en-US" dirty="0"/>
              <a:t> </a:t>
            </a:r>
            <a:r>
              <a:rPr lang="en-US" dirty="0" err="1"/>
              <a:t>sequencial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as </a:t>
            </a:r>
            <a:r>
              <a:rPr lang="en-US" dirty="0" err="1"/>
              <a:t>avaliações</a:t>
            </a:r>
            <a:r>
              <a:rPr lang="en-US" dirty="0"/>
              <a:t> </a:t>
            </a:r>
            <a:r>
              <a:rPr lang="en-US" dirty="0" err="1"/>
              <a:t>anteriores</a:t>
            </a:r>
            <a:r>
              <a:rPr lang="en-US" dirty="0"/>
              <a:t> para </a:t>
            </a:r>
            <a:r>
              <a:rPr lang="en-US" dirty="0" err="1"/>
              <a:t>decidir</a:t>
            </a:r>
            <a:r>
              <a:rPr lang="en-US" dirty="0"/>
              <a:t> o </a:t>
            </a:r>
            <a:r>
              <a:rPr lang="en-US" dirty="0" err="1"/>
              <a:t>próximo</a:t>
            </a:r>
            <a:r>
              <a:rPr lang="en-US" dirty="0"/>
              <a:t> teste. Primeiro, </a:t>
            </a:r>
            <a:r>
              <a:rPr lang="en-US" dirty="0" err="1"/>
              <a:t>registra</a:t>
            </a:r>
            <a:r>
              <a:rPr lang="en-US" dirty="0"/>
              <a:t> as </a:t>
            </a:r>
            <a:r>
              <a:rPr lang="en-US" dirty="0" err="1"/>
              <a:t>configurações</a:t>
            </a:r>
            <a:r>
              <a:rPr lang="en-US" dirty="0"/>
              <a:t> e </a:t>
            </a:r>
            <a:r>
              <a:rPr lang="en-US" dirty="0" err="1"/>
              <a:t>seus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. </a:t>
            </a:r>
            <a:r>
              <a:rPr lang="en-US" dirty="0" err="1"/>
              <a:t>Depois</a:t>
            </a:r>
            <a:r>
              <a:rPr lang="en-US" dirty="0"/>
              <a:t>, </a:t>
            </a:r>
            <a:r>
              <a:rPr lang="en-US" dirty="0" err="1"/>
              <a:t>constrói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aproximado</a:t>
            </a:r>
            <a:r>
              <a:rPr lang="en-US" dirty="0"/>
              <a:t> da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. A </a:t>
            </a:r>
            <a:r>
              <a:rPr lang="en-US" dirty="0" err="1"/>
              <a:t>função</a:t>
            </a:r>
            <a:r>
              <a:rPr lang="en-US" dirty="0"/>
              <a:t> de </a:t>
            </a:r>
            <a:r>
              <a:rPr lang="en-US" dirty="0" err="1"/>
              <a:t>aquisição</a:t>
            </a:r>
            <a:r>
              <a:rPr lang="en-US" dirty="0"/>
              <a:t> </a:t>
            </a:r>
            <a:r>
              <a:rPr lang="en-US" dirty="0" err="1"/>
              <a:t>equilibra</a:t>
            </a:r>
            <a:r>
              <a:rPr lang="en-US" dirty="0"/>
              <a:t> </a:t>
            </a:r>
            <a:r>
              <a:rPr lang="en-US" dirty="0" err="1"/>
              <a:t>exploração</a:t>
            </a:r>
            <a:r>
              <a:rPr lang="en-US" dirty="0"/>
              <a:t> de </a:t>
            </a:r>
            <a:r>
              <a:rPr lang="en-US" dirty="0" err="1"/>
              <a:t>regiões</a:t>
            </a:r>
            <a:r>
              <a:rPr lang="en-US" dirty="0"/>
              <a:t> </a:t>
            </a:r>
            <a:r>
              <a:rPr lang="en-US" dirty="0" err="1"/>
              <a:t>desconhecidas</a:t>
            </a:r>
            <a:r>
              <a:rPr lang="en-US" dirty="0"/>
              <a:t> com o </a:t>
            </a:r>
            <a:r>
              <a:rPr lang="en-US" dirty="0" err="1"/>
              <a:t>aproveitamento</a:t>
            </a:r>
            <a:r>
              <a:rPr lang="en-US" dirty="0"/>
              <a:t> das </a:t>
            </a:r>
            <a:r>
              <a:rPr lang="en-US" dirty="0" err="1"/>
              <a:t>regiões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parecem</a:t>
            </a:r>
            <a:r>
              <a:rPr lang="en-US" dirty="0"/>
              <a:t> </a:t>
            </a:r>
            <a:r>
              <a:rPr lang="en-US" dirty="0" err="1"/>
              <a:t>promissoras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TPE divide as observações em dois grupos. A distribuição l(x)l(x) representa as configurações consideradas boas, enquanto g(x)g(x) representa as demais. O algoritmo favorece valores com alta razão entre l(x)l(x) e g(x)g(x). Outra vantagem é representar naturalmente espaços condicionais, nos quais alguns parâmetros dependem de escolhas anteriores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Optuna</a:t>
            </a:r>
            <a:r>
              <a:rPr lang="en-US" dirty="0"/>
              <a:t> </a:t>
            </a:r>
            <a:r>
              <a:rPr lang="en-US" dirty="0" err="1"/>
              <a:t>organiza</a:t>
            </a:r>
            <a:r>
              <a:rPr lang="en-US" dirty="0"/>
              <a:t> a </a:t>
            </a:r>
            <a:r>
              <a:rPr lang="en-US" dirty="0" err="1"/>
              <a:t>otimização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meio</a:t>
            </a:r>
            <a:r>
              <a:rPr lang="en-US" dirty="0"/>
              <a:t> de um Study. A </a:t>
            </a:r>
            <a:r>
              <a:rPr lang="en-US" dirty="0" err="1"/>
              <a:t>função</a:t>
            </a:r>
            <a:r>
              <a:rPr lang="en-US" dirty="0"/>
              <a:t> objective define a </a:t>
            </a:r>
            <a:r>
              <a:rPr lang="en-US" dirty="0" err="1"/>
              <a:t>métrica</a:t>
            </a:r>
            <a:r>
              <a:rPr lang="en-US" dirty="0"/>
              <a:t> e o </a:t>
            </a:r>
            <a:r>
              <a:rPr lang="en-US" dirty="0" err="1"/>
              <a:t>espaço</a:t>
            </a:r>
            <a:r>
              <a:rPr lang="en-US" dirty="0"/>
              <a:t> de </a:t>
            </a:r>
            <a:r>
              <a:rPr lang="en-US" dirty="0" err="1"/>
              <a:t>busca</a:t>
            </a:r>
            <a:r>
              <a:rPr lang="en-US" dirty="0"/>
              <a:t>. O sampler </a:t>
            </a:r>
            <a:r>
              <a:rPr lang="en-US" dirty="0" err="1"/>
              <a:t>escolhe</a:t>
            </a:r>
            <a:r>
              <a:rPr lang="en-US" dirty="0"/>
              <a:t> as </a:t>
            </a:r>
            <a:r>
              <a:rPr lang="en-US" dirty="0" err="1"/>
              <a:t>próximas</a:t>
            </a:r>
            <a:r>
              <a:rPr lang="en-US" dirty="0"/>
              <a:t> </a:t>
            </a:r>
            <a:r>
              <a:rPr lang="en-US" dirty="0" err="1"/>
              <a:t>configurações</a:t>
            </a:r>
            <a:r>
              <a:rPr lang="en-US" dirty="0"/>
              <a:t>, e o </a:t>
            </a:r>
            <a:r>
              <a:rPr lang="en-US" dirty="0" err="1"/>
              <a:t>método</a:t>
            </a:r>
            <a:r>
              <a:rPr lang="en-US" dirty="0"/>
              <a:t> optimize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trials. Ao final, o </a:t>
            </a:r>
            <a:r>
              <a:rPr lang="en-US" dirty="0" err="1"/>
              <a:t>best_params</a:t>
            </a:r>
            <a:r>
              <a:rPr lang="en-US" dirty="0"/>
              <a:t> </a:t>
            </a:r>
            <a:r>
              <a:rPr lang="en-US" dirty="0" err="1"/>
              <a:t>retorna</a:t>
            </a:r>
            <a:r>
              <a:rPr lang="en-US" dirty="0"/>
              <a:t> a </a:t>
            </a:r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configuração</a:t>
            </a:r>
            <a:r>
              <a:rPr lang="en-US" dirty="0"/>
              <a:t> </a:t>
            </a:r>
            <a:r>
              <a:rPr lang="en-US" dirty="0" err="1"/>
              <a:t>encontrada</a:t>
            </a:r>
            <a:r>
              <a:rPr lang="en-US" dirty="0"/>
              <a:t>.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podemos</a:t>
            </a:r>
            <a:r>
              <a:rPr lang="en-US" dirty="0"/>
              <a:t> trocar samplers, </a:t>
            </a:r>
            <a:r>
              <a:rPr lang="en-US" dirty="0" err="1"/>
              <a:t>utilizar</a:t>
            </a:r>
            <a:r>
              <a:rPr lang="en-US" dirty="0"/>
              <a:t> pruning, </a:t>
            </a:r>
            <a:r>
              <a:rPr lang="en-US" dirty="0" err="1"/>
              <a:t>persistir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estudos</a:t>
            </a:r>
            <a:r>
              <a:rPr lang="en-US" dirty="0"/>
              <a:t> e </a:t>
            </a:r>
            <a:r>
              <a:rPr lang="en-US" dirty="0" err="1"/>
              <a:t>executar</a:t>
            </a:r>
            <a:r>
              <a:rPr lang="en-US" dirty="0"/>
              <a:t> trials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paralelo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Nesta reprodução, </a:t>
            </a:r>
            <a:r>
              <a:rPr lang="pt-BR" dirty="0" err="1"/>
              <a:t>RandomSampler</a:t>
            </a:r>
            <a:r>
              <a:rPr lang="pt-BR" dirty="0"/>
              <a:t> e </a:t>
            </a:r>
            <a:r>
              <a:rPr lang="pt-BR" dirty="0" err="1"/>
              <a:t>TPESampler</a:t>
            </a:r>
            <a:r>
              <a:rPr lang="pt-BR" dirty="0"/>
              <a:t> utilizam exatamente o mesmo espaço de busca, a mesma semente e o mesmo orçamento de 60 </a:t>
            </a:r>
            <a:r>
              <a:rPr lang="pt-BR" dirty="0" err="1"/>
              <a:t>trials</a:t>
            </a:r>
            <a:r>
              <a:rPr lang="pt-BR" dirty="0"/>
              <a:t>. Isso permite uma comparação justa entre as estratégias. O exemplo é didático, mas a função objetivo pode ser substituída pelo treinamento de um modelo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fidelidade única, todas as configurações treinam até o final. Isso facilita a comparação, mas possui custo elevado. Com múltiplas fidelidades, começamos avaliando muitas configurações com poucas épocas e aumentamos o orçamento apenas das mais promissoras. Essa abordagem depende de uma condição importante: o desempenho inicial precisa informar razoavelmente o resultado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Successive</a:t>
            </a:r>
            <a:r>
              <a:rPr lang="pt-BR" dirty="0"/>
              <a:t> </a:t>
            </a:r>
            <a:r>
              <a:rPr lang="pt-BR" dirty="0" err="1"/>
              <a:t>Halving</a:t>
            </a:r>
            <a:r>
              <a:rPr lang="pt-BR" dirty="0"/>
              <a:t> funciona como um funil. Muitas configurações recebem poucas épocas, e somente uma fração avança para o próximo orçamento. Neste exemplo, começamos com 27 configurações, promovemos nove, depois três e finalmente uma. O </a:t>
            </a:r>
            <a:r>
              <a:rPr lang="pt-BR" dirty="0" err="1"/>
              <a:t>Hyperband</a:t>
            </a:r>
            <a:r>
              <a:rPr lang="pt-BR" dirty="0"/>
              <a:t> executa diferentes versões desse funil para utilizar melhor o orçamento disponível.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BOHB </a:t>
            </a:r>
            <a:r>
              <a:rPr lang="en-US" dirty="0" err="1"/>
              <a:t>combina</a:t>
            </a:r>
            <a:r>
              <a:rPr lang="en-US" dirty="0"/>
              <a:t> o Hyperband com 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probabilístico</a:t>
            </a:r>
            <a:r>
              <a:rPr lang="en-US" dirty="0"/>
              <a:t>. O Hyperband decide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orçamento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configuração</a:t>
            </a:r>
            <a:r>
              <a:rPr lang="en-US" dirty="0"/>
              <a:t> </a:t>
            </a:r>
            <a:r>
              <a:rPr lang="en-US" dirty="0" err="1"/>
              <a:t>recebe</a:t>
            </a:r>
            <a:r>
              <a:rPr lang="en-US" dirty="0"/>
              <a:t>, </a:t>
            </a:r>
            <a:r>
              <a:rPr lang="en-US" dirty="0" err="1"/>
              <a:t>enquanto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orienta</a:t>
            </a:r>
            <a:r>
              <a:rPr lang="en-US" dirty="0"/>
              <a:t> </a:t>
            </a:r>
            <a:r>
              <a:rPr lang="en-US" dirty="0" err="1"/>
              <a:t>novas</a:t>
            </a:r>
            <a:r>
              <a:rPr lang="en-US" dirty="0"/>
              <a:t> </a:t>
            </a:r>
            <a:r>
              <a:rPr lang="en-US" dirty="0" err="1"/>
              <a:t>amostras</a:t>
            </a:r>
            <a:r>
              <a:rPr lang="en-US" dirty="0"/>
              <a:t> para </a:t>
            </a:r>
            <a:r>
              <a:rPr lang="en-US" dirty="0" err="1"/>
              <a:t>regiões</a:t>
            </a:r>
            <a:r>
              <a:rPr lang="en-US" dirty="0"/>
              <a:t> </a:t>
            </a:r>
            <a:r>
              <a:rPr lang="en-US" dirty="0" err="1"/>
              <a:t>promissoras</a:t>
            </a:r>
            <a:r>
              <a:rPr lang="en-US" dirty="0"/>
              <a:t>. No Auto-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orçamentos</a:t>
            </a:r>
            <a:r>
              <a:rPr lang="en-US" dirty="0"/>
              <a:t> </a:t>
            </a:r>
            <a:r>
              <a:rPr lang="en-US" dirty="0" err="1"/>
              <a:t>utilizados</a:t>
            </a:r>
            <a:r>
              <a:rPr lang="en-US" dirty="0"/>
              <a:t> </a:t>
            </a:r>
            <a:r>
              <a:rPr lang="en-US" dirty="0" err="1"/>
              <a:t>foram</a:t>
            </a:r>
            <a:r>
              <a:rPr lang="en-US" dirty="0"/>
              <a:t> 12, 25 e 50 </a:t>
            </a:r>
            <a:r>
              <a:rPr lang="en-US" dirty="0" err="1"/>
              <a:t>épocas</a:t>
            </a:r>
            <a:r>
              <a:rPr lang="en-US" dirty="0"/>
              <a:t>. O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preserva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parcela</a:t>
            </a:r>
            <a:r>
              <a:rPr lang="en-US" dirty="0"/>
              <a:t> de </a:t>
            </a:r>
            <a:r>
              <a:rPr lang="en-US" dirty="0" err="1"/>
              <a:t>amostragem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 para </a:t>
            </a:r>
            <a:r>
              <a:rPr lang="en-US" dirty="0" err="1"/>
              <a:t>continuar</a:t>
            </a:r>
            <a:r>
              <a:rPr lang="en-US" dirty="0"/>
              <a:t> </a:t>
            </a:r>
            <a:r>
              <a:rPr lang="en-US" dirty="0" err="1"/>
              <a:t>explorando</a:t>
            </a:r>
            <a:r>
              <a:rPr lang="en-US" dirty="0"/>
              <a:t> o </a:t>
            </a:r>
            <a:r>
              <a:rPr lang="en-US" dirty="0" err="1"/>
              <a:t>espaço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Auto-PyTorch</a:t>
            </a:r>
            <a:r>
              <a:rPr lang="pt-BR" dirty="0"/>
              <a:t> amplia o problema de HPO para uma pipeline completa de </a:t>
            </a:r>
            <a:r>
              <a:rPr lang="pt-BR" dirty="0" err="1"/>
              <a:t>AutoDL</a:t>
            </a:r>
            <a:r>
              <a:rPr lang="pt-BR" dirty="0"/>
              <a:t>. Ele automatiza pré-processamento, arquitetura, treinamento e seleção de ensembles. O portfólio foi construído com 100 tarefas de meta-treinamento e seleciona 16 configurações para iniciar a busca. É importante observar que o artigo utiliza BOHB nos experimentos, e não </a:t>
            </a:r>
            <a:r>
              <a:rPr lang="pt-BR" dirty="0" err="1"/>
              <a:t>Optuna</a:t>
            </a:r>
            <a:r>
              <a:rPr lang="pt-B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pipeline </a:t>
            </a:r>
            <a:r>
              <a:rPr lang="en-US" dirty="0" err="1"/>
              <a:t>possui</a:t>
            </a:r>
            <a:r>
              <a:rPr lang="en-US" dirty="0"/>
              <a:t> </a:t>
            </a:r>
            <a:r>
              <a:rPr lang="en-US" dirty="0" err="1"/>
              <a:t>quatro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</a:t>
            </a:r>
            <a:r>
              <a:rPr lang="en-US" dirty="0" err="1"/>
              <a:t>principais</a:t>
            </a:r>
            <a:r>
              <a:rPr lang="en-US" dirty="0"/>
              <a:t>. O </a:t>
            </a:r>
            <a:r>
              <a:rPr lang="en-US" dirty="0" err="1"/>
              <a:t>portfólio</a:t>
            </a:r>
            <a:r>
              <a:rPr lang="en-US" dirty="0"/>
              <a:t> </a:t>
            </a:r>
            <a:r>
              <a:rPr lang="en-US" dirty="0" err="1"/>
              <a:t>fornece</a:t>
            </a:r>
            <a:r>
              <a:rPr lang="en-US" dirty="0"/>
              <a:t> boas </a:t>
            </a:r>
            <a:r>
              <a:rPr lang="en-US" dirty="0" err="1"/>
              <a:t>configurações</a:t>
            </a:r>
            <a:r>
              <a:rPr lang="en-US" dirty="0"/>
              <a:t> </a:t>
            </a:r>
            <a:r>
              <a:rPr lang="en-US" dirty="0" err="1"/>
              <a:t>iniciais</a:t>
            </a:r>
            <a:r>
              <a:rPr lang="en-US" dirty="0"/>
              <a:t>. O BOHB </a:t>
            </a:r>
            <a:r>
              <a:rPr lang="en-US" dirty="0" err="1"/>
              <a:t>realiza</a:t>
            </a:r>
            <a:r>
              <a:rPr lang="en-US" dirty="0"/>
              <a:t> a </a:t>
            </a:r>
            <a:r>
              <a:rPr lang="en-US" dirty="0" err="1"/>
              <a:t>busca</a:t>
            </a:r>
            <a:r>
              <a:rPr lang="en-US" dirty="0"/>
              <a:t> com </a:t>
            </a:r>
            <a:r>
              <a:rPr lang="en-US" dirty="0" err="1"/>
              <a:t>múltiplas</a:t>
            </a:r>
            <a:r>
              <a:rPr lang="en-US" dirty="0"/>
              <a:t> </a:t>
            </a:r>
            <a:r>
              <a:rPr lang="en-US" dirty="0" err="1"/>
              <a:t>fidelidades</a:t>
            </a:r>
            <a:r>
              <a:rPr lang="en-US" dirty="0"/>
              <a:t>. A pipeline </a:t>
            </a:r>
            <a:r>
              <a:rPr lang="en-US" dirty="0" err="1"/>
              <a:t>constrói</a:t>
            </a:r>
            <a:r>
              <a:rPr lang="en-US" dirty="0"/>
              <a:t> e </a:t>
            </a:r>
            <a:r>
              <a:rPr lang="en-US" dirty="0" err="1"/>
              <a:t>treina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, e o ensemble </a:t>
            </a:r>
            <a:r>
              <a:rPr lang="en-US" dirty="0" err="1"/>
              <a:t>combina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avaliados</a:t>
            </a:r>
            <a:r>
              <a:rPr lang="en-US" dirty="0"/>
              <a:t>. Esse conjunto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incluir</a:t>
            </a:r>
            <a:r>
              <a:rPr lang="en-US" dirty="0"/>
              <a:t> redes </a:t>
            </a:r>
            <a:r>
              <a:rPr lang="en-US" dirty="0" err="1"/>
              <a:t>neurais</a:t>
            </a:r>
            <a:r>
              <a:rPr lang="en-US" dirty="0"/>
              <a:t>, Random Forest, Extra Trees,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 e k-NN.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LCBench</a:t>
            </a:r>
            <a:r>
              <a:rPr lang="pt-BR" dirty="0"/>
              <a:t> reúne curvas de 2.000 configurações em 35 </a:t>
            </a:r>
            <a:r>
              <a:rPr lang="pt-BR" dirty="0" err="1"/>
              <a:t>datasets</a:t>
            </a:r>
            <a:r>
              <a:rPr lang="pt-BR" dirty="0"/>
              <a:t>, com três sementes e três níveis de orçamento. A coleta exigiu aproximadamente 1.500 horas de CPU. As correlações de </a:t>
            </a:r>
            <a:r>
              <a:rPr lang="pt-BR" dirty="0" err="1"/>
              <a:t>Spearman</a:t>
            </a:r>
            <a:r>
              <a:rPr lang="pt-BR" dirty="0"/>
              <a:t> entre fidelidades ficaram entre 0,88 e 0,96, indicando que o desempenho inicial geralmente fornece informação sobre o resultado final. Um portfólio de dez configurações alcançou arrependimento médio inferior a 0,1%.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covertype</a:t>
            </a:r>
            <a:r>
              <a:rPr lang="pt-BR" dirty="0"/>
              <a:t>, o erro caiu de 31,78%, com o </a:t>
            </a:r>
            <a:r>
              <a:rPr lang="pt-BR" dirty="0" err="1"/>
              <a:t>AutoNet</a:t>
            </a:r>
            <a:r>
              <a:rPr lang="pt-BR" dirty="0"/>
              <a:t> 2.0, para 3,14%, com o </a:t>
            </a:r>
            <a:r>
              <a:rPr lang="pt-BR" dirty="0" err="1"/>
              <a:t>Auto-PyTorch</a:t>
            </a:r>
            <a:r>
              <a:rPr lang="pt-BR" dirty="0"/>
              <a:t>. Nas tarefas maiores, três </a:t>
            </a:r>
            <a:r>
              <a:rPr lang="pt-BR" dirty="0" err="1"/>
              <a:t>workers</a:t>
            </a:r>
            <a:r>
              <a:rPr lang="pt-BR" dirty="0"/>
              <a:t> alcançaram aceleração de três vezes ou mais. Porém, com ensemble e </a:t>
            </a:r>
            <a:r>
              <a:rPr lang="pt-BR" dirty="0" err="1"/>
              <a:t>stacking</a:t>
            </a:r>
            <a:r>
              <a:rPr lang="pt-BR" dirty="0"/>
              <a:t>, o </a:t>
            </a:r>
            <a:r>
              <a:rPr lang="pt-BR" dirty="0" err="1"/>
              <a:t>AutoGluon</a:t>
            </a:r>
            <a:r>
              <a:rPr lang="pt-BR" dirty="0"/>
              <a:t> apresentou uma pequena vantagem. Portanto, os resultados são fortes, mas não demonstram superioridade 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Grid Search é indicado para espaços pequenos. O Random Search é um baseline simples e paralelizável. O TPE com </a:t>
            </a:r>
            <a:r>
              <a:rPr lang="pt-BR" dirty="0" err="1"/>
              <a:t>Optuna</a:t>
            </a:r>
            <a:r>
              <a:rPr lang="pt-BR" dirty="0"/>
              <a:t> é interessante quando as avaliações são caras e existe histórico útil. O BOHB é adequado quando há métricas intermediárias confiáveis. Já o </a:t>
            </a:r>
            <a:r>
              <a:rPr lang="pt-BR" dirty="0" err="1"/>
              <a:t>Auto-PyTorch</a:t>
            </a:r>
            <a:r>
              <a:rPr lang="pt-BR" dirty="0"/>
              <a:t> atende ao cenário de automação de uma pipeline tabular completa. </a:t>
            </a:r>
            <a:r>
              <a:rPr lang="pt-BR" dirty="0" err="1"/>
              <a:t>Optuna</a:t>
            </a:r>
            <a:r>
              <a:rPr lang="pt-BR" dirty="0"/>
              <a:t> é uma biblioteca de HPO, enquanto </a:t>
            </a:r>
            <a:r>
              <a:rPr lang="pt-BR" dirty="0" err="1"/>
              <a:t>Auto-PyTorch</a:t>
            </a:r>
            <a:r>
              <a:rPr lang="pt-BR" dirty="0"/>
              <a:t> é um sistema </a:t>
            </a:r>
            <a:r>
              <a:rPr lang="pt-BR" dirty="0" err="1"/>
              <a:t>AutoDL</a:t>
            </a:r>
            <a:endParaRPr lang="pt-BR" dirty="0" err="1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resultados dependem das tarefas e do espaço de busca utilizado. O estudo de </a:t>
            </a:r>
            <a:r>
              <a:rPr lang="pt-BR" dirty="0" err="1"/>
              <a:t>Bergstra</a:t>
            </a:r>
            <a:r>
              <a:rPr lang="pt-BR" dirty="0"/>
              <a:t> apresenta uma comparação sequencial detalhada em poucas tarefas, e um modelo substituto inadequado pode direcionar a busca para regiões ruins. No </a:t>
            </a:r>
            <a:r>
              <a:rPr lang="pt-BR" dirty="0" err="1"/>
              <a:t>Auto-PyTorch</a:t>
            </a:r>
            <a:r>
              <a:rPr lang="pt-BR" dirty="0"/>
              <a:t>, a avaliação principal utiliza apenas oito </a:t>
            </a:r>
            <a:r>
              <a:rPr lang="pt-BR" dirty="0" err="1"/>
              <a:t>datasets</a:t>
            </a:r>
            <a:r>
              <a:rPr lang="pt-BR" dirty="0"/>
              <a:t> de meta-teste. Além disso, o portfólio depende de tarefas anteriores representativas e o ensemble pode </a:t>
            </a:r>
            <a:r>
              <a:rPr lang="pt-BR" dirty="0" err="1"/>
              <a:t>sobreajustar</a:t>
            </a:r>
            <a:r>
              <a:rPr lang="pt-BR" dirty="0"/>
              <a:t> a validação reutilizada durante a busca.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Podemos </a:t>
            </a:r>
            <a:r>
              <a:rPr lang="en-US" dirty="0" err="1">
                <a:solidFill>
                  <a:srgbClr val="000000"/>
                </a:solidFill>
              </a:rPr>
              <a:t>resumir</a:t>
            </a:r>
            <a:r>
              <a:rPr lang="en-US" dirty="0">
                <a:solidFill>
                  <a:srgbClr val="000000"/>
                </a:solidFill>
              </a:rPr>
              <a:t> a apresentação em cinco pontos. Grid Search funciona em espaços pequenos, mas escala mal. Random Search continua sendo um baseline forte. O TPE utiliza o histórico para orientar novas avaliações. O BOHB distribui o orçamento entre as configurações. Por fim, o Auto-PyTorch integra otimização, meta-learning e ensemble em um </a:t>
            </a:r>
            <a:r>
              <a:rPr lang="en-US" dirty="0" err="1">
                <a:solidFill>
                  <a:srgbClr val="000000"/>
                </a:solidFill>
              </a:rPr>
              <a:t>sistema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AutoDL</a:t>
            </a:r>
            <a:endParaRPr lang="pt-BR" dirty="0" err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Entre os trabalhos futuros estão melhorar a generalização dos ensembles, integrar modelos neurais e tradicionais, ampliar o </a:t>
            </a:r>
            <a:r>
              <a:rPr lang="pt-BR" dirty="0" err="1"/>
              <a:t>LCBench</a:t>
            </a:r>
            <a:r>
              <a:rPr lang="pt-BR" dirty="0"/>
              <a:t> com </a:t>
            </a:r>
            <a:r>
              <a:rPr lang="pt-BR" dirty="0" err="1"/>
              <a:t>datasets</a:t>
            </a:r>
            <a:r>
              <a:rPr lang="pt-BR" dirty="0"/>
              <a:t> maiores e mais fidelidades, restringir o espaço aos </a:t>
            </a:r>
            <a:r>
              <a:rPr lang="pt-BR" dirty="0" err="1"/>
              <a:t>hiperparâmetros</a:t>
            </a:r>
            <a:r>
              <a:rPr lang="pt-BR" dirty="0"/>
              <a:t> mais relevantes e expandir o sistema para imagens e outras modalidades.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Obrigado pela atenção. Agora fico disponível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0DCD7-9B51-4059-A847-4C7D6D4C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027" y="1828799"/>
            <a:ext cx="9758566" cy="3048001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marL="0">
              <a:buNone/>
              <a:defRPr sz="4400">
                <a:solidFill>
                  <a:srgbClr val="CBCBCB"/>
                </a:solidFill>
              </a:defRPr>
            </a:lvl1pPr>
          </a:lstStyle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4DBA47-F81D-43F8-9CE1-9EFD311AF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285" y="5029200"/>
            <a:ext cx="9749307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DBA33A-1153-466B-96EB-8D314F2D8A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Adicionar um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3ECFFB-EE31-4A8A-89C5-1CD40C7409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2894448B-5AE4-4A52-87B1-0ED7AA1BF8E1}" type="datetime1">
              <a:t>21/09/2026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A860A22D-6741-4B79-94E6-87D21FC55D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04E3B-3172-420E-88C1-FDF63FC8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61B62A-D88C-4027-9B9B-A7E3EDCC8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/>
            </a:lvl6pPr>
            <a:lvl7pPr>
              <a:buNone/>
              <a:defRPr baseline="0"/>
            </a:lvl7pPr>
            <a:lvl8pPr>
              <a:buNone/>
              <a:defRPr baseline="0"/>
            </a:lvl8pPr>
            <a:lvl9pPr>
              <a:buNone/>
              <a:defRPr baseline="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584824-2557-4EB2-B242-7154690919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FF2FD-4979-4B2B-AA74-2B0B99222B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68AFF84-C7CF-4DC0-B5A1-C5E5A9B75282}" type="datetime1">
              <a:t>21/09/2026</a:t>
            </a:fld>
            <a:endParaRPr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3D01112-22B4-4CA9-B074-D8261CA188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0069B-D0A2-48DB-901B-61E59F0C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4F3B39-C795-4C08-8E66-74BFB19A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27" y="1828800"/>
            <a:ext cx="5049338" cy="4343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600"/>
            </a:lvl6pPr>
            <a:lvl7pPr>
              <a:buNone/>
              <a:defRPr sz="1600" baseline="0"/>
            </a:lvl7pPr>
            <a:lvl8pPr>
              <a:buNone/>
              <a:defRPr sz="1600" baseline="0"/>
            </a:lvl8pPr>
            <a:lvl9pPr>
              <a:buNone/>
              <a:defRPr sz="1600" baseline="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16D532-E97F-4AD5-8404-E6CD8D9FC83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78389" y="1828800"/>
            <a:ext cx="4464496" cy="4343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D72127-401B-44C2-AD34-E30D8B22A2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CDA7BD-E5F8-4F68-ACD7-E119AAA863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6BEDDED-DAF7-46A3-87E6-F4FD3172A0A9}" type="datetime1">
              <a:t>21/09/2026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9DC0809-416E-4D38-B6BF-347050F3DF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FA2EE-D19B-4ED2-BBC4-4FF67DD0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C9123-BD23-4E8D-B6B0-596D03AB4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26" y="1828800"/>
            <a:ext cx="5625401" cy="4343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600"/>
            </a:lvl6pPr>
            <a:lvl7pPr>
              <a:buNone/>
              <a:defRPr sz="1600" baseline="0"/>
            </a:lvl7pPr>
            <a:lvl8pPr>
              <a:buNone/>
              <a:defRPr sz="1600" baseline="0"/>
            </a:lvl8pPr>
            <a:lvl9pPr>
              <a:buNone/>
              <a:defRPr sz="1600" baseline="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F83D39-A273-48B6-964E-B299A2A69F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B81449-2B16-43DB-B96D-8722FDCA06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6BEDDED-DAF7-46A3-87E6-F4FD3172A0A9}" type="datetime1">
              <a:t>21/09/2026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D61EFC7E-4467-457E-8113-E1B93E594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1CF0EA7E-2CF5-44F7-A9BD-E84F985033A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742484" y="908721"/>
            <a:ext cx="3628654" cy="5328568"/>
          </a:xfrm>
        </p:spPr>
        <p:txBody>
          <a:bodyPr anchor="ctr">
            <a:normAutofit/>
          </a:bodyPr>
          <a:lstStyle>
            <a:lvl1pPr marL="4572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29B60-F0E9-4227-AA3D-A6448499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1A81A4-931D-4BD1-BB63-9CB42F14CF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1E459A-F89B-4D69-958C-E9C3F3238A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6BEDDED-DAF7-46A3-87E6-F4FD3172A0A9}" type="datetime1">
              <a:t>21/09/2026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F0E267CC-E9ED-4CF4-85A7-A9FA4ABED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288FC5BA-91BC-4194-A1AB-DDA1CCBFED4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2673" y="191611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EB9301E5-5C8B-4FAE-BF59-BC1A62CD666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096732" y="192178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/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A823075D-B2CB-44F0-BDA5-F156885E275D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590684" y="191611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5A689590-5687-4A07-B385-129996E13D2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02671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8" name="Espaço Reservado para Texto 16">
            <a:extLst>
              <a:ext uri="{FF2B5EF4-FFF2-40B4-BE49-F238E27FC236}">
                <a16:creationId xmlns:a16="http://schemas.microsoft.com/office/drawing/2014/main" id="{7114ECFB-77B3-46BF-82E4-0BED5E88BFC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096668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9" name="Espaço Reservado para Texto 16">
            <a:extLst>
              <a:ext uri="{FF2B5EF4-FFF2-40B4-BE49-F238E27FC236}">
                <a16:creationId xmlns:a16="http://schemas.microsoft.com/office/drawing/2014/main" id="{B7815144-E3D4-4427-9F62-7447BB9A1C2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590356" y="386466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20" name="Espaço Reservado para Imagem 14">
            <a:extLst>
              <a:ext uri="{FF2B5EF4-FFF2-40B4-BE49-F238E27FC236}">
                <a16:creationId xmlns:a16="http://schemas.microsoft.com/office/drawing/2014/main" id="{566C7318-BF75-468D-956E-A455C0823D6B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8084327" y="191225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/>
          </a:p>
        </p:txBody>
      </p:sp>
      <p:sp>
        <p:nvSpPr>
          <p:cNvPr id="21" name="Espaço Reservado para Texto 16">
            <a:extLst>
              <a:ext uri="{FF2B5EF4-FFF2-40B4-BE49-F238E27FC236}">
                <a16:creationId xmlns:a16="http://schemas.microsoft.com/office/drawing/2014/main" id="{B8E0B716-EE33-4DB7-8767-3C1A027ABCE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083999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DF446-0C2F-4EA0-BF9C-92FFE818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11423004" cy="1325562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928F0E-6D22-47F9-A5E8-A77CEB7C0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3026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FA7419-7F87-4910-9109-EA42472B0F0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3026" y="2743200"/>
            <a:ext cx="4709160" cy="3428999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D699FC-DBA1-4F8C-81DE-0E04CB4F7C0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657466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EBA82A-B897-44AF-934C-E12CAD6E6AB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657466" y="2743200"/>
            <a:ext cx="4709160" cy="3428999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 baseline="0"/>
            </a:lvl8pPr>
            <a:lvl9pPr>
              <a:buNone/>
              <a:defRPr sz="1400" baseline="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568627-9252-411C-AAA9-C42BDEF62A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90F41D-55D3-4025-9B1D-2C0941E7BF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31E21C03-1418-4791-8E80-1AB8ADDC5309}" type="datetime1">
              <a:t>21/09/2026</a:t>
            </a:fld>
            <a:endParaRPr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7607544B-1135-4B61-B091-3705B3922F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41BA6-6CF1-4F4E-BDA8-F55F01B8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BF4445-F003-4ACB-8490-8B7D04850D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7AF1C7-30B1-416F-AFDB-33E27E5068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4916D8CC-B21A-495D-8E3A-7327C849E219}" type="datetime1">
              <a:t>21/09/2026</a:t>
            </a:fld>
            <a:endParaRPr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52E85B8-32D3-4A98-812F-1420E71639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E287EA-3520-43C8-A7F5-87E7C6EEBD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Adicionar um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48AFAFF-8208-41EE-829C-BF82C130EF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61909410-498E-4526-95B1-75B98C9EB916}" type="datetime1">
              <a:t>21/09/2026</a:t>
            </a:fld>
            <a:endParaRPr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5990EB6-66A2-45B0-849C-F802C40A5B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4B0C90B-D4C0-41D9-9723-FE72C98239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698A1C-7069-4B42-B3D3-72A0C2D3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algn="l">
              <a:buNone/>
              <a:defRPr sz="4000" b="1">
                <a:solidFill>
                  <a:srgbClr val="CBCBCB"/>
                </a:solidFill>
              </a:defRPr>
            </a:lvl1pPr>
          </a:lstStyle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9E2A60-8A10-455E-BB55-484E0A569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348" y="685800"/>
            <a:ext cx="4853245" cy="5486400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3B8666-F0EC-41A2-900B-40D40271D9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com legenda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344E99D-2B6D-4032-81E5-1CFF6C2F75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4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C8F87-CE94-4056-B930-0226FCE9A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348" y="1988840"/>
            <a:ext cx="4853245" cy="4536504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1858282F-C579-4F26-AF8C-B2B51FE54AC7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5180013" cy="6858000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9841EEA5-B383-4950-89C1-7C5C3ECE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348" y="274638"/>
            <a:ext cx="4853246" cy="1570186"/>
          </a:xfrm>
          <a:prstGeom prst="rect">
            <a:avLst/>
          </a:prstGeom>
          <a:noFill/>
        </p:spPr>
        <p:txBody>
          <a:bodyPr anchor="b"/>
          <a:lstStyle>
            <a:lvl1pPr marL="0">
              <a:buNone/>
              <a:defRPr>
                <a:solidFill>
                  <a:srgbClr val="CBCBCB"/>
                </a:solidFill>
              </a:defRPr>
            </a:lvl1pPr>
          </a:lstStyle>
          <a:p>
            <a:r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com legenda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A0A0D641-76A8-474A-A589-B7886484AD2F}"/>
              </a:ext>
            </a:extLst>
          </p:cNvPr>
          <p:cNvSpPr>
            <a:spLocks noGrp="1"/>
          </p:cNvSpPr>
          <p:nvPr/>
        </p:nvSpPr>
        <p:spPr>
          <a:xfrm>
            <a:off x="5950396" y="0"/>
            <a:ext cx="5040560" cy="6857999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 sz="14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C6C8C3-C966-47A3-9C53-30CB82AB2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88" y="1988840"/>
            <a:ext cx="4464497" cy="4550296"/>
          </a:xfrm>
        </p:spPr>
        <p:txBody>
          <a:bodyPr>
            <a:normAutofit/>
          </a:bodyPr>
          <a:lstStyle>
            <a:lvl1pPr marL="45720" indent="0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274320" indent="0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2pPr>
            <a:lvl3pPr marL="502920" indent="0"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3pPr>
            <a:lvl4pPr marL="7315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4pPr>
            <a:lvl5pPr marL="9601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AC98CB36-A9BD-4AA3-90F8-B70E84E5D76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374332" y="274638"/>
            <a:ext cx="1964702" cy="3047348"/>
          </a:xfrm>
          <a:prstGeom prst="rect">
            <a:avLst/>
          </a:prstGeom>
          <a:ln>
            <a:solidFill>
              <a:srgbClr val="CBCBCB"/>
            </a:solidFill>
          </a:ln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7DB0C0-F732-4BAE-812C-879C6D54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87" y="274638"/>
            <a:ext cx="4464497" cy="1570186"/>
          </a:xfrm>
          <a:prstGeom prst="rect">
            <a:avLst/>
          </a:prstGeom>
          <a:noFill/>
        </p:spPr>
        <p:txBody>
          <a:bodyPr anchor="b"/>
          <a:lstStyle>
            <a:lvl1pPr marL="0">
              <a:buNone/>
              <a:defRPr>
                <a:solidFill>
                  <a:srgbClr val="CBCBCB"/>
                </a:solidFill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9" name="Espaço Reservado para Imagem 10">
            <a:extLst>
              <a:ext uri="{FF2B5EF4-FFF2-40B4-BE49-F238E27FC236}">
                <a16:creationId xmlns:a16="http://schemas.microsoft.com/office/drawing/2014/main" id="{C4D1677B-651A-418D-B9AF-A3ED9638120C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374332" y="3491788"/>
            <a:ext cx="1964702" cy="3047348"/>
          </a:xfrm>
          <a:prstGeom prst="rect">
            <a:avLst/>
          </a:prstGeom>
          <a:ln>
            <a:solidFill>
              <a:srgbClr val="CBCBCB"/>
            </a:solidFill>
          </a:ln>
        </p:spPr>
        <p:txBody>
          <a:bodyPr>
            <a:normAutofit/>
          </a:bodyPr>
          <a:lstStyle>
            <a:lvl1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9E21E5D5-FC16-4F12-9A3A-2BFF78697E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462565" y="274638"/>
            <a:ext cx="3096343" cy="3047348"/>
          </a:xfrm>
        </p:spPr>
        <p:txBody>
          <a:bodyPr anchor="ctr">
            <a:normAutofit/>
          </a:bodyPr>
          <a:lstStyle>
            <a:lvl1pPr marL="457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  <a:lvl2pPr marL="560070" indent="-285750"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2pPr>
            <a:lvl3pPr marL="674370" indent="-171450">
              <a:buClr>
                <a:schemeClr val="bg1"/>
              </a:buClr>
              <a:buFont typeface="Arial"/>
              <a:buChar char="•"/>
              <a:defRPr sz="1200">
                <a:solidFill>
                  <a:schemeClr val="bg1"/>
                </a:solidFill>
              </a:defRPr>
            </a:lvl3pPr>
            <a:lvl4pPr marL="902970" indent="-171450">
              <a:buClr>
                <a:schemeClr val="bg1"/>
              </a:buClr>
              <a:buFont typeface="Arial"/>
              <a:buChar char="•"/>
              <a:defRPr sz="1100">
                <a:solidFill>
                  <a:schemeClr val="bg1"/>
                </a:solidFill>
              </a:defRPr>
            </a:lvl4pPr>
            <a:lvl5pPr marL="1131570" indent="-171450">
              <a:buClr>
                <a:schemeClr val="bg1"/>
              </a:buClr>
              <a:buFont typeface="Arial"/>
              <a:buChar char="•"/>
              <a:defRPr sz="11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17315B4D-80E3-498A-87A1-3BA43AE27A5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470525" y="3491788"/>
            <a:ext cx="3096343" cy="3047348"/>
          </a:xfrm>
        </p:spPr>
        <p:txBody>
          <a:bodyPr anchor="ctr">
            <a:normAutofit/>
          </a:bodyPr>
          <a:lstStyle>
            <a:lvl1pPr marL="457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  <a:lvl2pPr marL="560070" indent="-285750"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2pPr>
            <a:lvl3pPr marL="674370" indent="-171450">
              <a:buClr>
                <a:schemeClr val="bg1"/>
              </a:buClr>
              <a:buFont typeface="Arial"/>
              <a:buChar char="•"/>
              <a:defRPr sz="1200">
                <a:solidFill>
                  <a:schemeClr val="bg1"/>
                </a:solidFill>
              </a:defRPr>
            </a:lvl3pPr>
            <a:lvl4pPr marL="902970" indent="-171450">
              <a:buClr>
                <a:schemeClr val="bg1"/>
              </a:buClr>
              <a:buFont typeface="Arial"/>
              <a:buChar char="•"/>
              <a:defRPr sz="1100">
                <a:solidFill>
                  <a:schemeClr val="bg1"/>
                </a:solidFill>
              </a:defRPr>
            </a:lvl4pPr>
            <a:lvl5pPr marL="1131570" indent="-171450">
              <a:buClr>
                <a:schemeClr val="bg1"/>
              </a:buClr>
              <a:buFont typeface="Arial"/>
              <a:buChar char="•"/>
              <a:defRPr sz="1100">
                <a:solidFill>
                  <a:schemeClr val="bg1"/>
                </a:solidFill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0AB7F2-D554-427B-8B5F-D7CF4EFD9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04" y="1828800"/>
            <a:ext cx="5544616" cy="4480520"/>
          </a:xfrm>
        </p:spPr>
        <p:txBody>
          <a:bodyPr anchor="b">
            <a:normAutofit/>
          </a:bodyPr>
          <a:lstStyle>
            <a:lvl1pPr marL="388620" indent="-342900">
              <a:buClr>
                <a:schemeClr val="bg1"/>
              </a:buClr>
              <a:buFont typeface="Arial"/>
              <a:buChar char="•"/>
              <a:defRPr sz="2000">
                <a:solidFill>
                  <a:schemeClr val="bg1"/>
                </a:solidFill>
              </a:defRPr>
            </a:lvl1pPr>
            <a:lvl2pPr marL="2743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029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 marL="7315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 marL="9601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  <a:lvl6pPr>
              <a:buNone/>
              <a:defRPr/>
            </a:lvl6pPr>
            <a:lvl7pPr>
              <a:buNone/>
              <a:defRPr baseline="0"/>
            </a:lvl7pPr>
            <a:lvl8pPr>
              <a:buNone/>
              <a:defRPr baseline="0"/>
            </a:lvl8pPr>
            <a:lvl9pPr>
              <a:buNone/>
              <a:defRPr baseline="0"/>
            </a:lvl9pPr>
          </a:lstStyle>
          <a:p>
            <a:pPr lvl="0">
              <a:buNone/>
            </a:pPr>
            <a:r>
              <a:t>Clique para editar o texto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58F8974-B476-486C-948F-974533C1D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11423004" cy="1325562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/>
          <a:p>
            <a:pPr>
              <a:buNone/>
            </a:pPr>
            <a:r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435762-70B7-4FCA-B38F-0B3D59193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804" y="1828800"/>
            <a:ext cx="9721080" cy="43434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Clique para editar o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146DCC-82CD-4352-A9B1-65FB8D824C8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13026" y="6448427"/>
            <a:ext cx="6616043" cy="18097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Adicionar um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72CAD8-072E-4F9F-BC12-51828A622E4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556003" y="6448427"/>
            <a:ext cx="1391604" cy="18097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8EB16A4D-B1E0-4F33-84EC-EFA959A70698}" type="datetime1">
              <a:t>21/09/2026</a:t>
            </a:fld>
            <a:endParaRPr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D8751F1-0F03-4F5C-98E3-91CD8F25B7C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9232403" y="6448427"/>
            <a:ext cx="1139190" cy="18097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0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F36C87F6-986D-49E6-AF40-1B3A1EE8064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540000" algn="l" defTabSz="914400">
        <a:lnSpc>
          <a:spcPct val="90000"/>
        </a:lnSpc>
        <a:spcBef>
          <a:spcPct val="0"/>
        </a:spcBef>
        <a:buNone/>
        <a:defRPr sz="4000" b="1" kern="1200" cap="all" baseline="0">
          <a:solidFill>
            <a:srgbClr val="000953"/>
          </a:solidFill>
          <a:latin typeface="+mj-lt"/>
          <a:ea typeface="+mj-lt"/>
          <a:cs typeface="+mj-lt"/>
        </a:defRPr>
      </a:lvl1pPr>
    </p:titleStyle>
    <p:bodyStyle>
      <a:lvl1pPr marL="274320" indent="-228600" algn="l" defTabSz="914400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02920" indent="-228600" algn="l" defTabSz="914400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731520" indent="-228600" algn="l" defTabSz="914400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960120" indent="-228600" algn="l" defTabSz="914400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188720" indent="-228600" algn="l" defTabSz="914400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417320" indent="-228600" algn="l" defTabSz="914400"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645920" indent="-228600" algn="l" defTabSz="914400"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874520" indent="-228600" algn="l" defTabSz="914400"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1874520" indent="0" algn="l" defTabSz="914400">
        <a:spcBef>
          <a:spcPts val="600"/>
        </a:spcBef>
        <a:buClr>
          <a:schemeClr val="accent1">
            <a:lumMod val="50000"/>
          </a:schemeClr>
        </a:buClr>
        <a:buSzPct val="80000"/>
        <a:buFont typeface="Arial"/>
        <a:buNone/>
        <a:defRPr sz="1600" kern="1200" baseline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5244877-2B08-4A05-9BD0-306A48BD48C3}"/>
              </a:ext>
            </a:extLst>
          </p:cNvPr>
          <p:cNvSpPr>
            <a:spLocks noGrp="1"/>
          </p:cNvSpPr>
          <p:nvPr/>
        </p:nvSpPr>
        <p:spPr>
          <a:xfrm>
            <a:off x="400050" y="3295650"/>
            <a:ext cx="714375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OTIMIZAÇÃO DE</a:t>
            </a:r>
          </a:p>
          <a:p>
            <a:pPr algn="l">
              <a:defRPr sz="29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HIPERPARÂMETROS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4F53626-20B4-4DE6-A7DE-FABB31C778CE}"/>
              </a:ext>
            </a:extLst>
          </p:cNvPr>
          <p:cNvSpPr>
            <a:spLocks noGrp="1"/>
          </p:cNvSpPr>
          <p:nvPr/>
        </p:nvSpPr>
        <p:spPr>
          <a:xfrm>
            <a:off x="419100" y="4514850"/>
            <a:ext cx="676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Grid Search, Random Search, TPE, Optuna e AutoDL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51877A6-B8E5-41DD-89FF-D4A246BB6F84}"/>
              </a:ext>
            </a:extLst>
          </p:cNvPr>
          <p:cNvSpPr>
            <a:spLocks noGrp="1"/>
          </p:cNvSpPr>
          <p:nvPr/>
        </p:nvSpPr>
        <p:spPr>
          <a:xfrm>
            <a:off x="419100" y="5581650"/>
            <a:ext cx="685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Bergstra et al. (2011)  ·  Zimmer, Lindauer e Hutter (2021)</a:t>
            </a:r>
          </a:p>
        </p:txBody>
      </p:sp>
    </p:spTree>
    <p:extLst>
      <p:ext uri="{BB962C8B-B14F-4D97-AF65-F5344CB8AC3E}">
        <p14:creationId xmlns:p14="http://schemas.microsoft.com/office/powerpoint/2010/main" val="369193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E6281742-A283-4E77-B5B3-A2490C91C505}"/>
              </a:ext>
            </a:extLst>
          </p:cNvPr>
          <p:cNvSpPr>
            <a:spLocks noGrp="1"/>
          </p:cNvSpPr>
          <p:nvPr/>
        </p:nvSpPr>
        <p:spPr>
          <a:xfrm>
            <a:off x="647700" y="2990850"/>
            <a:ext cx="914400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7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Como encontrar boas configurações</a:t>
            </a:r>
          </a:p>
          <a:p>
            <a:pPr algn="l">
              <a:defRPr sz="27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7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sem treinar tudo até o fim?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201BE3-AE0F-48BD-964E-3E96AD1EA297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Da busca exaustiva a sistemas AutoDL com múltiplas fidelidades</a:t>
            </a:r>
          </a:p>
        </p:txBody>
      </p:sp>
    </p:spTree>
    <p:extLst>
      <p:ext uri="{BB962C8B-B14F-4D97-AF65-F5344CB8AC3E}">
        <p14:creationId xmlns:p14="http://schemas.microsoft.com/office/powerpoint/2010/main" val="28870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72DCDBD-C23A-4699-ADFA-9B9C61B94542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3619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AGENDA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F9330A-4D00-4A7B-B112-E012366D8A3D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905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85C68E-7D39-4788-96C3-96E72160DFC3}"/>
              </a:ext>
            </a:extLst>
          </p:cNvPr>
          <p:cNvSpPr>
            <a:spLocks noGrp="1"/>
          </p:cNvSpPr>
          <p:nvPr/>
        </p:nvSpPr>
        <p:spPr>
          <a:xfrm>
            <a:off x="1371600" y="13906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Problema de HPO e espaço de busca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5B9967B-30A6-4193-864E-28B22B7989BF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5905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6830CA-2C48-4831-9861-F25DF5434E3A}"/>
              </a:ext>
            </a:extLst>
          </p:cNvPr>
          <p:cNvSpPr>
            <a:spLocks noGrp="1"/>
          </p:cNvSpPr>
          <p:nvPr/>
        </p:nvSpPr>
        <p:spPr>
          <a:xfrm>
            <a:off x="1371600" y="23241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Grid Search, Random Search e TPE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907F1A9-F088-4829-A403-9DE3D308289D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5905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FC460FF-EE62-4312-B43C-FF42B1528A4E}"/>
              </a:ext>
            </a:extLst>
          </p:cNvPr>
          <p:cNvSpPr>
            <a:spLocks noGrp="1"/>
          </p:cNvSpPr>
          <p:nvPr/>
        </p:nvSpPr>
        <p:spPr>
          <a:xfrm>
            <a:off x="1371600" y="32575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Optuna e múltiplas fidelidades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F6E6318-2D6B-45DF-9CF9-415F552F6CF3}"/>
              </a:ext>
            </a:extLst>
          </p:cNvPr>
          <p:cNvSpPr>
            <a:spLocks noGrp="1"/>
          </p:cNvSpPr>
          <p:nvPr/>
        </p:nvSpPr>
        <p:spPr>
          <a:xfrm>
            <a:off x="698659" y="4064127"/>
            <a:ext cx="5905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FA07889-B5F4-4BC5-B86C-D8DE149A5CB5}"/>
              </a:ext>
            </a:extLst>
          </p:cNvPr>
          <p:cNvSpPr>
            <a:spLocks noGrp="1"/>
          </p:cNvSpPr>
          <p:nvPr/>
        </p:nvSpPr>
        <p:spPr>
          <a:xfrm>
            <a:off x="1384459" y="4045077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BOHB e Auto-PyTorch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C307134-4147-4F3E-B350-5073D428BA65}"/>
              </a:ext>
            </a:extLst>
          </p:cNvPr>
          <p:cNvSpPr>
            <a:spLocks noGrp="1"/>
          </p:cNvSpPr>
          <p:nvPr/>
        </p:nvSpPr>
        <p:spPr>
          <a:xfrm>
            <a:off x="698659" y="4997577"/>
            <a:ext cx="5905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61EEC89-30B5-438F-AB11-D7DCD8F2100A}"/>
              </a:ext>
            </a:extLst>
          </p:cNvPr>
          <p:cNvSpPr>
            <a:spLocks noGrp="1"/>
          </p:cNvSpPr>
          <p:nvPr/>
        </p:nvSpPr>
        <p:spPr>
          <a:xfrm>
            <a:off x="1384459" y="4978527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Resultados, limitações e futuro</a:t>
            </a:r>
          </a:p>
        </p:txBody>
      </p:sp>
    </p:spTree>
    <p:extLst>
      <p:ext uri="{BB962C8B-B14F-4D97-AF65-F5344CB8AC3E}">
        <p14:creationId xmlns:p14="http://schemas.microsoft.com/office/powerpoint/2010/main" val="255856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endParaRPr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5D52DB6-72D6-4401-ADC5-B698396E3273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O PROBLEMA DE OTIMIZAÇÃO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FD91ADA-F8D0-49A1-953B-81CA4F2B8E49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Cada configuração exige uma avaliação cara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61566E8-EEDE-498A-8238-B32B2AAA756C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4095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8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x* = arg min f(x)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82E97A8-C12F-459D-9935-057BE27A66C1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 algn="ctr">
              <a:defRPr sz="21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x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CA22C2F-449C-42AC-A062-A31AB175DA68}"/>
              </a:ext>
            </a:extLst>
          </p:cNvPr>
          <p:cNvSpPr>
            <a:spLocks noGrp="1"/>
          </p:cNvSpPr>
          <p:nvPr/>
        </p:nvSpPr>
        <p:spPr>
          <a:xfrm>
            <a:off x="1524000" y="2476500"/>
            <a:ext cx="4286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Taxa de aprendizado, regularização, arquitetura e batch size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5EEFC6C-A668-442E-9C6A-526340FCDDA5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685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f(x)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7067E67-EB40-4AF5-A108-D6F28BE5563C}"/>
              </a:ext>
            </a:extLst>
          </p:cNvPr>
          <p:cNvSpPr>
            <a:spLocks noGrp="1"/>
          </p:cNvSpPr>
          <p:nvPr/>
        </p:nvSpPr>
        <p:spPr>
          <a:xfrm>
            <a:off x="1619250" y="3409950"/>
            <a:ext cx="4191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Erro de validação depois de treinar o modelo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A323807-0D89-4F7D-91F2-CB95974595BE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4476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Uma avaliação pode consumir horas de CPU ou GPU.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3BFC6F8-97FD-4AA1-A8DD-B2EE0D06A18E}"/>
              </a:ext>
            </a:extLst>
          </p:cNvPr>
          <p:cNvSpPr>
            <a:spLocks noGrp="1"/>
          </p:cNvSpPr>
          <p:nvPr/>
        </p:nvSpPr>
        <p:spPr>
          <a:xfrm>
            <a:off x="6572250" y="2571750"/>
            <a:ext cx="44767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O espaço mistura variáveis contínuas, discretas e condicionais.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9110B69-CC29-44F5-AA1C-0E0172EDE819}"/>
              </a:ext>
            </a:extLst>
          </p:cNvPr>
          <p:cNvSpPr>
            <a:spLocks noGrp="1"/>
          </p:cNvSpPr>
          <p:nvPr/>
        </p:nvSpPr>
        <p:spPr>
          <a:xfrm>
            <a:off x="6572250" y="3695700"/>
            <a:ext cx="44767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A função objetivo não oferece um gradiente direto para a busca.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1120344-2212-41E3-A5C1-E146E78511E8}"/>
              </a:ext>
            </a:extLst>
          </p:cNvPr>
          <p:cNvSpPr>
            <a:spLocks noGrp="1"/>
          </p:cNvSpPr>
          <p:nvPr/>
        </p:nvSpPr>
        <p:spPr>
          <a:xfrm>
            <a:off x="6819900" y="521970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O orçamento faz parte do problema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B9C916D-13B0-45BF-ADB4-EDFF495E6A37}"/>
              </a:ext>
            </a:extLst>
          </p:cNvPr>
          <p:cNvSpPr>
            <a:spLocks noGrp="1"/>
          </p:cNvSpPr>
          <p:nvPr/>
        </p:nvSpPr>
        <p:spPr>
          <a:xfrm>
            <a:off x="333375" y="6419850"/>
            <a:ext cx="9906000" cy="17145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7778"/>
          </a:bodyPr>
          <a:lstStyle/>
          <a:p>
            <a:pPr algn="l">
              <a:def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Fonte: Bergstra et al. (2011)</a:t>
            </a:r>
          </a:p>
        </p:txBody>
      </p:sp>
    </p:spTree>
    <p:extLst>
      <p:ext uri="{BB962C8B-B14F-4D97-AF65-F5344CB8AC3E}">
        <p14:creationId xmlns:p14="http://schemas.microsoft.com/office/powerpoint/2010/main" val="127148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C9A733B6-04BE-71EB-0839-EAE5CAC59A28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endParaRPr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679682C-1041-4705-A7F1-C2327D3B0B0C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GRID SEARCH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CE14526-94CE-45BA-AA3B-EF27ED9B14D8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Busca exaustiva em valores definidos previamente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CBBF69B-CF85-4A04-BA45-0BB3D66311EF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4 valores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E0C38FC-8972-46B3-8260-6BBC47A69F94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para cada parâmetro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D183382-9D75-4359-A71F-8027F76DFDBE}"/>
              </a:ext>
            </a:extLst>
          </p:cNvPr>
          <p:cNvSpPr>
            <a:spLocks noGrp="1"/>
          </p:cNvSpPr>
          <p:nvPr/>
        </p:nvSpPr>
        <p:spPr>
          <a:xfrm>
            <a:off x="3429000" y="16764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5 parâmetros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C8BE91B-B073-4EE5-B204-AB82B01B16F6}"/>
              </a:ext>
            </a:extLst>
          </p:cNvPr>
          <p:cNvSpPr>
            <a:spLocks noGrp="1"/>
          </p:cNvSpPr>
          <p:nvPr/>
        </p:nvSpPr>
        <p:spPr>
          <a:xfrm>
            <a:off x="3429000" y="20764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no espaço de busca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B5B31EF-FBE6-4C1F-98A3-7BE1A808E6FD}"/>
              </a:ext>
            </a:extLst>
          </p:cNvPr>
          <p:cNvSpPr>
            <a:spLocks noGrp="1"/>
          </p:cNvSpPr>
          <p:nvPr/>
        </p:nvSpPr>
        <p:spPr>
          <a:xfrm>
            <a:off x="6286500" y="167640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Testa todas as combinações da grade.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08769CE-07EC-4621-821D-E122BA492F1F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É determinístico e fácil de reproduzir.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D6CDCB7-E6F9-4DF7-BA87-331D11C550A0}"/>
              </a:ext>
            </a:extLst>
          </p:cNvPr>
          <p:cNvSpPr>
            <a:spLocks noGrp="1"/>
          </p:cNvSpPr>
          <p:nvPr/>
        </p:nvSpPr>
        <p:spPr>
          <a:xfrm>
            <a:off x="6286500" y="323850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O custo cresce pelo produto das opções.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1FDA179-4AFA-4FD4-9B1E-1897F065BDFF}"/>
              </a:ext>
            </a:extLst>
          </p:cNvPr>
          <p:cNvSpPr>
            <a:spLocks noGrp="1"/>
          </p:cNvSpPr>
          <p:nvPr/>
        </p:nvSpPr>
        <p:spPr>
          <a:xfrm>
            <a:off x="6286500" y="4019550"/>
            <a:ext cx="4667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FF2900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FF2900"/>
                </a:solidFill>
                <a:latin typeface="Trebuchet MS"/>
                <a:ea typeface="Trebuchet MS"/>
                <a:cs typeface="Trebuchet MS"/>
              </a:rPr>
              <a:t>• Repete valores mesmo em dimensões pouco importantes.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D962223-CF49-4C15-A492-403DAA2ABB73}"/>
              </a:ext>
            </a:extLst>
          </p:cNvPr>
          <p:cNvSpPr>
            <a:spLocks noGrp="1"/>
          </p:cNvSpPr>
          <p:nvPr/>
        </p:nvSpPr>
        <p:spPr>
          <a:xfrm>
            <a:off x="1473711" y="5880688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Indicado para espaços pequenos e bem delimitados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72B422C-D574-0786-28A8-E0DEEC795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341" y="2577249"/>
            <a:ext cx="3537751" cy="316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0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>
            <a:spLocks noGrp="1"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marL="54000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539750">
              <a:buNone/>
            </a:pPr>
            <a:endParaRPr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506535A-7215-4558-9DD9-3B175338CEF3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RANDOM SEARCH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862F320-CA5D-4AAC-8CC3-4A859C958920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Um baseline simples e forte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E3EF6C8-E211-4FC2-800D-6995CD1BFBC9}"/>
              </a:ext>
            </a:extLst>
          </p:cNvPr>
          <p:cNvSpPr>
            <a:spLocks noGrp="1"/>
          </p:cNvSpPr>
          <p:nvPr/>
        </p:nvSpPr>
        <p:spPr>
          <a:xfrm>
            <a:off x="1430630" y="4565505"/>
            <a:ext cx="27051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Poucos valores distintos</a:t>
            </a:r>
          </a:p>
          <a:p>
            <a:pPr algn="ctr">
              <a:defRPr sz="15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repetidos em cada eixo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3A48A30-5BEE-40CA-87A4-35564BE79A3A}"/>
              </a:ext>
            </a:extLst>
          </p:cNvPr>
          <p:cNvSpPr>
            <a:spLocks noGrp="1"/>
          </p:cNvSpPr>
          <p:nvPr/>
        </p:nvSpPr>
        <p:spPr>
          <a:xfrm>
            <a:off x="4650846" y="4565505"/>
            <a:ext cx="28956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Mais valores amostrados</a:t>
            </a:r>
          </a:p>
          <a:p>
            <a:pPr algn="ctr">
              <a:defRPr sz="15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nas dimensões relevantes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B3554B9-E88E-4F7F-8DFF-B17143C45965}"/>
              </a:ext>
            </a:extLst>
          </p:cNvPr>
          <p:cNvSpPr>
            <a:spLocks noGrp="1"/>
          </p:cNvSpPr>
          <p:nvPr/>
        </p:nvSpPr>
        <p:spPr>
          <a:xfrm>
            <a:off x="7829550" y="1619250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Explora mais valores independentes.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D875EBE-22FE-41FE-84EA-45E63076E598}"/>
              </a:ext>
            </a:extLst>
          </p:cNvPr>
          <p:cNvSpPr>
            <a:spLocks noGrp="1"/>
          </p:cNvSpPr>
          <p:nvPr/>
        </p:nvSpPr>
        <p:spPr>
          <a:xfrm>
            <a:off x="7829550" y="2476500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Permite paralelismo direto.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6646193-D2D6-4BD3-91A1-41D109B9695E}"/>
              </a:ext>
            </a:extLst>
          </p:cNvPr>
          <p:cNvSpPr>
            <a:spLocks noGrp="1"/>
          </p:cNvSpPr>
          <p:nvPr/>
        </p:nvSpPr>
        <p:spPr>
          <a:xfrm>
            <a:off x="7829550" y="3333750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Serve como referência experimental.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A16EE17-E3A6-47CD-A5B4-A594EA125973}"/>
              </a:ext>
            </a:extLst>
          </p:cNvPr>
          <p:cNvSpPr>
            <a:spLocks noGrp="1"/>
          </p:cNvSpPr>
          <p:nvPr/>
        </p:nvSpPr>
        <p:spPr>
          <a:xfrm>
            <a:off x="7829550" y="4191000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FF2900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FF2900"/>
                </a:solidFill>
                <a:latin typeface="Trebuchet MS"/>
                <a:ea typeface="Trebuchet MS"/>
                <a:cs typeface="Trebuchet MS"/>
              </a:rPr>
              <a:t>• Não utiliza os resultados anteriores.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EF16C45-B685-4B53-B5A1-9BF83583038F}"/>
              </a:ext>
            </a:extLst>
          </p:cNvPr>
          <p:cNvSpPr>
            <a:spLocks noGrp="1"/>
          </p:cNvSpPr>
          <p:nvPr/>
        </p:nvSpPr>
        <p:spPr>
          <a:xfrm>
            <a:off x="1428750" y="5391150"/>
            <a:ext cx="9334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Quando poucas dimensões importam, a busca aleatória cobre mais combinações úteis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3F832AD-6489-45E0-8053-B67A6637DC49}"/>
              </a:ext>
            </a:extLst>
          </p:cNvPr>
          <p:cNvSpPr>
            <a:spLocks noGrp="1"/>
          </p:cNvSpPr>
          <p:nvPr/>
        </p:nvSpPr>
        <p:spPr>
          <a:xfrm>
            <a:off x="333375" y="6419850"/>
            <a:ext cx="9906000" cy="17145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7778"/>
          </a:bodyPr>
          <a:lstStyle/>
          <a:p>
            <a:pPr algn="l">
              <a:def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Fonte: Bergstra et al. (2011)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C80CD9F-F010-F916-2AFB-21479BA68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54" y="1733394"/>
            <a:ext cx="6624941" cy="275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5FBD67C5-200C-4B5D-986C-49714FDFFA72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RESULTADOS NO ARTIGO DE BERGSTRA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614DB13-3F4C-4A57-8703-9A9B7F8D2C4A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Erro de teste. Valores menores indicam melhor desempenho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552450" y="1390650"/>
          <a:ext cx="7524750" cy="424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198693D4-2B89-44EE-92D5-48570190FAAF}"/>
              </a:ext>
            </a:extLst>
          </p:cNvPr>
          <p:cNvSpPr>
            <a:spLocks noGrp="1"/>
          </p:cNvSpPr>
          <p:nvPr/>
        </p:nvSpPr>
        <p:spPr>
          <a:xfrm>
            <a:off x="8515350" y="1809750"/>
            <a:ext cx="2514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68"/>
          </a:bodyPr>
          <a:lstStyle/>
          <a:p>
            <a:pPr algn="ctr">
              <a:defRPr sz="28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8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14,13%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A021A53-ED01-4CF1-802D-43F50BDB6A58}"/>
              </a:ext>
            </a:extLst>
          </p:cNvPr>
          <p:cNvSpPr>
            <a:spLocks noGrp="1"/>
          </p:cNvSpPr>
          <p:nvPr/>
        </p:nvSpPr>
        <p:spPr>
          <a:xfrm>
            <a:off x="8515350" y="2324100"/>
            <a:ext cx="2514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TPE no conjunto convex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BC804BE-FAA5-4CD4-BAE3-912EF8F9E074}"/>
              </a:ext>
            </a:extLst>
          </p:cNvPr>
          <p:cNvSpPr>
            <a:spLocks noGrp="1"/>
          </p:cNvSpPr>
          <p:nvPr/>
        </p:nvSpPr>
        <p:spPr>
          <a:xfrm>
            <a:off x="8515350" y="3181350"/>
            <a:ext cx="2514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68"/>
          </a:bodyPr>
          <a:lstStyle/>
          <a:p>
            <a:pPr algn="ctr">
              <a:defRPr sz="285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285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44,55%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CD3E465-9FDD-41EB-BD97-B2C2D7214F44}"/>
              </a:ext>
            </a:extLst>
          </p:cNvPr>
          <p:cNvSpPr>
            <a:spLocks noGrp="1"/>
          </p:cNvSpPr>
          <p:nvPr/>
        </p:nvSpPr>
        <p:spPr>
          <a:xfrm>
            <a:off x="8515350" y="3695700"/>
            <a:ext cx="2514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TPE no conjunto MRBI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14A7C8-E348-47D8-AEDF-49E79875D714}"/>
              </a:ext>
            </a:extLst>
          </p:cNvPr>
          <p:cNvSpPr>
            <a:spLocks noGrp="1"/>
          </p:cNvSpPr>
          <p:nvPr/>
        </p:nvSpPr>
        <p:spPr>
          <a:xfrm>
            <a:off x="8362950" y="4686300"/>
            <a:ext cx="28194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TPE obteve o menor erro nos dois casos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FC56745-5030-4C5C-984E-48F9AC0664D1}"/>
              </a:ext>
            </a:extLst>
          </p:cNvPr>
          <p:cNvSpPr>
            <a:spLocks noGrp="1"/>
          </p:cNvSpPr>
          <p:nvPr/>
        </p:nvSpPr>
        <p:spPr>
          <a:xfrm>
            <a:off x="333375" y="6419850"/>
            <a:ext cx="9906000" cy="17145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7778"/>
          </a:bodyPr>
          <a:lstStyle/>
          <a:p>
            <a:pPr algn="l">
              <a:def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Fonte: Bergstra et al. (2011), Tabela 2</a:t>
            </a:r>
          </a:p>
        </p:txBody>
      </p:sp>
    </p:spTree>
    <p:extLst>
      <p:ext uri="{BB962C8B-B14F-4D97-AF65-F5344CB8AC3E}">
        <p14:creationId xmlns:p14="http://schemas.microsoft.com/office/powerpoint/2010/main" val="723740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65AC2D06-DEFB-45FB-8758-CCA19C72E564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OTIMIZAÇÃO SEQUENCIAL BASEADA EM MODELO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B99CAA0-FADC-454C-8FB8-C2FADD483737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O histórico orienta a próxima avaliação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F7AC66-429F-41D3-B212-F2254CA5062D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6858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F8338A-8AA9-4226-8291-549904762549}"/>
              </a:ext>
            </a:extLst>
          </p:cNvPr>
          <p:cNvSpPr>
            <a:spLocks noGrp="1"/>
          </p:cNvSpPr>
          <p:nvPr/>
        </p:nvSpPr>
        <p:spPr>
          <a:xfrm>
            <a:off x="571500" y="234315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HISTÓRICO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D741DA5-E870-49FE-897F-73A2CF153165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22669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Configurações e resultados observados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B7B8443-BAF2-4335-ABB3-F597EE69EA70}"/>
              </a:ext>
            </a:extLst>
          </p:cNvPr>
          <p:cNvSpPr>
            <a:spLocks noGrp="1"/>
          </p:cNvSpPr>
          <p:nvPr/>
        </p:nvSpPr>
        <p:spPr>
          <a:xfrm>
            <a:off x="3200400" y="1885950"/>
            <a:ext cx="19050" cy="196215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14A1E75-1DF7-46A2-B653-73452C84F013}"/>
              </a:ext>
            </a:extLst>
          </p:cNvPr>
          <p:cNvSpPr>
            <a:spLocks noGrp="1"/>
          </p:cNvSpPr>
          <p:nvPr/>
        </p:nvSpPr>
        <p:spPr>
          <a:xfrm>
            <a:off x="3352800" y="1676400"/>
            <a:ext cx="6858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C21CD5-5914-45C7-A16A-D3ECFB61976F}"/>
              </a:ext>
            </a:extLst>
          </p:cNvPr>
          <p:cNvSpPr>
            <a:spLocks noGrp="1"/>
          </p:cNvSpPr>
          <p:nvPr/>
        </p:nvSpPr>
        <p:spPr>
          <a:xfrm>
            <a:off x="3409950" y="234315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MODELO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7ED2ADD-787F-48F0-AF5B-1C7390A80D74}"/>
              </a:ext>
            </a:extLst>
          </p:cNvPr>
          <p:cNvSpPr>
            <a:spLocks noGrp="1"/>
          </p:cNvSpPr>
          <p:nvPr/>
        </p:nvSpPr>
        <p:spPr>
          <a:xfrm>
            <a:off x="3505200" y="2914650"/>
            <a:ext cx="22669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Aproxima a função de avaliação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1936C06-2155-427D-8C68-E40421E1DB8A}"/>
              </a:ext>
            </a:extLst>
          </p:cNvPr>
          <p:cNvSpPr>
            <a:spLocks noGrp="1"/>
          </p:cNvSpPr>
          <p:nvPr/>
        </p:nvSpPr>
        <p:spPr>
          <a:xfrm>
            <a:off x="6038850" y="1885950"/>
            <a:ext cx="19050" cy="196215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F5620F-2AAA-46F2-B1C2-27F72914B95F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6858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39B0BD9-C9CB-4DF1-9BDA-758B38142C21}"/>
              </a:ext>
            </a:extLst>
          </p:cNvPr>
          <p:cNvSpPr>
            <a:spLocks noGrp="1"/>
          </p:cNvSpPr>
          <p:nvPr/>
        </p:nvSpPr>
        <p:spPr>
          <a:xfrm>
            <a:off x="6248400" y="234315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AQUISIÇÃO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C520473-4842-4DF7-83EF-DF1821828D26}"/>
              </a:ext>
            </a:extLst>
          </p:cNvPr>
          <p:cNvSpPr>
            <a:spLocks noGrp="1"/>
          </p:cNvSpPr>
          <p:nvPr/>
        </p:nvSpPr>
        <p:spPr>
          <a:xfrm>
            <a:off x="6343650" y="2914650"/>
            <a:ext cx="22669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Equilibra exploração e melhoria esperada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75F96F5-CCF2-4929-B023-EA86C11E67EA}"/>
              </a:ext>
            </a:extLst>
          </p:cNvPr>
          <p:cNvSpPr>
            <a:spLocks noGrp="1"/>
          </p:cNvSpPr>
          <p:nvPr/>
        </p:nvSpPr>
        <p:spPr>
          <a:xfrm>
            <a:off x="8877300" y="1885950"/>
            <a:ext cx="19050" cy="196215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34C85B7-F144-4932-B693-F3AACA36ED1A}"/>
              </a:ext>
            </a:extLst>
          </p:cNvPr>
          <p:cNvSpPr>
            <a:spLocks noGrp="1"/>
          </p:cNvSpPr>
          <p:nvPr/>
        </p:nvSpPr>
        <p:spPr>
          <a:xfrm>
            <a:off x="9029700" y="1676400"/>
            <a:ext cx="6858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F4E03D2-5DCB-4E85-8993-A336281710C8}"/>
              </a:ext>
            </a:extLst>
          </p:cNvPr>
          <p:cNvSpPr>
            <a:spLocks noGrp="1"/>
          </p:cNvSpPr>
          <p:nvPr/>
        </p:nvSpPr>
        <p:spPr>
          <a:xfrm>
            <a:off x="9086850" y="2343150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NOVO TRIAL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0EE7780-BB37-4994-8565-60C45D615C15}"/>
              </a:ext>
            </a:extLst>
          </p:cNvPr>
          <p:cNvSpPr>
            <a:spLocks noGrp="1"/>
          </p:cNvSpPr>
          <p:nvPr/>
        </p:nvSpPr>
        <p:spPr>
          <a:xfrm>
            <a:off x="9182100" y="2914650"/>
            <a:ext cx="22669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Treina e atualiza o histórico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22B9606-0DE0-452A-8AF9-DF94D32AB73C}"/>
              </a:ext>
            </a:extLst>
          </p:cNvPr>
          <p:cNvSpPr>
            <a:spLocks noGrp="1"/>
          </p:cNvSpPr>
          <p:nvPr/>
        </p:nvSpPr>
        <p:spPr>
          <a:xfrm>
            <a:off x="1866900" y="44958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EXPLORAÇÃO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CF17FD8-7ED8-4FA2-ADD0-E06481D0BE58}"/>
              </a:ext>
            </a:extLst>
          </p:cNvPr>
          <p:cNvSpPr>
            <a:spLocks noGrp="1"/>
          </p:cNvSpPr>
          <p:nvPr/>
        </p:nvSpPr>
        <p:spPr>
          <a:xfrm>
            <a:off x="1695450" y="491490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Regiões pouco conhecidas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4CE8EBB-C592-4683-A49D-5C49650D8BF0}"/>
              </a:ext>
            </a:extLst>
          </p:cNvPr>
          <p:cNvSpPr>
            <a:spLocks noGrp="1"/>
          </p:cNvSpPr>
          <p:nvPr/>
        </p:nvSpPr>
        <p:spPr>
          <a:xfrm>
            <a:off x="7791450" y="44958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EXPLOTAÇÃO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A380C29-C0DB-46BA-8514-ACB706141DD3}"/>
              </a:ext>
            </a:extLst>
          </p:cNvPr>
          <p:cNvSpPr>
            <a:spLocks noGrp="1"/>
          </p:cNvSpPr>
          <p:nvPr/>
        </p:nvSpPr>
        <p:spPr>
          <a:xfrm>
            <a:off x="7620000" y="491490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Regiões já promissoras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6C8A559-868B-4E43-9DDF-56E18E029990}"/>
              </a:ext>
            </a:extLst>
          </p:cNvPr>
          <p:cNvSpPr>
            <a:spLocks noGrp="1"/>
          </p:cNvSpPr>
          <p:nvPr/>
        </p:nvSpPr>
        <p:spPr>
          <a:xfrm>
            <a:off x="2381250" y="5753100"/>
            <a:ext cx="742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TPE implementa esse ciclo com densidades probabilísticas</a:t>
            </a:r>
          </a:p>
        </p:txBody>
      </p:sp>
    </p:spTree>
    <p:extLst>
      <p:ext uri="{BB962C8B-B14F-4D97-AF65-F5344CB8AC3E}">
        <p14:creationId xmlns:p14="http://schemas.microsoft.com/office/powerpoint/2010/main" val="213664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E1F30D86-672A-4E5C-BD88-9AA140665E16}"/>
              </a:ext>
            </a:extLst>
          </p:cNvPr>
          <p:cNvSpPr>
            <a:spLocks noGrp="1"/>
          </p:cNvSpPr>
          <p:nvPr/>
        </p:nvSpPr>
        <p:spPr>
          <a:xfrm>
            <a:off x="438150" y="800100"/>
            <a:ext cx="3048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9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TPE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FFCADE5-EAAD-43E4-9EDB-7BD86C297543}"/>
              </a:ext>
            </a:extLst>
          </p:cNvPr>
          <p:cNvSpPr>
            <a:spLocks noGrp="1"/>
          </p:cNvSpPr>
          <p:nvPr/>
        </p:nvSpPr>
        <p:spPr>
          <a:xfrm>
            <a:off x="438150" y="15049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TREE-STRUCTURED</a:t>
            </a:r>
          </a:p>
          <a:p>
            <a:pPr algn="l">
              <a:defRPr sz="1350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PARZEN ESTIMATOR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82572EC-6502-4E86-BA43-388A4E8F051E}"/>
              </a:ext>
            </a:extLst>
          </p:cNvPr>
          <p:cNvSpPr>
            <a:spLocks noGrp="1"/>
          </p:cNvSpPr>
          <p:nvPr/>
        </p:nvSpPr>
        <p:spPr>
          <a:xfrm>
            <a:off x="628650" y="2781300"/>
            <a:ext cx="114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8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l(x)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49B598A-C591-4ECD-B78B-1B308FE82170}"/>
              </a:ext>
            </a:extLst>
          </p:cNvPr>
          <p:cNvSpPr>
            <a:spLocks noGrp="1"/>
          </p:cNvSpPr>
          <p:nvPr/>
        </p:nvSpPr>
        <p:spPr>
          <a:xfrm>
            <a:off x="400050" y="3371850"/>
            <a:ext cx="1619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boas configurações</a:t>
            </a:r>
          </a:p>
          <a:p>
            <a:pPr algn="ctr">
              <a:defRPr sz="12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y &lt; y*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51DD48-0AE8-472F-9D0A-034CFC3F0168}"/>
              </a:ext>
            </a:extLst>
          </p:cNvPr>
          <p:cNvSpPr>
            <a:spLocks noGrp="1"/>
          </p:cNvSpPr>
          <p:nvPr/>
        </p:nvSpPr>
        <p:spPr>
          <a:xfrm>
            <a:off x="2076450" y="2781300"/>
            <a:ext cx="1143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8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g(x)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5B7A28B-4188-42B1-B10B-4F9A32504CFC}"/>
              </a:ext>
            </a:extLst>
          </p:cNvPr>
          <p:cNvSpPr>
            <a:spLocks noGrp="1"/>
          </p:cNvSpPr>
          <p:nvPr/>
        </p:nvSpPr>
        <p:spPr>
          <a:xfrm>
            <a:off x="1847850" y="3371850"/>
            <a:ext cx="1619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157"/>
          </a:bodyPr>
          <a:lstStyle/>
          <a:p>
            <a:pPr algn="ctr">
              <a:defRPr sz="12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demais configurações</a:t>
            </a:r>
          </a:p>
          <a:p>
            <a:pPr algn="ctr">
              <a:defRPr sz="12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y ≥ y*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0269BDD-FD33-4376-9588-4DB7C065E2D2}"/>
              </a:ext>
            </a:extLst>
          </p:cNvPr>
          <p:cNvSpPr>
            <a:spLocks noGrp="1"/>
          </p:cNvSpPr>
          <p:nvPr/>
        </p:nvSpPr>
        <p:spPr>
          <a:xfrm>
            <a:off x="5619750" y="70485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Como funciona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934FC51-179F-4659-9452-53FEF13336E4}"/>
              </a:ext>
            </a:extLst>
          </p:cNvPr>
          <p:cNvSpPr>
            <a:spLocks noGrp="1"/>
          </p:cNvSpPr>
          <p:nvPr/>
        </p:nvSpPr>
        <p:spPr>
          <a:xfrm>
            <a:off x="5619750" y="1524000"/>
            <a:ext cx="5810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• Divide os trials por um limiar de desempenho y*.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4A8F9FC-D1C3-412D-BACA-C50250BF5575}"/>
              </a:ext>
            </a:extLst>
          </p:cNvPr>
          <p:cNvSpPr>
            <a:spLocks noGrp="1"/>
          </p:cNvSpPr>
          <p:nvPr/>
        </p:nvSpPr>
        <p:spPr>
          <a:xfrm>
            <a:off x="5619750" y="2381250"/>
            <a:ext cx="5810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• Modela p(x | y) com duas densidades.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3CF1A4E-2141-4377-8DC1-12FDE2B76A1B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5810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• Favorece pontos com alta razão l(x) / g(x).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F794086-88CC-4151-910F-29ED98DDD969}"/>
              </a:ext>
            </a:extLst>
          </p:cNvPr>
          <p:cNvSpPr>
            <a:spLocks noGrp="1"/>
          </p:cNvSpPr>
          <p:nvPr/>
        </p:nvSpPr>
        <p:spPr>
          <a:xfrm>
            <a:off x="5619750" y="4095750"/>
            <a:ext cx="58102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• Lida bem com espaços condicionais e estruturados em árvore.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F6557A0-A374-4891-BDFE-164207851955}"/>
              </a:ext>
            </a:extLst>
          </p:cNvPr>
          <p:cNvSpPr>
            <a:spLocks noGrp="1"/>
          </p:cNvSpPr>
          <p:nvPr/>
        </p:nvSpPr>
        <p:spPr>
          <a:xfrm>
            <a:off x="5886450" y="5410200"/>
            <a:ext cx="5238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ctr">
              <a:defRPr sz="157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O histórico concentra novas avaliações em regiões promissoras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7348EC6-D33E-42F7-A967-4F564FFC383D}"/>
              </a:ext>
            </a:extLst>
          </p:cNvPr>
          <p:cNvSpPr>
            <a:spLocks noGrp="1"/>
          </p:cNvSpPr>
          <p:nvPr/>
        </p:nvSpPr>
        <p:spPr>
          <a:xfrm>
            <a:off x="428625" y="64198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7778"/>
          </a:bodyPr>
          <a:lstStyle/>
          <a:p>
            <a:pPr algn="l">
              <a:defRPr sz="6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6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Fonte: Bergstra et al. (2011), Seção 4</a:t>
            </a:r>
          </a:p>
        </p:txBody>
      </p:sp>
    </p:spTree>
    <p:extLst>
      <p:ext uri="{BB962C8B-B14F-4D97-AF65-F5344CB8AC3E}">
        <p14:creationId xmlns:p14="http://schemas.microsoft.com/office/powerpoint/2010/main" val="706673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03BDC640-CA67-43C2-A2B2-7C8C086EBE22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OPTUNA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220C61F-2D24-49F9-B1B4-F336501FC802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A biblioteca organiza a otimização como um Study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D239B1D-41C5-49E3-94BD-761F272C9135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6096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5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F75492B-E37D-47E4-A323-69C1494B8658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objective(trial)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FC1B6FF-863C-4AB3-BD54-3E1005B75378}"/>
              </a:ext>
            </a:extLst>
          </p:cNvPr>
          <p:cNvSpPr>
            <a:spLocks noGrp="1"/>
          </p:cNvSpPr>
          <p:nvPr/>
        </p:nvSpPr>
        <p:spPr>
          <a:xfrm>
            <a:off x="723900" y="3086100"/>
            <a:ext cx="21717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Define a métrica e o espaço de busca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8B670D3-8444-48E2-BEE9-4A41768AEB20}"/>
              </a:ext>
            </a:extLst>
          </p:cNvPr>
          <p:cNvSpPr>
            <a:spLocks noGrp="1"/>
          </p:cNvSpPr>
          <p:nvPr/>
        </p:nvSpPr>
        <p:spPr>
          <a:xfrm>
            <a:off x="3352800" y="1676400"/>
            <a:ext cx="6096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255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D6D8A6E-EF7A-42FB-B57D-6593F2CC8C69}"/>
              </a:ext>
            </a:extLst>
          </p:cNvPr>
          <p:cNvSpPr>
            <a:spLocks noGrp="1"/>
          </p:cNvSpPr>
          <p:nvPr/>
        </p:nvSpPr>
        <p:spPr>
          <a:xfrm>
            <a:off x="3429000" y="24574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sampler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2D076EA-073A-408A-A81F-959DA42CC835}"/>
              </a:ext>
            </a:extLst>
          </p:cNvPr>
          <p:cNvSpPr>
            <a:spLocks noGrp="1"/>
          </p:cNvSpPr>
          <p:nvPr/>
        </p:nvSpPr>
        <p:spPr>
          <a:xfrm>
            <a:off x="3581400" y="3086100"/>
            <a:ext cx="21717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Sugere a próxima configuração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D66CF78-5F6F-4ED6-8A09-1F3A73692425}"/>
              </a:ext>
            </a:extLst>
          </p:cNvPr>
          <p:cNvSpPr>
            <a:spLocks noGrp="1"/>
          </p:cNvSpPr>
          <p:nvPr/>
        </p:nvSpPr>
        <p:spPr>
          <a:xfrm>
            <a:off x="6210300" y="1676400"/>
            <a:ext cx="6096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5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9927982-1E5A-407E-B844-D523E2A31CD8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optimize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00500A6-1475-4A14-A010-FC256F314521}"/>
              </a:ext>
            </a:extLst>
          </p:cNvPr>
          <p:cNvSpPr>
            <a:spLocks noGrp="1"/>
          </p:cNvSpPr>
          <p:nvPr/>
        </p:nvSpPr>
        <p:spPr>
          <a:xfrm>
            <a:off x="6438900" y="3086100"/>
            <a:ext cx="21717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Executa e registra os trials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465B6CD-1156-4D78-A52E-9275785CB140}"/>
              </a:ext>
            </a:extLst>
          </p:cNvPr>
          <p:cNvSpPr>
            <a:spLocks noGrp="1"/>
          </p:cNvSpPr>
          <p:nvPr/>
        </p:nvSpPr>
        <p:spPr>
          <a:xfrm>
            <a:off x="9067800" y="1676400"/>
            <a:ext cx="6096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255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BA6C8F2-797C-4027-AF21-98316EC5FE8A}"/>
              </a:ext>
            </a:extLst>
          </p:cNvPr>
          <p:cNvSpPr>
            <a:spLocks noGrp="1"/>
          </p:cNvSpPr>
          <p:nvPr/>
        </p:nvSpPr>
        <p:spPr>
          <a:xfrm>
            <a:off x="9144000" y="24574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best_params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CF7B38A-7A49-4E68-9B92-9124EEA96377}"/>
              </a:ext>
            </a:extLst>
          </p:cNvPr>
          <p:cNvSpPr>
            <a:spLocks noGrp="1"/>
          </p:cNvSpPr>
          <p:nvPr/>
        </p:nvSpPr>
        <p:spPr>
          <a:xfrm>
            <a:off x="9296400" y="3086100"/>
            <a:ext cx="21717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Retorna a melhor configuração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BB6262F-3C52-4AFF-919C-2ACA1B5F3FBB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Componentes intercambiáveis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3F719F0-374E-4785-A2E9-DDDEF85C1B61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TPESampler ou RandomSampler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F201C56-A2B5-41EC-B86A-73DD6A8F9F55}"/>
              </a:ext>
            </a:extLst>
          </p:cNvPr>
          <p:cNvSpPr>
            <a:spLocks noGrp="1"/>
          </p:cNvSpPr>
          <p:nvPr/>
        </p:nvSpPr>
        <p:spPr>
          <a:xfrm>
            <a:off x="4857750" y="51054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Pruners e persistência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F1625E0-FB7C-47A4-963D-33EBE351C9EC}"/>
              </a:ext>
            </a:extLst>
          </p:cNvPr>
          <p:cNvSpPr>
            <a:spLocks noGrp="1"/>
          </p:cNvSpPr>
          <p:nvPr/>
        </p:nvSpPr>
        <p:spPr>
          <a:xfrm>
            <a:off x="8058150" y="51054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Paralelismo e visualização</a:t>
            </a:r>
          </a:p>
        </p:txBody>
      </p:sp>
    </p:spTree>
    <p:extLst>
      <p:ext uri="{BB962C8B-B14F-4D97-AF65-F5344CB8AC3E}">
        <p14:creationId xmlns:p14="http://schemas.microsoft.com/office/powerpoint/2010/main" val="1339880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4E98D5A5-2B54-421C-83DD-725E3BEC4FF7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REPRODUÇÃO DIDÁTICA COM OPTUNA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B634E58-9542-408E-A3D0-D6AFD3183992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RandomSampler e TPESampler sob as mesmas condições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5C4569B-EEDD-41F6-A020-838D6CE896ED}"/>
              </a:ext>
            </a:extLst>
          </p:cNvPr>
          <p:cNvSpPr>
            <a:spLocks noGrp="1"/>
          </p:cNvSpPr>
          <p:nvPr/>
        </p:nvSpPr>
        <p:spPr>
          <a:xfrm>
            <a:off x="838200" y="148590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ESPAÇO DE BUSCA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3DFDB1-3736-4041-BA05-6AB3DC03E028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learning_rate: 10⁻⁵ a 10⁻¹ em escala log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C4D2466-5A1A-49C4-94F7-111639C7DA65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dropout: 0 a 0,6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08B020C-1E09-4559-90F6-EEC9962B8695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width: 32, 64, 128 ou 256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A2EB2E8-E124-4557-B3C6-664144690EF9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60 trials com a mesma semente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BF96D7-278C-4080-92AB-BCEE751FDBB3}"/>
              </a:ext>
            </a:extLst>
          </p:cNvPr>
          <p:cNvSpPr>
            <a:spLocks noGrp="1"/>
          </p:cNvSpPr>
          <p:nvPr/>
        </p:nvSpPr>
        <p:spPr>
          <a:xfrm>
            <a:off x="5981700" y="1428750"/>
            <a:ext cx="19050" cy="384810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10662A7-E34B-4677-B8A6-97A654F204FF}"/>
              </a:ext>
            </a:extLst>
          </p:cNvPr>
          <p:cNvSpPr>
            <a:spLocks noGrp="1"/>
          </p:cNvSpPr>
          <p:nvPr/>
        </p:nvSpPr>
        <p:spPr>
          <a:xfrm>
            <a:off x="6572250" y="148590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O NOTEBOOK DEMONSTRA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89810C2-B39E-45A5-8E2E-5A668893F44D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4381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Criação de dois Studies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2B3B34E-0E67-4F64-B6ED-886296DD6340}"/>
              </a:ext>
            </a:extLst>
          </p:cNvPr>
          <p:cNvSpPr>
            <a:spLocks noGrp="1"/>
          </p:cNvSpPr>
          <p:nvPr/>
        </p:nvSpPr>
        <p:spPr>
          <a:xfrm>
            <a:off x="6572250" y="2781300"/>
            <a:ext cx="4381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Comparação do melhor valor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59DF064-03F8-4B30-A457-18D4296E2DCD}"/>
              </a:ext>
            </a:extLst>
          </p:cNvPr>
          <p:cNvSpPr>
            <a:spLocks noGrp="1"/>
          </p:cNvSpPr>
          <p:nvPr/>
        </p:nvSpPr>
        <p:spPr>
          <a:xfrm>
            <a:off x="6572250" y="3486150"/>
            <a:ext cx="4381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Inspeção de best_params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6C9D449-EE51-4CE0-80B4-CA51531A9929}"/>
              </a:ext>
            </a:extLst>
          </p:cNvPr>
          <p:cNvSpPr>
            <a:spLocks noGrp="1"/>
          </p:cNvSpPr>
          <p:nvPr/>
        </p:nvSpPr>
        <p:spPr>
          <a:xfrm>
            <a:off x="6572250" y="4191000"/>
            <a:ext cx="4381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Substituição fácil por um treino real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51D0C75-7DAE-451F-A5C8-FE47D9806353}"/>
              </a:ext>
            </a:extLst>
          </p:cNvPr>
          <p:cNvSpPr>
            <a:spLocks noGrp="1"/>
          </p:cNvSpPr>
          <p:nvPr/>
        </p:nvSpPr>
        <p:spPr>
          <a:xfrm>
            <a:off x="2571750" y="5638800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Mesmo espaço + mesma semente + mesmo orçamento</a:t>
            </a:r>
          </a:p>
        </p:txBody>
      </p:sp>
    </p:spTree>
    <p:extLst>
      <p:ext uri="{BB962C8B-B14F-4D97-AF65-F5344CB8AC3E}">
        <p14:creationId xmlns:p14="http://schemas.microsoft.com/office/powerpoint/2010/main" val="2099345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DCE93721-9D52-4F1A-87AE-7C2F2F881241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FIDELIDADE ÚNICA E MÚLTIPLAS FIDELIDADES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8F1B9E0-585A-42FB-B149-17B17A764BD4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O orçamento por configuração também pode ser otimizado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76E0112-9CF9-4804-ABBB-6DA31B74FD32}"/>
              </a:ext>
            </a:extLst>
          </p:cNvPr>
          <p:cNvSpPr>
            <a:spLocks noGrp="1"/>
          </p:cNvSpPr>
          <p:nvPr/>
        </p:nvSpPr>
        <p:spPr>
          <a:xfrm>
            <a:off x="857250" y="156210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FIDELIDADE ÚNICA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3CAE051-CA64-48A1-B462-82664A78AE3C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4381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Todas as configurações treinam até o fim.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01811A-59C4-48CB-B692-F0A543108E54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4381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Comparação final mais direta.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8ABA01-E1DA-4B53-99CE-836DFB579D8D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4381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FF2900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FF2900"/>
                </a:solidFill>
                <a:latin typeface="Trebuchet MS"/>
                <a:ea typeface="Trebuchet MS"/>
                <a:cs typeface="Trebuchet MS"/>
              </a:rPr>
              <a:t>• Custo elevado em deep learning.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5864841-B877-41C9-8154-86EA7BF9E791}"/>
              </a:ext>
            </a:extLst>
          </p:cNvPr>
          <p:cNvSpPr>
            <a:spLocks noGrp="1"/>
          </p:cNvSpPr>
          <p:nvPr/>
        </p:nvSpPr>
        <p:spPr>
          <a:xfrm>
            <a:off x="5905500" y="1447800"/>
            <a:ext cx="19050" cy="367665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DBABF1F-0A2B-4B07-9839-E1EA681560AB}"/>
              </a:ext>
            </a:extLst>
          </p:cNvPr>
          <p:cNvSpPr>
            <a:spLocks noGrp="1"/>
          </p:cNvSpPr>
          <p:nvPr/>
        </p:nvSpPr>
        <p:spPr>
          <a:xfrm>
            <a:off x="6610350" y="156210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MÚLTIPLAS FIDELIDADES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32DA026-B12A-4ADF-AA49-B9169B94CA23}"/>
              </a:ext>
            </a:extLst>
          </p:cNvPr>
          <p:cNvSpPr>
            <a:spLocks noGrp="1"/>
          </p:cNvSpPr>
          <p:nvPr/>
        </p:nvSpPr>
        <p:spPr>
          <a:xfrm>
            <a:off x="6667500" y="2305050"/>
            <a:ext cx="4381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Muitas configurações recebem poucas épocas.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20FF95A-30FE-4E49-802C-18BA19BCFD61}"/>
              </a:ext>
            </a:extLst>
          </p:cNvPr>
          <p:cNvSpPr>
            <a:spLocks noGrp="1"/>
          </p:cNvSpPr>
          <p:nvPr/>
        </p:nvSpPr>
        <p:spPr>
          <a:xfrm>
            <a:off x="6667500" y="3162300"/>
            <a:ext cx="4381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Somente as promissoras ganham mais orçamento.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123CAC7-10C8-43E0-90A6-CF3F7A475E23}"/>
              </a:ext>
            </a:extLst>
          </p:cNvPr>
          <p:cNvSpPr>
            <a:spLocks noGrp="1"/>
          </p:cNvSpPr>
          <p:nvPr/>
        </p:nvSpPr>
        <p:spPr>
          <a:xfrm>
            <a:off x="6667500" y="4171950"/>
            <a:ext cx="4381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FE811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FE811A"/>
                </a:solidFill>
                <a:latin typeface="Trebuchet MS"/>
                <a:ea typeface="Trebuchet MS"/>
                <a:cs typeface="Trebuchet MS"/>
              </a:rPr>
              <a:t>• Exige correlação entre desempenho inicial e final.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27181DA-1B84-4293-8458-A3B17A8EC7E3}"/>
              </a:ext>
            </a:extLst>
          </p:cNvPr>
          <p:cNvSpPr>
            <a:spLocks noGrp="1"/>
          </p:cNvSpPr>
          <p:nvPr/>
        </p:nvSpPr>
        <p:spPr>
          <a:xfrm>
            <a:off x="2114550" y="5600700"/>
            <a:ext cx="79629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Pergunta-chave: poucas épocas predizem o resultado final?</a:t>
            </a:r>
          </a:p>
        </p:txBody>
      </p:sp>
    </p:spTree>
    <p:extLst>
      <p:ext uri="{BB962C8B-B14F-4D97-AF65-F5344CB8AC3E}">
        <p14:creationId xmlns:p14="http://schemas.microsoft.com/office/powerpoint/2010/main" val="1220952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5AA31CBA-040A-4109-87A9-B89901242E17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HYPERBAND E SUCCESSIVE HALVING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0BF2069-E585-4D47-B772-41F1E7AD2F2A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O orçamento aumenta somente para as configurações promovidas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6171D06-99D3-417E-BB45-19C7E202C03E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10287000" cy="628650"/>
          </a:xfrm>
          <a:prstGeom prst="roundRect">
            <a:avLst>
              <a:gd name="adj" fmla="val 21212"/>
            </a:avLst>
          </a:prstGeom>
          <a:solidFill>
            <a:srgbClr val="DBEFF9"/>
          </a:solidFill>
          <a:ln w="0">
            <a:noFill/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58A67D6-33F9-47ED-91F7-F401219CB011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ctr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27 CONFIGURAÇÕES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2D13E32-B0E3-4483-993C-BA56E82EE28C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poucas épocas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FCC6E74-0304-472B-B69E-B9B87BC48630}"/>
              </a:ext>
            </a:extLst>
          </p:cNvPr>
          <p:cNvSpPr>
            <a:spLocks noGrp="1"/>
          </p:cNvSpPr>
          <p:nvPr/>
        </p:nvSpPr>
        <p:spPr>
          <a:xfrm>
            <a:off x="2286000" y="2667000"/>
            <a:ext cx="7315200" cy="628650"/>
          </a:xfrm>
          <a:prstGeom prst="roundRect">
            <a:avLst>
              <a:gd name="adj" fmla="val 21212"/>
            </a:avLst>
          </a:prstGeom>
          <a:solidFill>
            <a:srgbClr val="C6E7F6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412E9C8-2FE6-4CF0-94A9-5A4EC91280CE}"/>
              </a:ext>
            </a:extLst>
          </p:cNvPr>
          <p:cNvSpPr>
            <a:spLocks noGrp="1"/>
          </p:cNvSpPr>
          <p:nvPr/>
        </p:nvSpPr>
        <p:spPr>
          <a:xfrm>
            <a:off x="2286000" y="2686050"/>
            <a:ext cx="7315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ctr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9 PROMOVIDAS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5734B0-66C6-4857-89B4-31FC3192B20A}"/>
              </a:ext>
            </a:extLst>
          </p:cNvPr>
          <p:cNvSpPr>
            <a:spLocks noGrp="1"/>
          </p:cNvSpPr>
          <p:nvPr/>
        </p:nvSpPr>
        <p:spPr>
          <a:xfrm>
            <a:off x="2286000" y="2990850"/>
            <a:ext cx="73152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mais épocas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8213B5F-0E70-47C8-8EAD-F26070C3C6C4}"/>
              </a:ext>
            </a:extLst>
          </p:cNvPr>
          <p:cNvSpPr>
            <a:spLocks noGrp="1"/>
          </p:cNvSpPr>
          <p:nvPr/>
        </p:nvSpPr>
        <p:spPr>
          <a:xfrm>
            <a:off x="3829050" y="3733800"/>
            <a:ext cx="4229100" cy="628650"/>
          </a:xfrm>
          <a:prstGeom prst="roundRect">
            <a:avLst>
              <a:gd name="adj" fmla="val 21212"/>
            </a:avLst>
          </a:prstGeom>
          <a:solidFill>
            <a:srgbClr val="8FD2EF"/>
          </a:solidFill>
          <a:ln w="0">
            <a:noFill/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ACAE8A1-A4F7-4475-A90D-52CC775D23B8}"/>
              </a:ext>
            </a:extLst>
          </p:cNvPr>
          <p:cNvSpPr>
            <a:spLocks noGrp="1"/>
          </p:cNvSpPr>
          <p:nvPr/>
        </p:nvSpPr>
        <p:spPr>
          <a:xfrm>
            <a:off x="3829050" y="3752850"/>
            <a:ext cx="42291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ctr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3 PROMOVIDAS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732A77A-CF15-421B-99C5-070767A2CC83}"/>
              </a:ext>
            </a:extLst>
          </p:cNvPr>
          <p:cNvSpPr>
            <a:spLocks noGrp="1"/>
          </p:cNvSpPr>
          <p:nvPr/>
        </p:nvSpPr>
        <p:spPr>
          <a:xfrm>
            <a:off x="3829050" y="4057650"/>
            <a:ext cx="42291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orçamento maior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56AD2F7-0315-4CDB-AC37-F01BBF559D2F}"/>
              </a:ext>
            </a:extLst>
          </p:cNvPr>
          <p:cNvSpPr>
            <a:spLocks noGrp="1"/>
          </p:cNvSpPr>
          <p:nvPr/>
        </p:nvSpPr>
        <p:spPr>
          <a:xfrm>
            <a:off x="5048250" y="4800600"/>
            <a:ext cx="1790700" cy="628650"/>
          </a:xfrm>
          <a:prstGeom prst="roundRect">
            <a:avLst>
              <a:gd name="adj" fmla="val 21212"/>
            </a:avLst>
          </a:prstGeom>
          <a:solidFill>
            <a:srgbClr val="0053D7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6C94CBD-C4B9-454B-9F7E-EFD78F3C27E0}"/>
              </a:ext>
            </a:extLst>
          </p:cNvPr>
          <p:cNvSpPr>
            <a:spLocks noGrp="1"/>
          </p:cNvSpPr>
          <p:nvPr/>
        </p:nvSpPr>
        <p:spPr>
          <a:xfrm>
            <a:off x="5048250" y="4819650"/>
            <a:ext cx="17907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ctr">
              <a:defRPr sz="15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 FINALISTA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63F5968-24F1-452F-9311-6E3F95C8FD7C}"/>
              </a:ext>
            </a:extLst>
          </p:cNvPr>
          <p:cNvSpPr>
            <a:spLocks noGrp="1"/>
          </p:cNvSpPr>
          <p:nvPr/>
        </p:nvSpPr>
        <p:spPr>
          <a:xfrm>
            <a:off x="5048250" y="51244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ctr">
              <a:defRPr sz="105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treino completo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8133B76-5B59-4052-AA25-F00E9F95FE47}"/>
              </a:ext>
            </a:extLst>
          </p:cNvPr>
          <p:cNvSpPr>
            <a:spLocks noGrp="1"/>
          </p:cNvSpPr>
          <p:nvPr/>
        </p:nvSpPr>
        <p:spPr>
          <a:xfrm>
            <a:off x="819150" y="57150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Muitas avaliações baratas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0ACF849-6226-40B5-9932-DEFEC2971819}"/>
              </a:ext>
            </a:extLst>
          </p:cNvPr>
          <p:cNvSpPr>
            <a:spLocks noGrp="1"/>
          </p:cNvSpPr>
          <p:nvPr/>
        </p:nvSpPr>
        <p:spPr>
          <a:xfrm>
            <a:off x="7867650" y="57150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Poucas avaliações completas</a:t>
            </a:r>
          </a:p>
        </p:txBody>
      </p:sp>
    </p:spTree>
    <p:extLst>
      <p:ext uri="{BB962C8B-B14F-4D97-AF65-F5344CB8AC3E}">
        <p14:creationId xmlns:p14="http://schemas.microsoft.com/office/powerpoint/2010/main" val="876829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36937964-72C8-46F6-BB74-689A96F4191D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BOHB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A9AAEC-CCC3-4F70-854D-D541BEFB1A3D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Otimização bayesiana com alocação adaptativa de orçamento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086815F-A93A-410E-9A0C-3138BD20EBC7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HYPERBAND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EAF79D-1BA8-4DB8-A8D0-08F499EA96B2}"/>
              </a:ext>
            </a:extLst>
          </p:cNvPr>
          <p:cNvSpPr>
            <a:spLocks noGrp="1"/>
          </p:cNvSpPr>
          <p:nvPr/>
        </p:nvSpPr>
        <p:spPr>
          <a:xfrm>
            <a:off x="819150" y="2247900"/>
            <a:ext cx="30480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Decide quanto orçamento</a:t>
            </a:r>
          </a:p>
          <a:p>
            <a:pPr algn="ctr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cada configuração recebe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549C1B-3512-4468-89DF-61E4E4D3B3AC}"/>
              </a:ext>
            </a:extLst>
          </p:cNvPr>
          <p:cNvSpPr>
            <a:spLocks noGrp="1"/>
          </p:cNvSpPr>
          <p:nvPr/>
        </p:nvSpPr>
        <p:spPr>
          <a:xfrm>
            <a:off x="4324350" y="2133600"/>
            <a:ext cx="8382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37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337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+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4725E58-6FE4-4739-B1F5-4C1D25706B5E}"/>
              </a:ext>
            </a:extLst>
          </p:cNvPr>
          <p:cNvSpPr>
            <a:spLocks noGrp="1"/>
          </p:cNvSpPr>
          <p:nvPr/>
        </p:nvSpPr>
        <p:spPr>
          <a:xfrm>
            <a:off x="5619750" y="16573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MODELO KDE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46EAD4B-B11D-4C78-AE33-7284F63F6BEA}"/>
              </a:ext>
            </a:extLst>
          </p:cNvPr>
          <p:cNvSpPr>
            <a:spLocks noGrp="1"/>
          </p:cNvSpPr>
          <p:nvPr/>
        </p:nvSpPr>
        <p:spPr>
          <a:xfrm>
            <a:off x="5619750" y="2247900"/>
            <a:ext cx="30480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Orienta novas amostras</a:t>
            </a:r>
          </a:p>
          <a:p>
            <a:pPr algn="ctr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para regiões promissoras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2A44B5-DFF2-4140-B960-8D2C755D9015}"/>
              </a:ext>
            </a:extLst>
          </p:cNvPr>
          <p:cNvSpPr>
            <a:spLocks noGrp="1"/>
          </p:cNvSpPr>
          <p:nvPr/>
        </p:nvSpPr>
        <p:spPr>
          <a:xfrm>
            <a:off x="8991600" y="2133600"/>
            <a:ext cx="8382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37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337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=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0A5FF5E-A332-41E0-82DE-2D97330FC2F2}"/>
              </a:ext>
            </a:extLst>
          </p:cNvPr>
          <p:cNvSpPr>
            <a:spLocks noGrp="1"/>
          </p:cNvSpPr>
          <p:nvPr/>
        </p:nvSpPr>
        <p:spPr>
          <a:xfrm>
            <a:off x="9963150" y="1657350"/>
            <a:ext cx="1428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BOHB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8239E1-389A-4D57-9326-5E4182D09A16}"/>
              </a:ext>
            </a:extLst>
          </p:cNvPr>
          <p:cNvSpPr>
            <a:spLocks noGrp="1"/>
          </p:cNvSpPr>
          <p:nvPr/>
        </p:nvSpPr>
        <p:spPr>
          <a:xfrm>
            <a:off x="1524000" y="3848100"/>
            <a:ext cx="4343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Avalia muitas configurações com orçamento baixo.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0EE8385-6003-4E96-A445-4BF89008D259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4343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Promove as melhores para orçamentos maiores.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7536465-022B-44F6-BE75-0C0C8DE6A8DE}"/>
              </a:ext>
            </a:extLst>
          </p:cNvPr>
          <p:cNvSpPr>
            <a:spLocks noGrp="1"/>
          </p:cNvSpPr>
          <p:nvPr/>
        </p:nvSpPr>
        <p:spPr>
          <a:xfrm>
            <a:off x="2914650" y="4857750"/>
            <a:ext cx="6572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Mantém parte das amostras aleatórias para preservar exploração.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94AE363-CE12-438C-9324-6D009AE29BF1}"/>
              </a:ext>
            </a:extLst>
          </p:cNvPr>
          <p:cNvSpPr>
            <a:spLocks noGrp="1"/>
          </p:cNvSpPr>
          <p:nvPr/>
        </p:nvSpPr>
        <p:spPr>
          <a:xfrm>
            <a:off x="3619500" y="563880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No Auto-PyTorch: 12, 25 e 50 épocas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B74746A-0705-47C5-9CA3-9CCF8BF35088}"/>
              </a:ext>
            </a:extLst>
          </p:cNvPr>
          <p:cNvSpPr>
            <a:spLocks noGrp="1"/>
          </p:cNvSpPr>
          <p:nvPr/>
        </p:nvSpPr>
        <p:spPr>
          <a:xfrm>
            <a:off x="333375" y="6419850"/>
            <a:ext cx="9906000" cy="17145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7778"/>
          </a:bodyPr>
          <a:lstStyle/>
          <a:p>
            <a:pPr algn="l">
              <a:def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Referência complementar: Falkner, Klein e Hutter (2018)</a:t>
            </a:r>
          </a:p>
        </p:txBody>
      </p:sp>
    </p:spTree>
    <p:extLst>
      <p:ext uri="{BB962C8B-B14F-4D97-AF65-F5344CB8AC3E}">
        <p14:creationId xmlns:p14="http://schemas.microsoft.com/office/powerpoint/2010/main" val="799960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387C2383-EE6D-414C-8E8F-F702C0AE488E}"/>
              </a:ext>
            </a:extLst>
          </p:cNvPr>
          <p:cNvSpPr>
            <a:spLocks noGrp="1"/>
          </p:cNvSpPr>
          <p:nvPr/>
        </p:nvSpPr>
        <p:spPr>
          <a:xfrm>
            <a:off x="419100" y="914400"/>
            <a:ext cx="304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8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AUTO-</a:t>
            </a:r>
          </a:p>
          <a:p>
            <a:pPr algn="l">
              <a:defRPr sz="28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8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PYTORCH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E44710-45D5-40F5-A1EA-DCFCB665335D}"/>
              </a:ext>
            </a:extLst>
          </p:cNvPr>
          <p:cNvSpPr>
            <a:spLocks noGrp="1"/>
          </p:cNvSpPr>
          <p:nvPr/>
        </p:nvSpPr>
        <p:spPr>
          <a:xfrm>
            <a:off x="438150" y="21145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DE HPO A AUTODL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408ABB1-2C8B-438C-ABAC-00E6FDB1E1A6}"/>
              </a:ext>
            </a:extLst>
          </p:cNvPr>
          <p:cNvSpPr>
            <a:spLocks noGrp="1"/>
          </p:cNvSpPr>
          <p:nvPr/>
        </p:nvSpPr>
        <p:spPr>
          <a:xfrm>
            <a:off x="552450" y="3219450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Busca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32C0C4A-7C61-4138-9D69-159218B789F8}"/>
              </a:ext>
            </a:extLst>
          </p:cNvPr>
          <p:cNvSpPr>
            <a:spLocks noGrp="1"/>
          </p:cNvSpPr>
          <p:nvPr/>
        </p:nvSpPr>
        <p:spPr>
          <a:xfrm>
            <a:off x="552450" y="36004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BOHB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A3CE59-7FB5-4428-8905-4FF98B344D11}"/>
              </a:ext>
            </a:extLst>
          </p:cNvPr>
          <p:cNvSpPr>
            <a:spLocks noGrp="1"/>
          </p:cNvSpPr>
          <p:nvPr/>
        </p:nvSpPr>
        <p:spPr>
          <a:xfrm>
            <a:off x="1924050" y="3219450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Warm start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A350BEE-CAC6-4560-A775-6BB08B182553}"/>
              </a:ext>
            </a:extLst>
          </p:cNvPr>
          <p:cNvSpPr>
            <a:spLocks noGrp="1"/>
          </p:cNvSpPr>
          <p:nvPr/>
        </p:nvSpPr>
        <p:spPr>
          <a:xfrm>
            <a:off x="1924050" y="36004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16 configs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08410D-79F8-4562-A49D-2FF2DC98C21D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100 tarefas de meta-treinamento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ECA5C34-59CC-4E46-B722-42514A9D63B9}"/>
              </a:ext>
            </a:extLst>
          </p:cNvPr>
          <p:cNvSpPr>
            <a:spLocks noGrp="1"/>
          </p:cNvSpPr>
          <p:nvPr/>
        </p:nvSpPr>
        <p:spPr>
          <a:xfrm>
            <a:off x="5619750" y="70485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 que o sistema automatiza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BED1BA7-5155-4B3F-A4A9-DD05C44416BD}"/>
              </a:ext>
            </a:extLst>
          </p:cNvPr>
          <p:cNvSpPr>
            <a:spLocks noGrp="1"/>
          </p:cNvSpPr>
          <p:nvPr/>
        </p:nvSpPr>
        <p:spPr>
          <a:xfrm>
            <a:off x="5619750" y="152400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• Pré-processamento e arquitetura da rede.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73E1C6A-1AE0-4D1C-A187-180861918AE1}"/>
              </a:ext>
            </a:extLst>
          </p:cNvPr>
          <p:cNvSpPr>
            <a:spLocks noGrp="1"/>
          </p:cNvSpPr>
          <p:nvPr/>
        </p:nvSpPr>
        <p:spPr>
          <a:xfrm>
            <a:off x="5619750" y="232410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• Hiperparâmetros de treinamento.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4DD89B6-084C-4423-AE3B-618C6C4C4F2F}"/>
              </a:ext>
            </a:extLst>
          </p:cNvPr>
          <p:cNvSpPr>
            <a:spLocks noGrp="1"/>
          </p:cNvSpPr>
          <p:nvPr/>
        </p:nvSpPr>
        <p:spPr>
          <a:xfrm>
            <a:off x="5619750" y="312420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• Portfólio meta-aprendido para warm start.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874B051-ACEF-4577-835A-1FC9527A62D2}"/>
              </a:ext>
            </a:extLst>
          </p:cNvPr>
          <p:cNvSpPr>
            <a:spLocks noGrp="1"/>
          </p:cNvSpPr>
          <p:nvPr/>
        </p:nvSpPr>
        <p:spPr>
          <a:xfrm>
            <a:off x="5619750" y="392430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• Seleção automática de ensembles.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F93A564-5AB9-465A-9881-86F401E6FD44}"/>
              </a:ext>
            </a:extLst>
          </p:cNvPr>
          <p:cNvSpPr>
            <a:spLocks noGrp="1"/>
          </p:cNvSpPr>
          <p:nvPr/>
        </p:nvSpPr>
        <p:spPr>
          <a:xfrm>
            <a:off x="5943600" y="51244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9DFF00"/>
                </a:solidFill>
                <a:latin typeface="Trebuchet MS"/>
                <a:ea typeface="Trebuchet MS"/>
                <a:cs typeface="Trebuchet MS"/>
              </a:rPr>
              <a:t>Foco principal do artigo: dados tabulares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BD990F9-24A8-4811-B2D2-85EEC47880C7}"/>
              </a:ext>
            </a:extLst>
          </p:cNvPr>
          <p:cNvSpPr>
            <a:spLocks noGrp="1"/>
          </p:cNvSpPr>
          <p:nvPr/>
        </p:nvSpPr>
        <p:spPr>
          <a:xfrm>
            <a:off x="5810250" y="56769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Maior automação, maior complexidade operacional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0A61CB2-F679-426C-ACC4-EB582864E1EE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7778"/>
          </a:bodyPr>
          <a:lstStyle/>
          <a:p>
            <a:pPr algn="l">
              <a:defRPr sz="6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675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Fonte: Zimmer, Lindauer e Hutter (2021)</a:t>
            </a:r>
          </a:p>
        </p:txBody>
      </p:sp>
    </p:spTree>
    <p:extLst>
      <p:ext uri="{BB962C8B-B14F-4D97-AF65-F5344CB8AC3E}">
        <p14:creationId xmlns:p14="http://schemas.microsoft.com/office/powerpoint/2010/main" val="154872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ED2A206-8A12-40CE-AF6D-B39A1B482C00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PIPELINE DO AUTO-PYTORCH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247A02F-70B6-47A7-86AC-A8105583691A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Quatro componentes transformam a busca em um sistema AutoDL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E94123-5F74-48DF-A394-8D8768FDCAC6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7048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28359B-D0A5-42E0-847B-A48EEFCA55E8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2514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PORTFÓLIO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7CA0B8D-E870-4F2F-A559-B54CF72CC929}"/>
              </a:ext>
            </a:extLst>
          </p:cNvPr>
          <p:cNvSpPr>
            <a:spLocks noGrp="1"/>
          </p:cNvSpPr>
          <p:nvPr/>
        </p:nvSpPr>
        <p:spPr>
          <a:xfrm>
            <a:off x="628650" y="2990850"/>
            <a:ext cx="22479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Configurações fortes para iniciar a busca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85AAADF-E04C-4495-81CA-6342F08BD669}"/>
              </a:ext>
            </a:extLst>
          </p:cNvPr>
          <p:cNvSpPr>
            <a:spLocks noGrp="1"/>
          </p:cNvSpPr>
          <p:nvPr/>
        </p:nvSpPr>
        <p:spPr>
          <a:xfrm>
            <a:off x="3143250" y="1752600"/>
            <a:ext cx="19050" cy="220980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03C75C7-3F1A-4C2F-A0D7-7B524DCCC867}"/>
              </a:ext>
            </a:extLst>
          </p:cNvPr>
          <p:cNvSpPr>
            <a:spLocks noGrp="1"/>
          </p:cNvSpPr>
          <p:nvPr/>
        </p:nvSpPr>
        <p:spPr>
          <a:xfrm>
            <a:off x="3333750" y="1638300"/>
            <a:ext cx="7048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58E9B50-AE17-408A-A6EB-51E43320F6CD}"/>
              </a:ext>
            </a:extLst>
          </p:cNvPr>
          <p:cNvSpPr>
            <a:spLocks noGrp="1"/>
          </p:cNvSpPr>
          <p:nvPr/>
        </p:nvSpPr>
        <p:spPr>
          <a:xfrm>
            <a:off x="3371850" y="2381250"/>
            <a:ext cx="2514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BOHB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D9E95B-E854-4B13-8656-3D7572E73096}"/>
              </a:ext>
            </a:extLst>
          </p:cNvPr>
          <p:cNvSpPr>
            <a:spLocks noGrp="1"/>
          </p:cNvSpPr>
          <p:nvPr/>
        </p:nvSpPr>
        <p:spPr>
          <a:xfrm>
            <a:off x="3505200" y="2990850"/>
            <a:ext cx="22479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Busca orientada e múltiplas fidelidades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2B9A88-1FB0-48D2-823B-7FE20AE64C10}"/>
              </a:ext>
            </a:extLst>
          </p:cNvPr>
          <p:cNvSpPr>
            <a:spLocks noGrp="1"/>
          </p:cNvSpPr>
          <p:nvPr/>
        </p:nvSpPr>
        <p:spPr>
          <a:xfrm>
            <a:off x="6019800" y="1752600"/>
            <a:ext cx="19050" cy="220980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283EADB-EEB2-4B34-8241-AA631A0AFE12}"/>
              </a:ext>
            </a:extLst>
          </p:cNvPr>
          <p:cNvSpPr>
            <a:spLocks noGrp="1"/>
          </p:cNvSpPr>
          <p:nvPr/>
        </p:nvSpPr>
        <p:spPr>
          <a:xfrm>
            <a:off x="6210300" y="1638300"/>
            <a:ext cx="7048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E5A6CC5-0540-461C-8466-517C0F0C96C3}"/>
              </a:ext>
            </a:extLst>
          </p:cNvPr>
          <p:cNvSpPr>
            <a:spLocks noGrp="1"/>
          </p:cNvSpPr>
          <p:nvPr/>
        </p:nvSpPr>
        <p:spPr>
          <a:xfrm>
            <a:off x="6248400" y="2381250"/>
            <a:ext cx="2514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PIPELINE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E5FF69D-298B-4448-9B72-F596993BFD00}"/>
              </a:ext>
            </a:extLst>
          </p:cNvPr>
          <p:cNvSpPr>
            <a:spLocks noGrp="1"/>
          </p:cNvSpPr>
          <p:nvPr/>
        </p:nvSpPr>
        <p:spPr>
          <a:xfrm>
            <a:off x="6381750" y="2990850"/>
            <a:ext cx="22479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Pré-processamento, rede e treinamento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26FAED5-6364-416F-AF50-B3DC0C4A9703}"/>
              </a:ext>
            </a:extLst>
          </p:cNvPr>
          <p:cNvSpPr>
            <a:spLocks noGrp="1"/>
          </p:cNvSpPr>
          <p:nvPr/>
        </p:nvSpPr>
        <p:spPr>
          <a:xfrm>
            <a:off x="8896350" y="1752600"/>
            <a:ext cx="19050" cy="220980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B88384B-509F-41ED-9BF9-2C0FB4933C7D}"/>
              </a:ext>
            </a:extLst>
          </p:cNvPr>
          <p:cNvSpPr>
            <a:spLocks noGrp="1"/>
          </p:cNvSpPr>
          <p:nvPr/>
        </p:nvSpPr>
        <p:spPr>
          <a:xfrm>
            <a:off x="9086850" y="1638300"/>
            <a:ext cx="7048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CD007D2-696C-4FAE-A6C2-A681699D13F6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2514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ENSEMBLE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D31243E-BCAE-4A85-BEAE-8DC3511C7D9B}"/>
              </a:ext>
            </a:extLst>
          </p:cNvPr>
          <p:cNvSpPr>
            <a:spLocks noGrp="1"/>
          </p:cNvSpPr>
          <p:nvPr/>
        </p:nvSpPr>
        <p:spPr>
          <a:xfrm>
            <a:off x="9258300" y="2990850"/>
            <a:ext cx="22479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Combina modelos já avaliados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0FC096C-B47E-4713-BCC5-D5A63654C49D}"/>
              </a:ext>
            </a:extLst>
          </p:cNvPr>
          <p:cNvSpPr>
            <a:spLocks noGrp="1"/>
          </p:cNvSpPr>
          <p:nvPr/>
        </p:nvSpPr>
        <p:spPr>
          <a:xfrm>
            <a:off x="1352550" y="4686300"/>
            <a:ext cx="44767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Meta-learning reduz o tempo até uma boa configuração.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43A1B8A-99F2-4597-87F6-D714623D4417}"/>
              </a:ext>
            </a:extLst>
          </p:cNvPr>
          <p:cNvSpPr>
            <a:spLocks noGrp="1"/>
          </p:cNvSpPr>
          <p:nvPr/>
        </p:nvSpPr>
        <p:spPr>
          <a:xfrm>
            <a:off x="6381750" y="4686300"/>
            <a:ext cx="4667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Múltiplas fidelidades evitam treinos completos desnecessários.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A12ECAC-3194-43A7-8CA4-93827C5939D4}"/>
              </a:ext>
            </a:extLst>
          </p:cNvPr>
          <p:cNvSpPr>
            <a:spLocks noGrp="1"/>
          </p:cNvSpPr>
          <p:nvPr/>
        </p:nvSpPr>
        <p:spPr>
          <a:xfrm>
            <a:off x="1714500" y="5695950"/>
            <a:ext cx="8763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Ensemble: redes, RF, Extra Trees, LightGBM, CatBoost e k-NN</a:t>
            </a:r>
          </a:p>
        </p:txBody>
      </p:sp>
    </p:spTree>
    <p:extLst>
      <p:ext uri="{BB962C8B-B14F-4D97-AF65-F5344CB8AC3E}">
        <p14:creationId xmlns:p14="http://schemas.microsoft.com/office/powerpoint/2010/main" val="1141843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9074E7EE-6EF6-4E49-B296-9BF6DEC3AE5B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LCBENCH E CORRELAÇÃO ENTRE FIDELIDADES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E587776-B76A-4E9F-A276-5474AC8B6C5D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Correlação de Spearman entre rankings. Valores maiores indicam maior estabilidade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52450" y="1428750"/>
          <a:ext cx="7334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9ABFA89D-1016-4C0F-AC5E-325BF998E119}"/>
              </a:ext>
            </a:extLst>
          </p:cNvPr>
          <p:cNvSpPr>
            <a:spLocks noGrp="1"/>
          </p:cNvSpPr>
          <p:nvPr/>
        </p:nvSpPr>
        <p:spPr>
          <a:xfrm>
            <a:off x="8305800" y="1600200"/>
            <a:ext cx="29146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2.000 × 35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0A21725-25C7-49E7-AAE6-E6BE0453B69C}"/>
              </a:ext>
            </a:extLst>
          </p:cNvPr>
          <p:cNvSpPr>
            <a:spLocks noGrp="1"/>
          </p:cNvSpPr>
          <p:nvPr/>
        </p:nvSpPr>
        <p:spPr>
          <a:xfrm>
            <a:off x="8305800" y="2057400"/>
            <a:ext cx="2914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configurações × datasets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4055913-3AC2-40F8-8A60-D968E09BE53F}"/>
              </a:ext>
            </a:extLst>
          </p:cNvPr>
          <p:cNvSpPr>
            <a:spLocks noGrp="1"/>
          </p:cNvSpPr>
          <p:nvPr/>
        </p:nvSpPr>
        <p:spPr>
          <a:xfrm>
            <a:off x="8305800" y="2647950"/>
            <a:ext cx="29146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/>
          </a:bodyPr>
          <a:lstStyle/>
          <a:p>
            <a:pPr algn="ctr">
              <a:defRPr sz="187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3 sementes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834863-22C7-42FA-AEEF-B635C5864536}"/>
              </a:ext>
            </a:extLst>
          </p:cNvPr>
          <p:cNvSpPr>
            <a:spLocks noGrp="1"/>
          </p:cNvSpPr>
          <p:nvPr/>
        </p:nvSpPr>
        <p:spPr>
          <a:xfrm>
            <a:off x="8305800" y="3028950"/>
            <a:ext cx="2914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3 orçamentos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2207225-0678-4B47-8FFF-96CCE055AFD9}"/>
              </a:ext>
            </a:extLst>
          </p:cNvPr>
          <p:cNvSpPr>
            <a:spLocks noGrp="1"/>
          </p:cNvSpPr>
          <p:nvPr/>
        </p:nvSpPr>
        <p:spPr>
          <a:xfrm>
            <a:off x="8305800" y="3543300"/>
            <a:ext cx="29146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/>
          </a:bodyPr>
          <a:lstStyle/>
          <a:p>
            <a:pPr algn="ctr">
              <a:defRPr sz="18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≈ 1.500 h de CPU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2E447B2-A211-4DA8-BE24-3660E78ED9EE}"/>
              </a:ext>
            </a:extLst>
          </p:cNvPr>
          <p:cNvSpPr>
            <a:spLocks noGrp="1"/>
          </p:cNvSpPr>
          <p:nvPr/>
        </p:nvSpPr>
        <p:spPr>
          <a:xfrm>
            <a:off x="8305800" y="3924300"/>
            <a:ext cx="2914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custo de coleta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CCF4CE4-EEDA-479D-A514-40856D8B2CB5}"/>
              </a:ext>
            </a:extLst>
          </p:cNvPr>
          <p:cNvSpPr>
            <a:spLocks noGrp="1"/>
          </p:cNvSpPr>
          <p:nvPr/>
        </p:nvSpPr>
        <p:spPr>
          <a:xfrm>
            <a:off x="8172450" y="4457700"/>
            <a:ext cx="3181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Portfólio de 10 configs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12F3976-4A50-4918-97BD-5E1323D6E7A4}"/>
              </a:ext>
            </a:extLst>
          </p:cNvPr>
          <p:cNvSpPr>
            <a:spLocks noGrp="1"/>
          </p:cNvSpPr>
          <p:nvPr/>
        </p:nvSpPr>
        <p:spPr>
          <a:xfrm>
            <a:off x="8172450" y="4800600"/>
            <a:ext cx="3181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arrependimento médio &lt; 0,1%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8403C2B-E8B1-41C5-BB97-4EC5DB850472}"/>
              </a:ext>
            </a:extLst>
          </p:cNvPr>
          <p:cNvSpPr>
            <a:spLocks noGrp="1"/>
          </p:cNvSpPr>
          <p:nvPr/>
        </p:nvSpPr>
        <p:spPr>
          <a:xfrm>
            <a:off x="8172450" y="5467350"/>
            <a:ext cx="3181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F2900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2900"/>
                </a:solidFill>
                <a:latin typeface="Trebuchet MS"/>
                <a:ea typeface="Trebuchet MS"/>
                <a:cs typeface="Trebuchet MS"/>
              </a:rPr>
              <a:t>Correlação: 0,88 a 0,96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BF9053-DA77-43CA-ADBA-29905929C329}"/>
              </a:ext>
            </a:extLst>
          </p:cNvPr>
          <p:cNvSpPr>
            <a:spLocks noGrp="1"/>
          </p:cNvSpPr>
          <p:nvPr/>
        </p:nvSpPr>
        <p:spPr>
          <a:xfrm>
            <a:off x="333375" y="6419850"/>
            <a:ext cx="9906000" cy="17145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7778"/>
          </a:bodyPr>
          <a:lstStyle/>
          <a:p>
            <a:pPr algn="l">
              <a:def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Fonte: Zimmer, Lindauer e Hutter (2021), Tabela 3</a:t>
            </a:r>
          </a:p>
        </p:txBody>
      </p:sp>
    </p:spTree>
    <p:extLst>
      <p:ext uri="{BB962C8B-B14F-4D97-AF65-F5344CB8AC3E}">
        <p14:creationId xmlns:p14="http://schemas.microsoft.com/office/powerpoint/2010/main" val="9026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F7D36CC5-78F1-4811-92AF-C571BA9CF073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RESULTADOS DO AUTO-PYTORCH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8F6E65D-1708-4EFE-826D-3985093795B0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Exemplo reportado no conjunto covertype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28650" y="1562100"/>
          <a:ext cx="61912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A00AB67B-DFC0-4054-9916-BEFAFEFBD4F9}"/>
              </a:ext>
            </a:extLst>
          </p:cNvPr>
          <p:cNvSpPr>
            <a:spLocks noGrp="1"/>
          </p:cNvSpPr>
          <p:nvPr/>
        </p:nvSpPr>
        <p:spPr>
          <a:xfrm>
            <a:off x="7524750" y="16764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LEITURA RÁPIDA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157AB4-AE11-4B33-9958-F376A4F6739E}"/>
              </a:ext>
            </a:extLst>
          </p:cNvPr>
          <p:cNvSpPr>
            <a:spLocks noGrp="1"/>
          </p:cNvSpPr>
          <p:nvPr/>
        </p:nvSpPr>
        <p:spPr>
          <a:xfrm>
            <a:off x="7562850" y="2343150"/>
            <a:ext cx="3429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No covertype, o erro caiu de 31,78% para 3,14%.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218CD30-4A48-4154-921C-A076320A7C35}"/>
              </a:ext>
            </a:extLst>
          </p:cNvPr>
          <p:cNvSpPr>
            <a:spLocks noGrp="1"/>
          </p:cNvSpPr>
          <p:nvPr/>
        </p:nvSpPr>
        <p:spPr>
          <a:xfrm>
            <a:off x="7562850" y="3333750"/>
            <a:ext cx="3429000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Três workers alcançaram speedup de 3× ou mais nas maiores tarefas.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A8A379C-039B-4A61-9C31-02D4632482BC}"/>
              </a:ext>
            </a:extLst>
          </p:cNvPr>
          <p:cNvSpPr>
            <a:spLocks noGrp="1"/>
          </p:cNvSpPr>
          <p:nvPr/>
        </p:nvSpPr>
        <p:spPr>
          <a:xfrm>
            <a:off x="7562850" y="4438650"/>
            <a:ext cx="3429000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FE811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FE811A"/>
                </a:solidFill>
                <a:latin typeface="Trebuchet MS"/>
                <a:ea typeface="Trebuchet MS"/>
                <a:cs typeface="Trebuchet MS"/>
              </a:rPr>
              <a:t>• Com ensemble e stacking, o AutoGluon obteve pequena vantagem.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5F94756-6752-4DA7-8134-D125CF14F063}"/>
              </a:ext>
            </a:extLst>
          </p:cNvPr>
          <p:cNvSpPr>
            <a:spLocks noGrp="1"/>
          </p:cNvSpPr>
          <p:nvPr/>
        </p:nvSpPr>
        <p:spPr>
          <a:xfrm>
            <a:off x="7562850" y="55054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Não há superioridade universal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026D9CA-00B7-4846-8C35-70F5AF17757F}"/>
              </a:ext>
            </a:extLst>
          </p:cNvPr>
          <p:cNvSpPr>
            <a:spLocks noGrp="1"/>
          </p:cNvSpPr>
          <p:nvPr/>
        </p:nvSpPr>
        <p:spPr>
          <a:xfrm>
            <a:off x="333375" y="6419850"/>
            <a:ext cx="9906000" cy="17145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7778"/>
          </a:bodyPr>
          <a:lstStyle/>
          <a:p>
            <a:pPr algn="l">
              <a:def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675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Fonte: Zimmer, Lindauer e Hutter (2021)</a:t>
            </a:r>
          </a:p>
        </p:txBody>
      </p:sp>
    </p:spTree>
    <p:extLst>
      <p:ext uri="{BB962C8B-B14F-4D97-AF65-F5344CB8AC3E}">
        <p14:creationId xmlns:p14="http://schemas.microsoft.com/office/powerpoint/2010/main" val="973573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06FF8F2-ADD2-4C3A-9477-852ABC2773CA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COMPARAÇÃO PRÁTICA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8155ACB-9EE6-4967-80CA-F666ACD168E0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Algoritmos, ferramenta e sistema AutoDL ocupam níveis diferentes</a:t>
            </a:r>
          </a:p>
        </p:txBody>
      </p:sp>
      <p:graphicFrame>
        <p:nvGraphicFramePr>
          <p:cNvPr id="7" name="Tabela 6"/>
          <p:cNvGraphicFramePr/>
          <p:nvPr/>
        </p:nvGraphicFramePr>
        <p:xfrm>
          <a:off x="400050" y="1371600"/>
          <a:ext cx="11239500" cy="40386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Opção</a:t>
                      </a:r>
                    </a:p>
                  </a:txBody>
                  <a:tcPr marL="76200" marR="76200" marT="57150" marB="57150" anchor="ctr">
                    <a:solidFill>
                      <a:srgbClr val="002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Natureza</a:t>
                      </a:r>
                    </a:p>
                  </a:txBody>
                  <a:tcPr marL="76200" marR="76200" marT="57150" marB="57150" anchor="ctr">
                    <a:solidFill>
                      <a:srgbClr val="002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Quando usar</a:t>
                      </a:r>
                    </a:p>
                  </a:txBody>
                  <a:tcPr marL="76200" marR="76200" marT="57150" marB="57150" anchor="ctr">
                    <a:solidFill>
                      <a:srgbClr val="002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Principal cuidado</a:t>
                      </a:r>
                    </a:p>
                  </a:txBody>
                  <a:tcPr marL="76200" marR="76200" marT="57150" marB="57150" anchor="ctr">
                    <a:solidFill>
                      <a:srgbClr val="0024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Grid Search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Algoritmo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Espaço pequeno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Explosão combinatória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Random Search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Algoritmo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Baseline paralelizável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Não aprende</a:t>
                      </a: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TPE + Optuna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Algoritmo + ferramenta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Avaliações caras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Precisa de histórico útil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BOHB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Otimizador multifidelidade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Métrica intermediária confiável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Pode eliminar bons candidatos</a:t>
                      </a: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Auto-PyTorch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Sistema AutoDL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Pipeline tabular completa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63A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Custo e complexidade</a:t>
                      </a:r>
                    </a:p>
                  </a:txBody>
                  <a:tcPr marL="76200" marR="76200" marT="57150" marB="5715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8EAF4020-81F3-4E73-9CB6-D73FE7BF2E56}"/>
              </a:ext>
            </a:extLst>
          </p:cNvPr>
          <p:cNvSpPr>
            <a:spLocks noGrp="1"/>
          </p:cNvSpPr>
          <p:nvPr/>
        </p:nvSpPr>
        <p:spPr>
          <a:xfrm>
            <a:off x="1562100" y="5695950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Auto-PyTorch usa BOHB nos experimentos do artigo, não Optuna</a:t>
            </a:r>
          </a:p>
        </p:txBody>
      </p:sp>
    </p:spTree>
    <p:extLst>
      <p:ext uri="{BB962C8B-B14F-4D97-AF65-F5344CB8AC3E}">
        <p14:creationId xmlns:p14="http://schemas.microsoft.com/office/powerpoint/2010/main" val="406392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D09CEFBF-FC2C-46CB-A1A1-7FF9DCCE1454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LIMITAÇÕES E CUIDADOS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4AC280-5AAF-47AA-BF4C-81AC95527932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Os resultados dependem do problema e do desenho experimental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857E503-031F-48ED-8317-42CDBD543D82}"/>
              </a:ext>
            </a:extLst>
          </p:cNvPr>
          <p:cNvSpPr>
            <a:spLocks noGrp="1"/>
          </p:cNvSpPr>
          <p:nvPr/>
        </p:nvSpPr>
        <p:spPr>
          <a:xfrm>
            <a:off x="819150" y="14668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BERGSTRA ET AL. (2011)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1B7EFF-D5C3-4240-9D8C-ECB2CC9AB333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Comparação sequencial detalhada em duas tarefas de DBN.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38E2D7F-34AA-4575-A111-84095B437EC9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Um surrogate inadequado pode levar a um ótimo local.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68883C-50F9-48C2-9358-AB936B914470}"/>
              </a:ext>
            </a:extLst>
          </p:cNvPr>
          <p:cNvSpPr>
            <a:spLocks noGrp="1"/>
          </p:cNvSpPr>
          <p:nvPr/>
        </p:nvSpPr>
        <p:spPr>
          <a:xfrm>
            <a:off x="876300" y="4038600"/>
            <a:ext cx="457200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A vantagem do TPE sobre GP exigia mais evidência empírica.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5AF1C6E-3886-49CA-8CA7-47E7BA0761CA}"/>
              </a:ext>
            </a:extLst>
          </p:cNvPr>
          <p:cNvSpPr>
            <a:spLocks noGrp="1"/>
          </p:cNvSpPr>
          <p:nvPr/>
        </p:nvSpPr>
        <p:spPr>
          <a:xfrm>
            <a:off x="5962650" y="1371600"/>
            <a:ext cx="19050" cy="3981450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B134980-C407-4C2C-9C5E-226946A83E9B}"/>
              </a:ext>
            </a:extLst>
          </p:cNvPr>
          <p:cNvSpPr>
            <a:spLocks noGrp="1"/>
          </p:cNvSpPr>
          <p:nvPr/>
        </p:nvSpPr>
        <p:spPr>
          <a:xfrm>
            <a:off x="6477000" y="14668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AUTO-PYTORCH (2021)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06069C-312E-4334-BCBE-79C4AC9E1F55}"/>
              </a:ext>
            </a:extLst>
          </p:cNvPr>
          <p:cNvSpPr>
            <a:spLocks noGrp="1"/>
          </p:cNvSpPr>
          <p:nvPr/>
        </p:nvSpPr>
        <p:spPr>
          <a:xfrm>
            <a:off x="6534150" y="217170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LCBench usa um espaço menor que o sistema completo.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618162A-036E-4295-9786-C292E55BB9EF}"/>
              </a:ext>
            </a:extLst>
          </p:cNvPr>
          <p:cNvSpPr>
            <a:spLocks noGrp="1"/>
          </p:cNvSpPr>
          <p:nvPr/>
        </p:nvSpPr>
        <p:spPr>
          <a:xfrm>
            <a:off x="6534150" y="291465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A avaliação principal usa apenas 8 datasets de meta-teste.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82B2E97-3EAA-4860-AF37-B77CF6E6F060}"/>
              </a:ext>
            </a:extLst>
          </p:cNvPr>
          <p:cNvSpPr>
            <a:spLocks noGrp="1"/>
          </p:cNvSpPr>
          <p:nvPr/>
        </p:nvSpPr>
        <p:spPr>
          <a:xfrm>
            <a:off x="6534150" y="365760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Acurácia limita a análise de dados desbalanceados.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23E7A0A-1377-4FF5-9171-18403A1EB836}"/>
              </a:ext>
            </a:extLst>
          </p:cNvPr>
          <p:cNvSpPr>
            <a:spLocks noGrp="1"/>
          </p:cNvSpPr>
          <p:nvPr/>
        </p:nvSpPr>
        <p:spPr>
          <a:xfrm>
            <a:off x="6534150" y="440055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18263A"/>
                </a:solidFill>
                <a:latin typeface="Trebuchet MS"/>
                <a:ea typeface="Trebuchet MS"/>
                <a:cs typeface="Trebuchet MS"/>
              </a:rPr>
              <a:t>• Portfólio depende de tarefas anteriores representativas.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38D71C8-9A09-4E5C-AF54-3DC7D0F865A1}"/>
              </a:ext>
            </a:extLst>
          </p:cNvPr>
          <p:cNvSpPr>
            <a:spLocks noGrp="1"/>
          </p:cNvSpPr>
          <p:nvPr/>
        </p:nvSpPr>
        <p:spPr>
          <a:xfrm>
            <a:off x="6477000" y="52197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341"/>
          </a:bodyPr>
          <a:lstStyle/>
          <a:p>
            <a:pPr algn="ctr">
              <a:defRPr sz="1200" b="1">
                <a:solidFill>
                  <a:srgbClr val="FE811A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E811A"/>
                </a:solidFill>
                <a:latin typeface="Trebuchet MS"/>
                <a:ea typeface="Trebuchet MS"/>
                <a:cs typeface="Trebuchet MS"/>
              </a:rPr>
              <a:t>Ensembles podem sobreajustar a validação reutilizada na busca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17A024C-FBDE-48EC-A300-B9FC483C13DF}"/>
              </a:ext>
            </a:extLst>
          </p:cNvPr>
          <p:cNvSpPr>
            <a:spLocks noGrp="1"/>
          </p:cNvSpPr>
          <p:nvPr/>
        </p:nvSpPr>
        <p:spPr>
          <a:xfrm>
            <a:off x="1790700" y="5657850"/>
            <a:ext cx="86106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2900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FF2900"/>
                </a:solidFill>
                <a:latin typeface="Trebuchet MS"/>
                <a:ea typeface="Trebuchet MS"/>
                <a:cs typeface="Trebuchet MS"/>
              </a:rPr>
              <a:t>HPO também pode sobreajustar a validação. O teste deve permanecer isolado.</a:t>
            </a:r>
          </a:p>
        </p:txBody>
      </p:sp>
    </p:spTree>
    <p:extLst>
      <p:ext uri="{BB962C8B-B14F-4D97-AF65-F5344CB8AC3E}">
        <p14:creationId xmlns:p14="http://schemas.microsoft.com/office/powerpoint/2010/main" val="377457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A5B2C1F7-8A43-4A4D-A5C9-A8AC167106D3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CONCLUSÕES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1DE539F-EE00-4484-AD00-4AB53B3DF40A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Cinco ideias para levar da apresentação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94D42F0-4244-4A92-A3B2-001023708438}"/>
              </a:ext>
            </a:extLst>
          </p:cNvPr>
          <p:cNvSpPr>
            <a:spLocks noGrp="1"/>
          </p:cNvSpPr>
          <p:nvPr/>
        </p:nvSpPr>
        <p:spPr>
          <a:xfrm>
            <a:off x="742950" y="13525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D3DABC1-5564-47E1-AD98-67925B701150}"/>
              </a:ext>
            </a:extLst>
          </p:cNvPr>
          <p:cNvSpPr>
            <a:spLocks noGrp="1"/>
          </p:cNvSpPr>
          <p:nvPr/>
        </p:nvSpPr>
        <p:spPr>
          <a:xfrm>
            <a:off x="1581150" y="13525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Grid Search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1A69F2E-C234-4A06-8A56-9F9077C82865}"/>
              </a:ext>
            </a:extLst>
          </p:cNvPr>
          <p:cNvSpPr>
            <a:spLocks noGrp="1"/>
          </p:cNvSpPr>
          <p:nvPr/>
        </p:nvSpPr>
        <p:spPr>
          <a:xfrm>
            <a:off x="4476750" y="13525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Funciona em espaços pequenos, mas escala mal.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2FBE1CD-B73D-4A9B-8AB7-1636A8745F81}"/>
              </a:ext>
            </a:extLst>
          </p:cNvPr>
          <p:cNvSpPr>
            <a:spLocks noGrp="1"/>
          </p:cNvSpPr>
          <p:nvPr/>
        </p:nvSpPr>
        <p:spPr>
          <a:xfrm>
            <a:off x="1581150" y="1943100"/>
            <a:ext cx="9525000" cy="9525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AFC74AD-639C-4EB3-A7A1-AD042853C19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9CA50D3-5842-4C0C-B7E9-54BA3BAE6082}"/>
              </a:ext>
            </a:extLst>
          </p:cNvPr>
          <p:cNvSpPr>
            <a:spLocks noGrp="1"/>
          </p:cNvSpPr>
          <p:nvPr/>
        </p:nvSpPr>
        <p:spPr>
          <a:xfrm>
            <a:off x="1581150" y="22288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Random Search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605A6D6-A97C-4F33-A4B8-F3A60E381F2E}"/>
              </a:ext>
            </a:extLst>
          </p:cNvPr>
          <p:cNvSpPr>
            <a:spLocks noGrp="1"/>
          </p:cNvSpPr>
          <p:nvPr/>
        </p:nvSpPr>
        <p:spPr>
          <a:xfrm>
            <a:off x="4476750" y="22288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É o baseline simples, robusto e paralelizável.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F2D3F3C-D413-400A-896B-17A53E32A79B}"/>
              </a:ext>
            </a:extLst>
          </p:cNvPr>
          <p:cNvSpPr>
            <a:spLocks noGrp="1"/>
          </p:cNvSpPr>
          <p:nvPr/>
        </p:nvSpPr>
        <p:spPr>
          <a:xfrm>
            <a:off x="1581150" y="2819400"/>
            <a:ext cx="9525000" cy="9525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FB71CEF-FCD0-425C-9D24-1E24CE976592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FF88632-43C0-4563-A05A-D6F34E78FD04}"/>
              </a:ext>
            </a:extLst>
          </p:cNvPr>
          <p:cNvSpPr>
            <a:spLocks noGrp="1"/>
          </p:cNvSpPr>
          <p:nvPr/>
        </p:nvSpPr>
        <p:spPr>
          <a:xfrm>
            <a:off x="1581150" y="31051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TPE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64FD0C6-C74A-45DF-996B-FF48D7244C4C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Usa o histórico para concentrar novas avaliações.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C945F5F-5B9B-41CA-9532-D451A3305C3D}"/>
              </a:ext>
            </a:extLst>
          </p:cNvPr>
          <p:cNvSpPr>
            <a:spLocks noGrp="1"/>
          </p:cNvSpPr>
          <p:nvPr/>
        </p:nvSpPr>
        <p:spPr>
          <a:xfrm>
            <a:off x="1581150" y="3695700"/>
            <a:ext cx="9525000" cy="9525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ADFCCA1-9933-480C-8E70-3A31E84A3095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037784C-6E5F-480B-9506-1C3B16D895AC}"/>
              </a:ext>
            </a:extLst>
          </p:cNvPr>
          <p:cNvSpPr>
            <a:spLocks noGrp="1"/>
          </p:cNvSpPr>
          <p:nvPr/>
        </p:nvSpPr>
        <p:spPr>
          <a:xfrm>
            <a:off x="1581150" y="39814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BOHB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FEECEEF-C60B-4A53-B14D-2B72E8D77421}"/>
              </a:ext>
            </a:extLst>
          </p:cNvPr>
          <p:cNvSpPr>
            <a:spLocks noGrp="1"/>
          </p:cNvSpPr>
          <p:nvPr/>
        </p:nvSpPr>
        <p:spPr>
          <a:xfrm>
            <a:off x="4476750" y="39814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Distribui o orçamento e mantém busca orientada.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D1A80C4-7243-43F6-BA4C-EA44E5D0FCC6}"/>
              </a:ext>
            </a:extLst>
          </p:cNvPr>
          <p:cNvSpPr>
            <a:spLocks noGrp="1"/>
          </p:cNvSpPr>
          <p:nvPr/>
        </p:nvSpPr>
        <p:spPr>
          <a:xfrm>
            <a:off x="1581150" y="4572000"/>
            <a:ext cx="9525000" cy="9525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A6758DC-A259-45F9-9187-8FA361C1B9B5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9B684BF-2913-4761-A280-5A68FDCCBE5F}"/>
              </a:ext>
            </a:extLst>
          </p:cNvPr>
          <p:cNvSpPr>
            <a:spLocks noGrp="1"/>
          </p:cNvSpPr>
          <p:nvPr/>
        </p:nvSpPr>
        <p:spPr>
          <a:xfrm>
            <a:off x="1581150" y="48577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Auto-PyTorch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9353025-6D8B-4FDB-9F04-F6AF8695541B}"/>
              </a:ext>
            </a:extLst>
          </p:cNvPr>
          <p:cNvSpPr>
            <a:spLocks noGrp="1"/>
          </p:cNvSpPr>
          <p:nvPr/>
        </p:nvSpPr>
        <p:spPr>
          <a:xfrm>
            <a:off x="4476750" y="48577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Integra HPO, meta-learning e ensemble.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DFE196A-0E52-4378-B3FA-522F4DB70931}"/>
              </a:ext>
            </a:extLst>
          </p:cNvPr>
          <p:cNvSpPr>
            <a:spLocks noGrp="1"/>
          </p:cNvSpPr>
          <p:nvPr/>
        </p:nvSpPr>
        <p:spPr>
          <a:xfrm>
            <a:off x="1619250" y="5943600"/>
            <a:ext cx="8953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O melhor método transforma o orçamento disponível em evidência confiável</a:t>
            </a:r>
          </a:p>
        </p:txBody>
      </p:sp>
    </p:spTree>
    <p:extLst>
      <p:ext uri="{BB962C8B-B14F-4D97-AF65-F5344CB8AC3E}">
        <p14:creationId xmlns:p14="http://schemas.microsoft.com/office/powerpoint/2010/main" val="799348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12C32FA-7E29-419A-BCE2-0DEC4B8EA202}"/>
              </a:ext>
            </a:extLst>
          </p:cNvPr>
          <p:cNvSpPr>
            <a:spLocks noGrp="1"/>
          </p:cNvSpPr>
          <p:nvPr/>
        </p:nvSpPr>
        <p:spPr>
          <a:xfrm>
            <a:off x="323850" y="228600"/>
            <a:ext cx="1093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TRABALHOS FUTUROS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09E7C68-41A7-4B1A-810C-B1D2D9E88A12}"/>
              </a:ext>
            </a:extLst>
          </p:cNvPr>
          <p:cNvSpPr>
            <a:spLocks noGrp="1"/>
          </p:cNvSpPr>
          <p:nvPr/>
        </p:nvSpPr>
        <p:spPr>
          <a:xfrm>
            <a:off x="352425" y="8763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Extensões propostas pelos autores do Auto-PyTorch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83D394-F634-48A7-948D-36388F798F01}"/>
              </a:ext>
            </a:extLst>
          </p:cNvPr>
          <p:cNvSpPr>
            <a:spLocks noGrp="1"/>
          </p:cNvSpPr>
          <p:nvPr/>
        </p:nvSpPr>
        <p:spPr>
          <a:xfrm>
            <a:off x="762000" y="13525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93DED19-D4D3-424A-868C-6F844CFB6CED}"/>
              </a:ext>
            </a:extLst>
          </p:cNvPr>
          <p:cNvSpPr>
            <a:spLocks noGrp="1"/>
          </p:cNvSpPr>
          <p:nvPr/>
        </p:nvSpPr>
        <p:spPr>
          <a:xfrm>
            <a:off x="1581150" y="13525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GENERALIZAÇÃO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9A708A-60EF-4DF6-95F4-F53661BC0A59}"/>
              </a:ext>
            </a:extLst>
          </p:cNvPr>
          <p:cNvSpPr>
            <a:spLocks noGrp="1"/>
          </p:cNvSpPr>
          <p:nvPr/>
        </p:nvSpPr>
        <p:spPr>
          <a:xfrm>
            <a:off x="4476750" y="13525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Melhorar a seleção de ensembles sem sobreajustar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9F27C1-6A0D-44EA-AD35-C362805CAEC3}"/>
              </a:ext>
            </a:extLst>
          </p:cNvPr>
          <p:cNvSpPr>
            <a:spLocks noGrp="1"/>
          </p:cNvSpPr>
          <p:nvPr/>
        </p:nvSpPr>
        <p:spPr>
          <a:xfrm>
            <a:off x="1581150" y="1943100"/>
            <a:ext cx="9525000" cy="9525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CDAB800-0B49-412F-A035-59CC11857C63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5626457-AC49-4F3B-9C3F-6BA797BD72B4}"/>
              </a:ext>
            </a:extLst>
          </p:cNvPr>
          <p:cNvSpPr>
            <a:spLocks noGrp="1"/>
          </p:cNvSpPr>
          <p:nvPr/>
        </p:nvSpPr>
        <p:spPr>
          <a:xfrm>
            <a:off x="1581150" y="22288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AUTO-SKLEARN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7FC3D2B-AE0C-4768-8928-EE2758BAB52F}"/>
              </a:ext>
            </a:extLst>
          </p:cNvPr>
          <p:cNvSpPr>
            <a:spLocks noGrp="1"/>
          </p:cNvSpPr>
          <p:nvPr/>
        </p:nvSpPr>
        <p:spPr>
          <a:xfrm>
            <a:off x="4476750" y="22288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Integrar modelos neurais e não neurais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7948B85-30B6-4EA6-9443-1E92C82A8C55}"/>
              </a:ext>
            </a:extLst>
          </p:cNvPr>
          <p:cNvSpPr>
            <a:spLocks noGrp="1"/>
          </p:cNvSpPr>
          <p:nvPr/>
        </p:nvSpPr>
        <p:spPr>
          <a:xfrm>
            <a:off x="1581150" y="2819400"/>
            <a:ext cx="9525000" cy="9525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5DDDA26-2876-4DF3-A1E5-B6FDFDA1D761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C98ED30-D099-4E53-9AFC-5AC9EE6FFC56}"/>
              </a:ext>
            </a:extLst>
          </p:cNvPr>
          <p:cNvSpPr>
            <a:spLocks noGrp="1"/>
          </p:cNvSpPr>
          <p:nvPr/>
        </p:nvSpPr>
        <p:spPr>
          <a:xfrm>
            <a:off x="1581150" y="31051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LCBENCH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3E606DD-C025-4CA8-A7A8-D516ED553E9A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Adicionar datasets maiores e mais fidelidades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6AA2CCE-9272-4301-BAB3-5D6522A3BC28}"/>
              </a:ext>
            </a:extLst>
          </p:cNvPr>
          <p:cNvSpPr>
            <a:spLocks noGrp="1"/>
          </p:cNvSpPr>
          <p:nvPr/>
        </p:nvSpPr>
        <p:spPr>
          <a:xfrm>
            <a:off x="1581150" y="3695700"/>
            <a:ext cx="9525000" cy="9525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C11A925-97EF-46C6-AC7B-F50E6B9A3F18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B0F0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A3A4704-FC23-4A0A-AB8A-5E61BE288B9A}"/>
              </a:ext>
            </a:extLst>
          </p:cNvPr>
          <p:cNvSpPr>
            <a:spLocks noGrp="1"/>
          </p:cNvSpPr>
          <p:nvPr/>
        </p:nvSpPr>
        <p:spPr>
          <a:xfrm>
            <a:off x="1581150" y="39814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IMPORTÂNCIA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558A43B-F3ED-4F19-B49E-069115323B18}"/>
              </a:ext>
            </a:extLst>
          </p:cNvPr>
          <p:cNvSpPr>
            <a:spLocks noGrp="1"/>
          </p:cNvSpPr>
          <p:nvPr/>
        </p:nvSpPr>
        <p:spPr>
          <a:xfrm>
            <a:off x="4476750" y="39814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Restringir o espaço aos parâmetros relevantes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25C6A80-1587-477C-B2CA-4DAFBF7ADF29}"/>
              </a:ext>
            </a:extLst>
          </p:cNvPr>
          <p:cNvSpPr>
            <a:spLocks noGrp="1"/>
          </p:cNvSpPr>
          <p:nvPr/>
        </p:nvSpPr>
        <p:spPr>
          <a:xfrm>
            <a:off x="1581150" y="4572000"/>
            <a:ext cx="9525000" cy="9525"/>
          </a:xfrm>
          <a:prstGeom prst="rect">
            <a:avLst/>
          </a:prstGeom>
          <a:solidFill>
            <a:srgbClr val="D8E0E7"/>
          </a:solidFill>
          <a:ln w="0">
            <a:noFill/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037ABD0-EB7B-427B-8D72-AAF03E2ABEF9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053D7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D8F4AE7-4B91-4B25-BCE0-DCBDE27744F7}"/>
              </a:ext>
            </a:extLst>
          </p:cNvPr>
          <p:cNvSpPr>
            <a:spLocks noGrp="1"/>
          </p:cNvSpPr>
          <p:nvPr/>
        </p:nvSpPr>
        <p:spPr>
          <a:xfrm>
            <a:off x="1581150" y="48577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002459"/>
                </a:solidFill>
                <a:latin typeface="Trebuchet MS"/>
                <a:ea typeface="Trebuchet MS"/>
                <a:cs typeface="Trebuchet MS"/>
              </a:rPr>
              <a:t>MODALIDADES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E9FA90A-D8F4-416F-8FED-32C1621B2A48}"/>
              </a:ext>
            </a:extLst>
          </p:cNvPr>
          <p:cNvSpPr>
            <a:spLocks noGrp="1"/>
          </p:cNvSpPr>
          <p:nvPr/>
        </p:nvSpPr>
        <p:spPr>
          <a:xfrm>
            <a:off x="4476750" y="48577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5A6878"/>
                </a:solidFill>
                <a:latin typeface="Trebuchet MS"/>
                <a:ea typeface="Trebuchet MS"/>
                <a:cs typeface="Trebuchet MS"/>
              </a:rPr>
              <a:t>Expandir o núcleo para imagem e novas tarefas</a:t>
            </a:r>
          </a:p>
        </p:txBody>
      </p:sp>
    </p:spTree>
    <p:extLst>
      <p:ext uri="{BB962C8B-B14F-4D97-AF65-F5344CB8AC3E}">
        <p14:creationId xmlns:p14="http://schemas.microsoft.com/office/powerpoint/2010/main" val="920765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4AD34A3-77A1-4815-958E-AB1A87580B62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PERGUNTAS?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2E635F0-E23B-43F5-938C-81F14512626B}"/>
              </a:ext>
            </a:extLst>
          </p:cNvPr>
          <p:cNvSpPr>
            <a:spLocks noGrp="1"/>
          </p:cNvSpPr>
          <p:nvPr/>
        </p:nvSpPr>
        <p:spPr>
          <a:xfrm>
            <a:off x="419100" y="499110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REFERÊNCIAS PRINCIPAIS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161D796-DB89-4B90-98D7-BA1DE801818E}"/>
              </a:ext>
            </a:extLst>
          </p:cNvPr>
          <p:cNvSpPr>
            <a:spLocks noGrp="1"/>
          </p:cNvSpPr>
          <p:nvPr/>
        </p:nvSpPr>
        <p:spPr>
          <a:xfrm>
            <a:off x="419100" y="5314950"/>
            <a:ext cx="6858000" cy="102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9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Bergstra et al. Algorithms for Hyper-Parameter Optimization. NeurIPS, 2011.</a:t>
            </a:r>
          </a:p>
          <a:p>
            <a:pPr algn="l">
              <a:defRPr sz="9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Zimmer, Lindauer e Hutter. Auto-PyTorch. TPAMI, 2021.</a:t>
            </a:r>
          </a:p>
          <a:p>
            <a:pPr algn="l">
              <a:defRPr sz="9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Falkner, Klein e Hutter. BOHB. ICML, 2018.</a:t>
            </a:r>
          </a:p>
          <a:p>
            <a:pPr algn="l">
              <a:defRPr sz="900" b="0">
                <a:solidFill>
                  <a:srgbClr val="DBEFF9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 dirty="0" err="1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Optuna</a:t>
            </a:r>
            <a:r>
              <a:rPr sz="900" b="0" dirty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 3.4.1. </a:t>
            </a:r>
            <a:r>
              <a:rPr sz="900" b="0" dirty="0" err="1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Documentação</a:t>
            </a:r>
            <a:r>
              <a:rPr sz="900" b="0" dirty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900" b="0" dirty="0" err="1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oficial</a:t>
            </a:r>
            <a:r>
              <a:rPr sz="900" b="0" dirty="0">
                <a:solidFill>
                  <a:srgbClr val="DBEFF9"/>
                </a:solidFill>
                <a:latin typeface="Trebuchet MS"/>
                <a:ea typeface="Trebuchet MS"/>
                <a:cs typeface="Trebuchet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815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20DCE00-55C8-D402-663C-40612C5191DE}"/>
              </a:ext>
            </a:extLst>
          </p:cNvPr>
          <p:cNvSpPr txBox="1"/>
          <p:nvPr/>
        </p:nvSpPr>
        <p:spPr>
          <a:xfrm>
            <a:off x="1334023" y="4970214"/>
            <a:ext cx="4448921" cy="656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https://forms.gle/zmFadJYd9DaBCgT87</a:t>
            </a:r>
          </a:p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BEB0CE-7197-E64F-CA4A-E5E726893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427" y="1095088"/>
            <a:ext cx="3869952" cy="387096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20E5C68-AD4A-2E71-318E-7751D66BA646}"/>
              </a:ext>
            </a:extLst>
          </p:cNvPr>
          <p:cNvSpPr txBox="1"/>
          <p:nvPr/>
        </p:nvSpPr>
        <p:spPr>
          <a:xfrm>
            <a:off x="6624020" y="4969064"/>
            <a:ext cx="444115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https://github.com/Mestrado-Alvaro-Ribeiro/alvaro-ribeiro-985-tp558/tree/main/seminar3</a:t>
            </a:r>
          </a:p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EC0CB1-50F5-58FF-6B96-40623E2FF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75" y="1194335"/>
            <a:ext cx="3671106" cy="367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82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4947F5C-9872-CB3F-A676-81CAC8355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0" y="357220"/>
            <a:ext cx="11313072" cy="636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99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35D3403-DDA8-E152-858C-742FCF402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"/>
            <a:ext cx="12175788" cy="6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35383"/>
      </p:ext>
    </p:extLst>
  </p:cSld>
  <p:clrMapOvr>
    <a:masterClrMapping/>
  </p:clrMapOvr>
</p:sld>
</file>

<file path=ppt/theme/theme1.xml><?xml version="1.0" encoding="utf-8"?>
<a:theme xmlns:a="http://schemas.openxmlformats.org/drawingml/2006/main" name="Apresentação de relatório mundial de país">
  <a:themeElements>
    <a:clrScheme name="Personalizada 8">
      <a:dk1>
        <a:sysClr val="windowText" lastClr="000000"/>
      </a:dk1>
      <a:lt1>
        <a:sysClr val="window" lastClr="FFFFFF"/>
      </a:lt1>
      <a:dk2>
        <a:srgbClr val="002459"/>
      </a:dk2>
      <a:lt2>
        <a:srgbClr val="DBEFF9"/>
      </a:lt2>
      <a:accent1>
        <a:srgbClr val="0053D7"/>
      </a:accent1>
      <a:accent2>
        <a:srgbClr val="FF00E2"/>
      </a:accent2>
      <a:accent3>
        <a:srgbClr val="9DFF00"/>
      </a:accent3>
      <a:accent4>
        <a:srgbClr val="FF2900"/>
      </a:accent4>
      <a:accent5>
        <a:srgbClr val="00B0F0"/>
      </a:accent5>
      <a:accent6>
        <a:srgbClr val="BE32DA"/>
      </a:accent6>
      <a:hlink>
        <a:srgbClr val="FE811A"/>
      </a:hlink>
      <a:folHlink>
        <a:srgbClr val="10CF9B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a 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presentação de relatório mundial de país">
  <a:themeElements>
    <a:clrScheme name="Personalizada 8">
      <a:dk1>
        <a:sysClr val="windowText" lastClr="000000"/>
      </a:dk1>
      <a:lt1>
        <a:sysClr val="window" lastClr="FFFFFF"/>
      </a:lt1>
      <a:dk2>
        <a:srgbClr val="002459"/>
      </a:dk2>
      <a:lt2>
        <a:srgbClr val="DBEFF9"/>
      </a:lt2>
      <a:accent1>
        <a:srgbClr val="0053D7"/>
      </a:accent1>
      <a:accent2>
        <a:srgbClr val="FF00E2"/>
      </a:accent2>
      <a:accent3>
        <a:srgbClr val="9DFF00"/>
      </a:accent3>
      <a:accent4>
        <a:srgbClr val="FF2900"/>
      </a:accent4>
      <a:accent5>
        <a:srgbClr val="00B0F0"/>
      </a:accent5>
      <a:accent6>
        <a:srgbClr val="BE32DA"/>
      </a:accent6>
      <a:hlink>
        <a:srgbClr val="FE811A"/>
      </a:hlink>
      <a:folHlink>
        <a:srgbClr val="10CF9B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a 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Personalizar</PresentationFormat>
  <Slides>26</Slides>
  <Notes>23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Apresentação de relatório mundial de país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80</cp:revision>
  <dcterms:created xsi:type="dcterms:W3CDTF">2026-09-20T19:45:09Z</dcterms:created>
  <dcterms:modified xsi:type="dcterms:W3CDTF">2026-09-21T22:10:55Z</dcterms:modified>
</cp:coreProperties>
</file>